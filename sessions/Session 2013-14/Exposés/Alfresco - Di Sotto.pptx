
<file path=[Content_Types].xml><?xml version="1.0" encoding="utf-8"?>
<Types xmlns="http://schemas.openxmlformats.org/package/2006/content-types">
  <Override PartName="/ppt/notesSlides/notesSlide4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Default Extension="xml" ContentType="application/xml"/>
  <Override PartName="/ppt/notesSlides/notesSlide5.xml" ContentType="application/vnd.openxmlformats-officedocument.presentationml.notesSlide+xml"/>
  <Override PartName="/ppt/slideLayouts/slideLayout16.xml" ContentType="application/vnd.openxmlformats-officedocument.presentationml.slideLayout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6.xml" ContentType="application/vnd.openxmlformats-officedocument.presentationml.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s/slide2.xml" ContentType="application/vnd.openxmlformats-officedocument.presentationml.slide+xml"/>
  <Override PartName="/ppt/theme/theme3.xml" ContentType="application/vnd.openxmlformats-officedocument.theme+xml"/>
  <Override PartName="/ppt/slideLayouts/slideLayout2.xml" ContentType="application/vnd.openxmlformats-officedocument.presentationml.slideLayout+xml"/>
  <Default Extension="png" ContentType="image/png"/>
  <Override PartName="/ppt/notesSlides/notesSlide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slideLayouts/slideLayout3.xml" ContentType="application/vnd.openxmlformats-officedocument.presentationml.slideLayout+xml"/>
  <Override PartName="/ppt/notesSlides/notesSlide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autoCompressPictures="0">
  <p:sldMasterIdLst>
    <p:sldMasterId r:id="rId1"/>
  </p:sldMasterIdLst>
  <p:notesMasterIdLst>
    <p:notesMasterId r:id="rId19"/>
  </p:notesMasterIdLst>
  <p:handoutMasterIdLst>
    <p:handoutMasterId r:id="rId20"/>
  </p:handoutMasterIdLst>
  <p:sldIdLst>
    <p:sldId id="256" r:id="rId2"/>
    <p:sldId id="275" r:id="rId3"/>
    <p:sldId id="260" r:id="rId4"/>
    <p:sldId id="262" r:id="rId5"/>
    <p:sldId id="261" r:id="rId6"/>
    <p:sldId id="263" r:id="rId7"/>
    <p:sldId id="259" r:id="rId8"/>
    <p:sldId id="257" r:id="rId9"/>
    <p:sldId id="264" r:id="rId10"/>
    <p:sldId id="271" r:id="rId11"/>
    <p:sldId id="272" r:id="rId12"/>
    <p:sldId id="273" r:id="rId13"/>
    <p:sldId id="265" r:id="rId14"/>
    <p:sldId id="266" r:id="rId15"/>
    <p:sldId id="268" r:id="rId16"/>
    <p:sldId id="269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mAuthor id="1" name="rod scot" initials="rs" lastIdx="1" clrIdx="0">
    <p:extLst>
      <p:ext uri="{19B8F6BF-5375-455C-9EA6-DF929625EA0E}">
        <p15:presenceInfo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 userId="d7a5d066ed1f15b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0"/>
    </p:ext>
    <p:ext uri="{FD5EFAAD-0ECE-453E-9831-46B23BE46B34}">
      <p15:chartTrackingRefBased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-104" y="-6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21" Type="http://schemas.openxmlformats.org/officeDocument/2006/relationships/printerSettings" Target="printerSettings/printerSettings1.bin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D49C-9FFF-4C16-B2D1-91218800995C}" type="datetimeFigureOut">
              <a:rPr lang="fr-FR" smtClean="0"/>
              <a:pPr/>
              <a:t>3/02/14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5155C-EAAD-4611-B41C-654E07CF95E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1578110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9C0F3-C029-47B1-AF8A-D4F749074D2B}" type="datetimeFigureOut">
              <a:rPr lang="fr-FR" smtClean="0"/>
              <a:pPr/>
              <a:t>3/02/14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7BC59-2736-4D6E-8864-269DDA9B01D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972115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1300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24454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07403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2370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65266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25872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94181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20418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13933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46916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20343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82002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37595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229029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06105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492099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smtClean="0"/>
              <a:t>NFE204 - Année 2013-2014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A7BC59-2736-4D6E-8864-269DDA9B01DE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49209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FA59-9B0B-43F8-8022-76B592C80458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D6D53-74C0-46C7-BB96-FA604161BF30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ABF51-1D2F-4FAD-B119-1299B9A5B38F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8997-D17D-4C26-9329-8AAFCA169E20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E47F9-71BB-468C-ACD0-F85A52BE143A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CBAB-9FE2-4B06-B1E6-2D5BBE2EE18E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6DC2-EB49-40FE-A2BA-C655A00D39BF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18F7A-0573-4DBE-9CF6-3D9554FB5468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C8028-0B78-42B2-A128-39ADACADEE08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4DAAB-8C03-48E3-979C-E6A3B8D4363E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FC38-F2D0-46D4-86BE-970E1DF3EF39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AE2F-07CC-428A-87FD-B4121F9B55D6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297F-2006-4BD9-83B1-B4C13110AFE8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3E08-CFC2-410B-8D12-D63AB7B39554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AB38-F5F7-4D30-A9D1-77C57E451CF0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06D0-40BA-4C00-BD7F-21E7896E0F45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6F9E1-7BCA-4252-9233-8C72F028590D}" type="datetime1">
              <a:rPr lang="en-US" smtClean="0"/>
              <a:pPr/>
              <a:t>3/02/14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  <p:sldLayoutId r:id="rId12"/>
    <p:sldLayoutId r:id="rId13"/>
    <p:sldLayoutId r:id="rId14"/>
    <p:sldLayoutId r:id="rId15"/>
    <p:sldLayoutId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Apache_Ant" TargetMode="External"/><Relationship Id="rId4" Type="http://schemas.openxmlformats.org/officeDocument/2006/relationships/hyperlink" Target="http://fr.wikipedia.org/wiki/Apache_Tapestry" TargetMode="External"/><Relationship Id="rId5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4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1957716"/>
            <a:ext cx="9956799" cy="1646302"/>
          </a:xfrm>
        </p:spPr>
        <p:txBody>
          <a:bodyPr/>
          <a:lstStyle/>
          <a:p>
            <a:r>
              <a:rPr lang="fr-FR" dirty="0" err="1" smtClean="0"/>
              <a:t>Alfresco</a:t>
            </a:r>
            <a:r>
              <a:rPr lang="fr-FR" dirty="0" smtClean="0"/>
              <a:t>, un ECM open source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UE NFE204 – Année 2013-2014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06094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PLAN DE l’EXPOSE</a:t>
            </a:r>
            <a:endParaRPr lang="fr-FR" sz="3600" b="1" dirty="0" smtClean="0"/>
          </a:p>
          <a:p>
            <a:pPr marL="0" indent="0">
              <a:buNone/>
            </a:pPr>
            <a:endParaRPr lang="fr-FR" sz="2000" b="1" dirty="0" smtClean="0"/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  <p:sp>
        <p:nvSpPr>
          <p:cNvPr id="2" name="Ellipse 1"/>
          <p:cNvSpPr/>
          <p:nvPr/>
        </p:nvSpPr>
        <p:spPr>
          <a:xfrm>
            <a:off x="132136" y="956733"/>
            <a:ext cx="10352935" cy="590126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4579076" y="956733"/>
            <a:ext cx="14590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ECM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Ellipse 6"/>
          <p:cNvSpPr/>
          <p:nvPr/>
        </p:nvSpPr>
        <p:spPr>
          <a:xfrm>
            <a:off x="304799" y="1701800"/>
            <a:ext cx="8432800" cy="47083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3660426" y="1803400"/>
            <a:ext cx="14478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GED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Ellipse 8"/>
          <p:cNvSpPr/>
          <p:nvPr/>
        </p:nvSpPr>
        <p:spPr>
          <a:xfrm>
            <a:off x="534797" y="2713946"/>
            <a:ext cx="5747470" cy="323812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6282267" y="2624667"/>
            <a:ext cx="1938866" cy="1524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6625334" y="4585628"/>
            <a:ext cx="1473638" cy="9261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761285" y="2828330"/>
            <a:ext cx="32944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ALFRESCO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16563" y="2920663"/>
            <a:ext cx="147027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SHAREPOINT</a:t>
            </a:r>
            <a:endParaRPr lang="fr-FR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16971" y="4852205"/>
            <a:ext cx="1090363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2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Documentum</a:t>
            </a:r>
            <a:endParaRPr lang="fr-FR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083733" y="4055995"/>
            <a:ext cx="2827867" cy="155740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/>
          <p:cNvSpPr/>
          <p:nvPr/>
        </p:nvSpPr>
        <p:spPr>
          <a:xfrm>
            <a:off x="4255089" y="4055995"/>
            <a:ext cx="1783041" cy="11233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1465511" y="4525494"/>
            <a:ext cx="212429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Lucene</a:t>
            </a:r>
            <a:r>
              <a:rPr lang="fr-FR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fr-FR" sz="28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Solr</a:t>
            </a:r>
            <a:endParaRPr lang="fr-FR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93378" y="4356072"/>
            <a:ext cx="17812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Hibernate</a:t>
            </a:r>
            <a:endParaRPr lang="fr-FR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8737599" y="2404533"/>
            <a:ext cx="1346201" cy="24476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8785840" y="3137925"/>
            <a:ext cx="121860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BPM</a:t>
            </a:r>
            <a:endParaRPr lang="fr-FR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457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QU’EST CE QU’UN E.C.M ?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sz="2000" dirty="0" smtClean="0"/>
              <a:t>E.C.M est l’acronyme de </a:t>
            </a:r>
            <a:r>
              <a:rPr lang="fr-FR" sz="2000" dirty="0"/>
              <a:t>Enterprise Content </a:t>
            </a:r>
            <a:r>
              <a:rPr lang="fr-FR" sz="2000" dirty="0" smtClean="0"/>
              <a:t>Management</a:t>
            </a:r>
            <a:endParaRPr lang="fr-FR" sz="2000" dirty="0"/>
          </a:p>
          <a:p>
            <a:r>
              <a:rPr lang="fr-FR" sz="2000" dirty="0" smtClean="0"/>
              <a:t>L’ECM est une forme de GED améliorée </a:t>
            </a:r>
            <a:r>
              <a:rPr lang="fr-FR" sz="2000" b="1" dirty="0" smtClean="0"/>
              <a:t>(</a:t>
            </a:r>
            <a:r>
              <a:rPr lang="fr-FR" sz="2000" dirty="0"/>
              <a:t>G</a:t>
            </a:r>
            <a:r>
              <a:rPr lang="fr-FR" sz="2000" dirty="0" smtClean="0"/>
              <a:t>estion Électronique </a:t>
            </a:r>
            <a:endParaRPr lang="fr-FR" sz="2000" dirty="0"/>
          </a:p>
          <a:p>
            <a:pPr marL="0" indent="0">
              <a:buNone/>
            </a:pPr>
            <a:r>
              <a:rPr lang="fr-FR" sz="2000" dirty="0" smtClean="0"/>
              <a:t>de Documents ) car en plus de gérer les documents elle permet également de </a:t>
            </a:r>
          </a:p>
          <a:p>
            <a:pPr marL="0" indent="0">
              <a:buNone/>
            </a:pPr>
            <a:r>
              <a:rPr lang="fr-FR" sz="2000" dirty="0"/>
              <a:t>g</a:t>
            </a:r>
            <a:r>
              <a:rPr lang="fr-FR" sz="2000" dirty="0" smtClean="0"/>
              <a:t>érer les </a:t>
            </a:r>
            <a:r>
              <a:rPr lang="fr-FR" sz="2000" dirty="0"/>
              <a:t>processus métiers (BPM </a:t>
            </a:r>
            <a:r>
              <a:rPr lang="fr-FR" sz="2000" dirty="0" smtClean="0"/>
              <a:t>: Business </a:t>
            </a:r>
            <a:r>
              <a:rPr lang="fr-FR" sz="2000" dirty="0" err="1"/>
              <a:t>Process</a:t>
            </a:r>
            <a:r>
              <a:rPr lang="fr-FR" sz="2000" dirty="0"/>
              <a:t> </a:t>
            </a:r>
            <a:r>
              <a:rPr lang="fr-FR" sz="2000" dirty="0" smtClean="0"/>
              <a:t>Management) via des </a:t>
            </a:r>
            <a:r>
              <a:rPr lang="fr-FR" sz="2000" dirty="0" err="1" smtClean="0"/>
              <a:t>workflows</a:t>
            </a:r>
            <a:r>
              <a:rPr lang="fr-FR" sz="2000" b="1" dirty="0" smtClean="0"/>
              <a:t>.</a:t>
            </a:r>
          </a:p>
          <a:p>
            <a:r>
              <a:rPr lang="fr-FR" sz="2000" dirty="0"/>
              <a:t>ECM = GED + </a:t>
            </a:r>
            <a:r>
              <a:rPr lang="fr-FR" sz="2000" dirty="0" err="1"/>
              <a:t>Workflow</a:t>
            </a:r>
            <a:r>
              <a:rPr lang="fr-FR" sz="2000" dirty="0"/>
              <a:t> + aspect collaboratif + traçabilité + valeur probante (signature électronique, coffre fort électronique)</a:t>
            </a:r>
            <a:endParaRPr lang="fr-FR" sz="2000" b="1" dirty="0"/>
          </a:p>
          <a:p>
            <a:r>
              <a:rPr lang="fr-FR" sz="2000" dirty="0" smtClean="0"/>
              <a:t>Avantages de l’E.C.M : </a:t>
            </a:r>
          </a:p>
          <a:p>
            <a:pPr lvl="1" fontAlgn="base"/>
            <a:r>
              <a:rPr lang="fr-FR" dirty="0" smtClean="0"/>
              <a:t>Permet </a:t>
            </a:r>
            <a:r>
              <a:rPr lang="fr-FR" dirty="0"/>
              <a:t>d’assurer la conservation et la </a:t>
            </a:r>
            <a:r>
              <a:rPr lang="fr-FR" dirty="0" smtClean="0"/>
              <a:t>sécurité des </a:t>
            </a:r>
            <a:r>
              <a:rPr lang="fr-FR" dirty="0"/>
              <a:t>documents.</a:t>
            </a:r>
          </a:p>
          <a:p>
            <a:pPr lvl="1" fontAlgn="base"/>
            <a:r>
              <a:rPr lang="fr-FR" dirty="0"/>
              <a:t>P</a:t>
            </a:r>
            <a:r>
              <a:rPr lang="fr-FR" dirty="0" smtClean="0"/>
              <a:t>ermet </a:t>
            </a:r>
            <a:r>
              <a:rPr lang="fr-FR" dirty="0"/>
              <a:t>également de réduire les coûts dus aux économies de papier et à l’archivage.</a:t>
            </a:r>
          </a:p>
          <a:p>
            <a:pPr lvl="1"/>
            <a:endParaRPr lang="fr-FR" dirty="0" smtClean="0"/>
          </a:p>
          <a:p>
            <a:endParaRPr lang="fr-FR" sz="2000" dirty="0" smtClean="0"/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1218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FONCTIONNALITÉS DE LA GED</a:t>
            </a:r>
          </a:p>
          <a:p>
            <a:pPr marL="0" indent="0">
              <a:buNone/>
            </a:pPr>
            <a:endParaRPr lang="fr-FR" sz="2000" dirty="0"/>
          </a:p>
          <a:p>
            <a:r>
              <a:rPr lang="fr-FR" sz="2000" dirty="0" smtClean="0"/>
              <a:t>La </a:t>
            </a:r>
            <a:r>
              <a:rPr lang="fr-FR" sz="2000" dirty="0"/>
              <a:t>GED recouvre tous les processus visant à gérer et organiser des documents </a:t>
            </a:r>
          </a:p>
          <a:p>
            <a:pPr marL="0" indent="0">
              <a:buNone/>
            </a:pPr>
            <a:r>
              <a:rPr lang="fr-FR" sz="2000" dirty="0"/>
              <a:t>de manière </a:t>
            </a:r>
            <a:r>
              <a:rPr lang="fr-FR" sz="2000" dirty="0" smtClean="0"/>
              <a:t>électronique. </a:t>
            </a:r>
            <a:r>
              <a:rPr lang="fr-FR" sz="2000" dirty="0"/>
              <a:t>Elle touche toutes les étapes du cycle de vie </a:t>
            </a:r>
          </a:p>
          <a:p>
            <a:pPr marL="0" indent="0">
              <a:buNone/>
            </a:pPr>
            <a:r>
              <a:rPr lang="fr-FR" sz="2000" dirty="0"/>
              <a:t>d'un document, de l'acquisition à l'archivage</a:t>
            </a:r>
            <a:r>
              <a:rPr lang="fr-FR" sz="2000" dirty="0" smtClean="0"/>
              <a:t>.</a:t>
            </a:r>
          </a:p>
          <a:p>
            <a:pPr marL="0" indent="0">
              <a:buNone/>
            </a:pPr>
            <a:endParaRPr lang="fr-FR" sz="2000" dirty="0"/>
          </a:p>
          <a:p>
            <a:r>
              <a:rPr lang="fr-FR" sz="2000" dirty="0" smtClean="0"/>
              <a:t>Les </a:t>
            </a:r>
            <a:r>
              <a:rPr lang="fr-FR" sz="2000" dirty="0"/>
              <a:t>différentes fonctions de la GED : </a:t>
            </a:r>
          </a:p>
          <a:p>
            <a:pPr lvl="1"/>
            <a:r>
              <a:rPr lang="fr-FR" sz="2000" dirty="0" smtClean="0"/>
              <a:t>Sauvegarde </a:t>
            </a:r>
            <a:r>
              <a:rPr lang="fr-FR" sz="2000" dirty="0"/>
              <a:t>les documents en garantissant leur intégrité et leur sécurité</a:t>
            </a:r>
          </a:p>
          <a:p>
            <a:pPr lvl="1"/>
            <a:r>
              <a:rPr lang="fr-FR" sz="2000" dirty="0"/>
              <a:t>Retrouve les documents à l’aide de critères </a:t>
            </a:r>
            <a:r>
              <a:rPr lang="fr-FR" sz="2000" dirty="0" smtClean="0"/>
              <a:t>spécifiques</a:t>
            </a:r>
          </a:p>
          <a:p>
            <a:pPr lvl="1"/>
            <a:r>
              <a:rPr lang="fr-FR" sz="2000" dirty="0"/>
              <a:t>Classe de manière structurée (dossiers/sous-dossiers) les documents </a:t>
            </a:r>
            <a:r>
              <a:rPr lang="fr-FR" sz="2000" dirty="0" smtClean="0"/>
              <a:t>entrant </a:t>
            </a:r>
            <a:r>
              <a:rPr lang="fr-FR" sz="2000" dirty="0"/>
              <a:t>dans la GED, pour en permettre une exploitation future.</a:t>
            </a:r>
          </a:p>
          <a:p>
            <a:pPr lvl="1"/>
            <a:r>
              <a:rPr lang="fr-FR" sz="2000" dirty="0"/>
              <a:t>Introduire des documents dans le système de </a:t>
            </a:r>
            <a:r>
              <a:rPr lang="fr-FR" sz="2000" dirty="0" smtClean="0"/>
              <a:t>GED</a:t>
            </a:r>
          </a:p>
          <a:p>
            <a:pPr lvl="1"/>
            <a:r>
              <a:rPr lang="fr-FR" sz="2000" dirty="0"/>
              <a:t>Archive les </a:t>
            </a:r>
            <a:r>
              <a:rPr lang="fr-FR" sz="2000" dirty="0" smtClean="0"/>
              <a:t>documents</a:t>
            </a:r>
          </a:p>
          <a:p>
            <a:pPr lvl="1"/>
            <a:r>
              <a:rPr lang="fr-FR" sz="2000" dirty="0" smtClean="0"/>
              <a:t>Gère les processus de validation et de communication des documents</a:t>
            </a:r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37295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sz="5100" dirty="0" smtClean="0">
                <a:solidFill>
                  <a:schemeClr val="accent2">
                    <a:lumMod val="75000"/>
                  </a:schemeClr>
                </a:solidFill>
              </a:rPr>
              <a:t>AVANTAGES DE LA GED</a:t>
            </a:r>
          </a:p>
          <a:p>
            <a:pPr marL="0" indent="0">
              <a:buNone/>
            </a:pPr>
            <a:endParaRPr lang="fr-FR" sz="3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2900" dirty="0" smtClean="0"/>
              <a:t>Pourquoi mettre en place une GED ?</a:t>
            </a:r>
          </a:p>
          <a:p>
            <a:pPr marL="0" indent="0">
              <a:buNone/>
            </a:pPr>
            <a:r>
              <a:rPr lang="fr-FR" sz="2900" dirty="0" smtClean="0"/>
              <a:t>	- Gain dans la gestion du cycle de vie (archivage des documents)</a:t>
            </a:r>
          </a:p>
          <a:p>
            <a:pPr marL="0" indent="0">
              <a:buNone/>
            </a:pPr>
            <a:r>
              <a:rPr lang="fr-FR" sz="2900" dirty="0"/>
              <a:t>	</a:t>
            </a:r>
            <a:r>
              <a:rPr lang="fr-FR" sz="2900" dirty="0" smtClean="0"/>
              <a:t>- Gain </a:t>
            </a:r>
            <a:r>
              <a:rPr lang="fr-FR" sz="2900" dirty="0"/>
              <a:t>de </a:t>
            </a:r>
            <a:r>
              <a:rPr lang="fr-FR" sz="2900" dirty="0" smtClean="0"/>
              <a:t>réactivité (</a:t>
            </a:r>
            <a:r>
              <a:rPr lang="fr-FR" sz="2900" dirty="0"/>
              <a:t>consultation </a:t>
            </a:r>
            <a:r>
              <a:rPr lang="fr-FR" sz="2900" dirty="0" smtClean="0"/>
              <a:t>instantanée de </a:t>
            </a:r>
            <a:r>
              <a:rPr lang="fr-FR" sz="2900" dirty="0"/>
              <a:t>tout type de </a:t>
            </a:r>
            <a:r>
              <a:rPr lang="fr-FR" sz="2900" dirty="0" smtClean="0"/>
              <a:t>documents)</a:t>
            </a:r>
          </a:p>
          <a:p>
            <a:pPr marL="0" indent="0">
              <a:buNone/>
            </a:pPr>
            <a:r>
              <a:rPr lang="fr-FR" sz="2900" dirty="0"/>
              <a:t>	</a:t>
            </a:r>
            <a:r>
              <a:rPr lang="fr-FR" sz="2900" dirty="0" smtClean="0"/>
              <a:t>- Gain </a:t>
            </a:r>
            <a:r>
              <a:rPr lang="fr-FR" sz="2900" dirty="0"/>
              <a:t>de </a:t>
            </a:r>
            <a:r>
              <a:rPr lang="fr-FR" sz="2900" dirty="0" smtClean="0"/>
              <a:t>qualité (Moins de risque de perte de documents, archi. web adéquate)</a:t>
            </a:r>
          </a:p>
          <a:p>
            <a:pPr marL="0" indent="0">
              <a:buNone/>
            </a:pPr>
            <a:r>
              <a:rPr lang="fr-FR" sz="2900" dirty="0" smtClean="0"/>
              <a:t>	- </a:t>
            </a:r>
            <a:r>
              <a:rPr lang="fr-FR" sz="2900" dirty="0"/>
              <a:t>Gain de mobilité </a:t>
            </a:r>
            <a:r>
              <a:rPr lang="fr-FR" sz="2900" dirty="0" smtClean="0"/>
              <a:t>(potentiellement accessible depuis n’importe quel appareil)</a:t>
            </a:r>
          </a:p>
          <a:p>
            <a:pPr marL="0" indent="0">
              <a:buNone/>
            </a:pPr>
            <a:r>
              <a:rPr lang="fr-FR" sz="2900" dirty="0"/>
              <a:t>	</a:t>
            </a:r>
            <a:r>
              <a:rPr lang="fr-FR" sz="2900" dirty="0" smtClean="0"/>
              <a:t>- </a:t>
            </a:r>
            <a:r>
              <a:rPr lang="fr-FR" sz="2900" dirty="0"/>
              <a:t>Gain </a:t>
            </a:r>
            <a:r>
              <a:rPr lang="fr-FR" sz="2900" dirty="0" smtClean="0"/>
              <a:t>en </a:t>
            </a:r>
            <a:r>
              <a:rPr lang="fr-FR" sz="2900" dirty="0"/>
              <a:t>sécurité et </a:t>
            </a:r>
            <a:r>
              <a:rPr lang="fr-FR" sz="2900" dirty="0" smtClean="0"/>
              <a:t>en </a:t>
            </a:r>
            <a:r>
              <a:rPr lang="fr-FR" sz="2900" dirty="0"/>
              <a:t>confidentialité grâce à la mise en place de protocoles de contrôle d’accès à l’information (</a:t>
            </a:r>
            <a:r>
              <a:rPr lang="fr-FR" sz="2900" dirty="0" err="1"/>
              <a:t>WebDAV</a:t>
            </a:r>
            <a:r>
              <a:rPr lang="fr-FR" sz="2900" dirty="0"/>
              <a:t>, CIFS, NFS, </a:t>
            </a:r>
            <a:r>
              <a:rPr lang="fr-FR" sz="2900" dirty="0" smtClean="0"/>
              <a:t>FTP,…)</a:t>
            </a:r>
          </a:p>
          <a:p>
            <a:pPr marL="0" indent="0">
              <a:buNone/>
            </a:pPr>
            <a:r>
              <a:rPr lang="fr-FR" sz="2900" dirty="0"/>
              <a:t>	</a:t>
            </a:r>
            <a:r>
              <a:rPr lang="fr-FR" sz="2900" dirty="0" smtClean="0"/>
              <a:t>- </a:t>
            </a:r>
            <a:r>
              <a:rPr lang="fr-FR" sz="2900" dirty="0"/>
              <a:t>Gain de </a:t>
            </a:r>
            <a:r>
              <a:rPr lang="fr-FR" sz="2900" dirty="0" smtClean="0"/>
              <a:t>visibilité</a:t>
            </a:r>
            <a:r>
              <a:rPr lang="fr-FR" sz="2900" dirty="0"/>
              <a:t> du fait qu’un superviseur dispose d’une vue synthétique </a:t>
            </a:r>
            <a:endParaRPr lang="fr-FR" sz="2900" dirty="0" smtClean="0"/>
          </a:p>
          <a:p>
            <a:pPr marL="0" indent="0">
              <a:buNone/>
            </a:pPr>
            <a:r>
              <a:rPr lang="fr-FR" sz="2900" dirty="0" smtClean="0"/>
              <a:t>de </a:t>
            </a:r>
            <a:r>
              <a:rPr lang="fr-FR" sz="2900" dirty="0"/>
              <a:t>l’ensemble des documents soumis au circuit de validation et qu’il est facilement </a:t>
            </a:r>
            <a:endParaRPr lang="fr-FR" sz="2900" dirty="0" smtClean="0"/>
          </a:p>
          <a:p>
            <a:pPr marL="0" indent="0">
              <a:buNone/>
            </a:pPr>
            <a:r>
              <a:rPr lang="fr-FR" sz="2900" dirty="0" smtClean="0"/>
              <a:t>possible </a:t>
            </a:r>
            <a:r>
              <a:rPr lang="fr-FR" sz="2900" dirty="0"/>
              <a:t>de savoir où en est la gestion d’un document ou qui a travaillé dessus</a:t>
            </a:r>
            <a:r>
              <a:rPr lang="fr-FR" sz="2900" dirty="0" smtClean="0"/>
              <a:t>.</a:t>
            </a:r>
          </a:p>
          <a:p>
            <a:pPr marL="0" indent="0">
              <a:buNone/>
            </a:pPr>
            <a:r>
              <a:rPr lang="fr-FR" sz="2900" dirty="0"/>
              <a:t>	</a:t>
            </a:r>
            <a:r>
              <a:rPr lang="fr-FR" sz="2900" dirty="0" smtClean="0"/>
              <a:t>- Gain en traçabilité grâce au versioning des documents</a:t>
            </a:r>
            <a:endParaRPr lang="fr-FR" sz="2900" dirty="0"/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1577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FONCTIONNEMENT DE LA GED</a:t>
            </a:r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153583" y="833992"/>
            <a:ext cx="8028293" cy="544777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72437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PRÉSENTATION D’ALFRESCO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sz="2000" dirty="0" smtClean="0"/>
              <a:t>Création en juin </a:t>
            </a:r>
            <a:r>
              <a:rPr lang="fr-FR" sz="2000" dirty="0"/>
              <a:t>2005 par John </a:t>
            </a:r>
            <a:r>
              <a:rPr lang="fr-FR" sz="2000" dirty="0" smtClean="0"/>
              <a:t>Powell (ancien </a:t>
            </a:r>
            <a:r>
              <a:rPr lang="fr-FR" sz="2000" dirty="0"/>
              <a:t>cadre de Business </a:t>
            </a:r>
            <a:r>
              <a:rPr lang="fr-FR" sz="2000" dirty="0" err="1" smtClean="0"/>
              <a:t>Objects</a:t>
            </a:r>
            <a:r>
              <a:rPr lang="fr-FR" sz="2000" dirty="0" smtClean="0"/>
              <a:t>)</a:t>
            </a:r>
          </a:p>
          <a:p>
            <a:pPr marL="0" indent="0">
              <a:buNone/>
            </a:pPr>
            <a:r>
              <a:rPr lang="fr-FR" sz="2000" dirty="0"/>
              <a:t> </a:t>
            </a:r>
            <a:r>
              <a:rPr lang="fr-FR" sz="2000" dirty="0" smtClean="0"/>
              <a:t>et John Newton (co-fondateur </a:t>
            </a:r>
            <a:r>
              <a:rPr lang="fr-FR" sz="2000" dirty="0"/>
              <a:t>de </a:t>
            </a:r>
            <a:r>
              <a:rPr lang="fr-FR" sz="2000" dirty="0" err="1" smtClean="0"/>
              <a:t>Documentum</a:t>
            </a:r>
            <a:r>
              <a:rPr lang="fr-FR" sz="2000" dirty="0" smtClean="0"/>
              <a:t>).</a:t>
            </a:r>
          </a:p>
          <a:p>
            <a:r>
              <a:rPr lang="fr-FR" sz="2000" dirty="0" err="1"/>
              <a:t>Alfresco</a:t>
            </a:r>
            <a:r>
              <a:rPr lang="fr-FR" sz="2000" dirty="0"/>
              <a:t> est leader dans le domaine des systèmes de gestion de contenu </a:t>
            </a:r>
            <a:endParaRPr lang="fr-FR" sz="2000" dirty="0" smtClean="0"/>
          </a:p>
          <a:p>
            <a:pPr marL="0" indent="0">
              <a:buNone/>
            </a:pPr>
            <a:r>
              <a:rPr lang="fr-FR" sz="2000" dirty="0" smtClean="0"/>
              <a:t>d'entreprise (ECM) open source </a:t>
            </a:r>
          </a:p>
          <a:p>
            <a:r>
              <a:rPr lang="fr-FR" sz="2000" dirty="0"/>
              <a:t>Projet open-source basé sur la technologie </a:t>
            </a:r>
            <a:r>
              <a:rPr lang="fr-FR" sz="2000" dirty="0" smtClean="0"/>
              <a:t>J2EE</a:t>
            </a:r>
          </a:p>
          <a:p>
            <a:r>
              <a:rPr lang="fr-FR" sz="2000" dirty="0"/>
              <a:t>Plusieurs versions d'</a:t>
            </a:r>
            <a:r>
              <a:rPr lang="fr-FR" sz="2000" dirty="0" err="1"/>
              <a:t>Alfresco</a:t>
            </a:r>
            <a:r>
              <a:rPr lang="fr-FR" sz="2000" dirty="0"/>
              <a:t> : </a:t>
            </a:r>
            <a:endParaRPr lang="fr-FR" sz="2000" dirty="0" smtClean="0"/>
          </a:p>
          <a:p>
            <a:pPr lvl="1">
              <a:buFontTx/>
              <a:buChar char="-"/>
            </a:pPr>
            <a:r>
              <a:rPr lang="fr-FR" sz="2000" dirty="0" smtClean="0"/>
              <a:t>La </a:t>
            </a:r>
            <a:r>
              <a:rPr lang="fr-FR" sz="2000" dirty="0"/>
              <a:t>version « </a:t>
            </a:r>
            <a:r>
              <a:rPr lang="fr-FR" sz="2000" dirty="0" err="1"/>
              <a:t>Community</a:t>
            </a:r>
            <a:r>
              <a:rPr lang="fr-FR" sz="2000" dirty="0"/>
              <a:t> » </a:t>
            </a:r>
            <a:r>
              <a:rPr lang="fr-FR" sz="2000" dirty="0" smtClean="0"/>
              <a:t>: version </a:t>
            </a:r>
            <a:r>
              <a:rPr lang="fr-FR" sz="2000" dirty="0"/>
              <a:t>gratuite sous licence </a:t>
            </a:r>
            <a:r>
              <a:rPr lang="fr-FR" sz="2000" dirty="0" smtClean="0"/>
              <a:t>LGPL </a:t>
            </a:r>
          </a:p>
          <a:p>
            <a:pPr lvl="1">
              <a:buFontTx/>
              <a:buChar char="-"/>
            </a:pPr>
            <a:r>
              <a:rPr lang="fr-FR" sz="2000" dirty="0" smtClean="0"/>
              <a:t>La </a:t>
            </a:r>
            <a:r>
              <a:rPr lang="fr-FR" sz="2000" dirty="0"/>
              <a:t>version « Entreprise </a:t>
            </a:r>
            <a:r>
              <a:rPr lang="fr-FR" sz="2000" dirty="0" smtClean="0"/>
              <a:t>» : version payante presque identique à la précédente</a:t>
            </a:r>
          </a:p>
          <a:p>
            <a:pPr marL="457200" lvl="1" indent="0">
              <a:buNone/>
            </a:pPr>
            <a:r>
              <a:rPr lang="fr-FR" sz="2000" dirty="0"/>
              <a:t>s</a:t>
            </a:r>
            <a:r>
              <a:rPr lang="fr-FR" sz="2000" dirty="0" smtClean="0"/>
              <a:t>auf qu’elle offre en plus la possibilité d’avoir une assistance technique</a:t>
            </a:r>
          </a:p>
          <a:p>
            <a:pPr lvl="1">
              <a:buFontTx/>
              <a:buChar char="-"/>
            </a:pPr>
            <a:r>
              <a:rPr lang="fr-FR" sz="2000" dirty="0"/>
              <a:t>La version « </a:t>
            </a:r>
            <a:r>
              <a:rPr lang="fr-FR" sz="2000" dirty="0" smtClean="0"/>
              <a:t>Cloud » : version également payante qui permet de partager </a:t>
            </a:r>
          </a:p>
          <a:p>
            <a:pPr marL="457200" lvl="1" indent="0">
              <a:buNone/>
            </a:pPr>
            <a:r>
              <a:rPr lang="fr-FR" sz="2000" dirty="0" smtClean="0"/>
              <a:t>du contenu via l’infrastructure </a:t>
            </a:r>
            <a:r>
              <a:rPr lang="en-US" sz="2000" dirty="0"/>
              <a:t>des services Web Amazon (AWS</a:t>
            </a:r>
            <a:r>
              <a:rPr lang="en-US" sz="2000" dirty="0" smtClean="0"/>
              <a:t>). Infrastructure </a:t>
            </a:r>
          </a:p>
          <a:p>
            <a:pPr marL="457200" lvl="1" indent="0">
              <a:buNone/>
            </a:pPr>
            <a:r>
              <a:rPr lang="fr-FR" sz="2000" dirty="0"/>
              <a:t>certifiée </a:t>
            </a:r>
            <a:r>
              <a:rPr lang="fr-FR" sz="2000" dirty="0" err="1" smtClean="0"/>
              <a:t>SafeHarbour</a:t>
            </a:r>
            <a:r>
              <a:rPr lang="fr-FR" sz="2000" dirty="0"/>
              <a:t> (données sont stockées et protégées selon une norme </a:t>
            </a:r>
            <a:endParaRPr lang="fr-FR" sz="2000" dirty="0" smtClean="0"/>
          </a:p>
          <a:p>
            <a:pPr marL="457200" lvl="1" indent="0">
              <a:buNone/>
            </a:pPr>
            <a:r>
              <a:rPr lang="fr-FR" sz="2000" dirty="0" smtClean="0"/>
              <a:t>européenne).</a:t>
            </a:r>
            <a:endParaRPr lang="fr-FR" sz="2000" dirty="0"/>
          </a:p>
          <a:p>
            <a:endParaRPr lang="fr-FR" sz="2000" dirty="0"/>
          </a:p>
          <a:p>
            <a:endParaRPr lang="fr-FR" sz="2000" dirty="0" smtClean="0"/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1357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AVANTAGES ET INCONVENIENTS D’ALFRESCO</a:t>
            </a:r>
          </a:p>
          <a:p>
            <a:pPr marL="0" indent="0">
              <a:buNone/>
            </a:pPr>
            <a:r>
              <a:rPr lang="fr-FR" dirty="0" smtClean="0"/>
              <a:t>AVANTAGES :</a:t>
            </a:r>
            <a:endParaRPr lang="fr-FR" dirty="0"/>
          </a:p>
          <a:p>
            <a:r>
              <a:rPr lang="fr-FR" sz="2000" dirty="0"/>
              <a:t>Solution gratuite </a:t>
            </a:r>
            <a:r>
              <a:rPr lang="fr-FR" sz="2000" dirty="0" smtClean="0"/>
              <a:t>(solution open-source)</a:t>
            </a:r>
          </a:p>
          <a:p>
            <a:r>
              <a:rPr lang="fr-FR" sz="2000" dirty="0" smtClean="0"/>
              <a:t>Plusieurs </a:t>
            </a:r>
            <a:r>
              <a:rPr lang="fr-FR" sz="2000" dirty="0"/>
              <a:t>façons d’accéder aux </a:t>
            </a:r>
            <a:r>
              <a:rPr lang="fr-FR" sz="2000" dirty="0" smtClean="0"/>
              <a:t>documents (via un client web, via l’explorateur </a:t>
            </a:r>
            <a:r>
              <a:rPr lang="fr-FR" sz="2000" dirty="0"/>
              <a:t>de fichiers sous </a:t>
            </a:r>
            <a:r>
              <a:rPr lang="fr-FR" sz="2000" dirty="0" err="1"/>
              <a:t>windows</a:t>
            </a:r>
            <a:r>
              <a:rPr lang="fr-FR" sz="2000" dirty="0"/>
              <a:t>, linux ou Mac </a:t>
            </a:r>
            <a:r>
              <a:rPr lang="fr-FR" sz="2000" dirty="0" smtClean="0"/>
              <a:t>OS)</a:t>
            </a:r>
          </a:p>
          <a:p>
            <a:r>
              <a:rPr lang="fr-FR" sz="2000" dirty="0" smtClean="0"/>
              <a:t>Totale </a:t>
            </a:r>
            <a:r>
              <a:rPr lang="fr-FR" sz="2000" dirty="0"/>
              <a:t>indépendance vis-à-vis des </a:t>
            </a:r>
            <a:r>
              <a:rPr lang="fr-FR" sz="2000" dirty="0" smtClean="0"/>
              <a:t>plates-formes ou des formats des fichiers propriétaires</a:t>
            </a:r>
          </a:p>
          <a:p>
            <a:r>
              <a:rPr lang="fr-FR" sz="2000" dirty="0" smtClean="0"/>
              <a:t>Compatible architecture en cluster (permet la haute disponibilité)</a:t>
            </a:r>
            <a:endParaRPr lang="fr-FR" sz="2000" dirty="0"/>
          </a:p>
          <a:p>
            <a:r>
              <a:rPr lang="fr-FR" sz="2000" dirty="0"/>
              <a:t>C</a:t>
            </a:r>
            <a:r>
              <a:rPr lang="fr-FR" sz="2000" dirty="0" smtClean="0"/>
              <a:t>apacité </a:t>
            </a:r>
            <a:r>
              <a:rPr lang="fr-FR" sz="2000" dirty="0"/>
              <a:t>à s’interfacer avec d’autres </a:t>
            </a:r>
            <a:r>
              <a:rPr lang="fr-FR" sz="2000" dirty="0" smtClean="0"/>
              <a:t>solutions (</a:t>
            </a:r>
            <a:r>
              <a:rPr lang="da-DK" sz="2000" dirty="0"/>
              <a:t>Kofax, eCopy et Tiger </a:t>
            </a:r>
            <a:r>
              <a:rPr lang="da-DK" sz="2000" dirty="0" smtClean="0"/>
              <a:t>OCR)</a:t>
            </a:r>
            <a:endParaRPr lang="fr-FR" sz="2000" dirty="0" smtClean="0"/>
          </a:p>
          <a:p>
            <a:r>
              <a:rPr lang="fr-FR" sz="2000" dirty="0" smtClean="0"/>
              <a:t>Communauté </a:t>
            </a:r>
            <a:r>
              <a:rPr lang="fr-FR" sz="2000" dirty="0"/>
              <a:t>internationale très </a:t>
            </a:r>
            <a:r>
              <a:rPr lang="fr-FR" sz="2000" dirty="0" smtClean="0"/>
              <a:t>active</a:t>
            </a:r>
          </a:p>
          <a:p>
            <a:endParaRPr lang="fr-FR" sz="2000" dirty="0"/>
          </a:p>
          <a:p>
            <a:pPr marL="0" indent="0">
              <a:buNone/>
            </a:pPr>
            <a:r>
              <a:rPr lang="fr-FR" sz="2000" dirty="0" smtClean="0"/>
              <a:t>INCONVENIENTS : </a:t>
            </a:r>
          </a:p>
          <a:p>
            <a:r>
              <a:rPr lang="fr-FR" sz="2000" dirty="0" smtClean="0"/>
              <a:t>Installation et paramétrage peu évident</a:t>
            </a:r>
          </a:p>
          <a:p>
            <a:r>
              <a:rPr lang="fr-FR" sz="2000" dirty="0" smtClean="0"/>
              <a:t>Impossible de migrer les documents d’une version entreprise vers </a:t>
            </a:r>
            <a:r>
              <a:rPr lang="fr-FR" sz="2000" dirty="0" err="1" smtClean="0"/>
              <a:t>community</a:t>
            </a:r>
            <a:endParaRPr lang="fr-FR" sz="2000" dirty="0" smtClean="0"/>
          </a:p>
          <a:p>
            <a:r>
              <a:rPr lang="fr-FR" sz="2000" dirty="0" smtClean="0"/>
              <a:t>Coût élevé pour une architecture complexe (cluster)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8810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7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ARCHITECTURE D’ALFRESCO</a:t>
            </a:r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532341" y="963083"/>
            <a:ext cx="8553450" cy="46101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3408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PRESENTATION DE LUCENE</a:t>
            </a:r>
          </a:p>
          <a:p>
            <a:pPr marL="0" indent="0">
              <a:buNone/>
            </a:pPr>
            <a:endParaRPr lang="fr-FR" sz="3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2000" dirty="0" smtClean="0">
                <a:solidFill>
                  <a:schemeClr val="tx1"/>
                </a:solidFill>
              </a:rPr>
              <a:t> Moteur de recherche open source écrit en java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Utilisable par des application écrite en java, </a:t>
            </a:r>
            <a:r>
              <a:rPr lang="fr-FR" sz="2000" dirty="0" smtClean="0"/>
              <a:t>Ruby, Perl, C++, PHP</a:t>
            </a:r>
          </a:p>
          <a:p>
            <a:r>
              <a:rPr lang="fr-FR" sz="2000" dirty="0"/>
              <a:t>2 personnes à l’origine de ce projet qui date de décembre 2004 :</a:t>
            </a:r>
          </a:p>
          <a:p>
            <a:pPr lvl="1"/>
            <a:r>
              <a:rPr lang="fr-FR" sz="2000" dirty="0"/>
              <a:t>Erik </a:t>
            </a:r>
            <a:r>
              <a:rPr lang="fr-FR" sz="2000" dirty="0" err="1"/>
              <a:t>Hatcher</a:t>
            </a:r>
            <a:r>
              <a:rPr lang="fr-FR" sz="2000" dirty="0"/>
              <a:t>, un des responsables des projets open source </a:t>
            </a:r>
            <a:r>
              <a:rPr lang="fr-FR" sz="2000" dirty="0" err="1">
                <a:hlinkClick r:id="rId3" tooltip="Apache Ant"/>
              </a:rPr>
              <a:t>Ant</a:t>
            </a:r>
            <a:r>
              <a:rPr lang="fr-FR" sz="2000" dirty="0"/>
              <a:t>, </a:t>
            </a:r>
            <a:r>
              <a:rPr lang="fr-FR" sz="2000" dirty="0" err="1"/>
              <a:t>Lucene</a:t>
            </a:r>
            <a:r>
              <a:rPr lang="fr-FR" sz="2000" dirty="0"/>
              <a:t> et </a:t>
            </a:r>
            <a:r>
              <a:rPr lang="fr-FR" sz="2000" dirty="0" err="1">
                <a:hlinkClick r:id="rId4" tooltip="Apache Tapestry"/>
              </a:rPr>
              <a:t>Tapestry</a:t>
            </a:r>
            <a:r>
              <a:rPr lang="fr-FR" sz="2000" dirty="0"/>
              <a:t>, </a:t>
            </a:r>
          </a:p>
          <a:p>
            <a:pPr lvl="1"/>
            <a:r>
              <a:rPr lang="fr-FR" sz="2000" dirty="0"/>
              <a:t>Otis </a:t>
            </a:r>
            <a:r>
              <a:rPr lang="fr-FR" sz="2000" dirty="0" err="1"/>
              <a:t>Gospodnetic</a:t>
            </a:r>
            <a:r>
              <a:rPr lang="fr-FR" sz="2000" dirty="0"/>
              <a:t> un membre actif du projet Apache </a:t>
            </a:r>
            <a:r>
              <a:rPr lang="fr-FR" sz="2000" dirty="0" smtClean="0"/>
              <a:t>Jakarta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2 fonctionnalités</a:t>
            </a:r>
          </a:p>
          <a:p>
            <a:pPr lvl="1"/>
            <a:r>
              <a:rPr lang="fr-FR" sz="2000" dirty="0" smtClean="0">
                <a:solidFill>
                  <a:schemeClr val="tx1"/>
                </a:solidFill>
              </a:rPr>
              <a:t>Indexation </a:t>
            </a:r>
          </a:p>
          <a:p>
            <a:pPr lvl="2"/>
            <a:r>
              <a:rPr lang="fr-FR" sz="2000" dirty="0" smtClean="0">
                <a:solidFill>
                  <a:schemeClr val="tx1"/>
                </a:solidFill>
              </a:rPr>
              <a:t>Remplaçant de la classification décimale de Dewey après l’avènement d’internet</a:t>
            </a:r>
            <a:endParaRPr lang="fr-FR" sz="2000" u="sng" dirty="0" smtClean="0">
              <a:solidFill>
                <a:schemeClr val="tx1"/>
              </a:solidFill>
            </a:endParaRPr>
          </a:p>
          <a:p>
            <a:pPr lvl="1"/>
            <a:r>
              <a:rPr lang="fr-FR" sz="2000" dirty="0" smtClean="0">
                <a:solidFill>
                  <a:schemeClr val="tx1"/>
                </a:solidFill>
              </a:rPr>
              <a:t>Recherche</a:t>
            </a:r>
          </a:p>
          <a:p>
            <a:pPr lvl="2"/>
            <a:r>
              <a:rPr lang="fr-FR" sz="2000" dirty="0" smtClean="0"/>
              <a:t>Regarder </a:t>
            </a:r>
            <a:r>
              <a:rPr lang="fr-FR" sz="2000" dirty="0"/>
              <a:t>des mots dans un index pour trouver des </a:t>
            </a:r>
            <a:r>
              <a:rPr lang="fr-FR" sz="2000" dirty="0" smtClean="0"/>
              <a:t>références à un document</a:t>
            </a:r>
            <a:endParaRPr lang="fr-FR" sz="20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fr-FR" dirty="0" smtClean="0"/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 smtClean="0"/>
          </a:p>
          <a:p>
            <a:pPr marL="457200" lvl="1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2154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PRESENTATION DE SOLR</a:t>
            </a:r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2000" dirty="0" smtClean="0">
                <a:solidFill>
                  <a:schemeClr val="tx1"/>
                </a:solidFill>
              </a:rPr>
              <a:t>Plateforme logicielle de recherche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Surcouche de </a:t>
            </a:r>
            <a:r>
              <a:rPr lang="fr-FR" sz="2000" dirty="0" err="1" smtClean="0">
                <a:solidFill>
                  <a:schemeClr val="tx1"/>
                </a:solidFill>
              </a:rPr>
              <a:t>lucene</a:t>
            </a:r>
            <a:r>
              <a:rPr lang="fr-FR" sz="2000" dirty="0" smtClean="0">
                <a:solidFill>
                  <a:schemeClr val="tx1"/>
                </a:solidFill>
              </a:rPr>
              <a:t> pour les fonctionnalités les plus complexe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bibliothèque rapide, légère et riche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Codé en java est utilisé par </a:t>
            </a:r>
            <a:r>
              <a:rPr lang="fr-FR" sz="2000" dirty="0" err="1" smtClean="0">
                <a:solidFill>
                  <a:schemeClr val="tx1"/>
                </a:solidFill>
              </a:rPr>
              <a:t>tomcat</a:t>
            </a:r>
            <a:endParaRPr lang="fr-FR" sz="2000" dirty="0" smtClean="0">
              <a:solidFill>
                <a:schemeClr val="tx1"/>
              </a:solidFill>
            </a:endParaRPr>
          </a:p>
          <a:p>
            <a:r>
              <a:rPr lang="fr-FR" sz="2000" dirty="0" err="1" smtClean="0">
                <a:solidFill>
                  <a:schemeClr val="tx1"/>
                </a:solidFill>
              </a:rPr>
              <a:t>Solr</a:t>
            </a:r>
            <a:r>
              <a:rPr lang="fr-FR" sz="2000" dirty="0" smtClean="0">
                <a:solidFill>
                  <a:schemeClr val="tx1"/>
                </a:solidFill>
              </a:rPr>
              <a:t> communique avec le client via le protocole HTTP en utilisant les langages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tx1"/>
                </a:solidFill>
              </a:rPr>
              <a:t>XML et JSON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Développé par </a:t>
            </a:r>
            <a:r>
              <a:rPr lang="fr-FR" sz="2000" dirty="0">
                <a:solidFill>
                  <a:schemeClr val="tx1"/>
                </a:solidFill>
              </a:rPr>
              <a:t>CNET </a:t>
            </a:r>
            <a:r>
              <a:rPr lang="fr-FR" sz="2000" dirty="0" smtClean="0">
                <a:solidFill>
                  <a:schemeClr val="tx1"/>
                </a:solidFill>
              </a:rPr>
              <a:t>Networks</a:t>
            </a:r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7068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PRESENTATION D’HIBERNATE</a:t>
            </a:r>
          </a:p>
          <a:p>
            <a:pPr marL="0" indent="0">
              <a:buNone/>
            </a:pPr>
            <a:endParaRPr lang="fr-FR" sz="3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000" dirty="0" smtClean="0">
                <a:solidFill>
                  <a:schemeClr val="tx1"/>
                </a:solidFill>
              </a:rPr>
              <a:t>Outils de </a:t>
            </a:r>
            <a:r>
              <a:rPr lang="fr-FR" sz="2000" dirty="0" err="1" smtClean="0">
                <a:solidFill>
                  <a:schemeClr val="tx1"/>
                </a:solidFill>
              </a:rPr>
              <a:t>mapping</a:t>
            </a:r>
            <a:r>
              <a:rPr lang="fr-FR" sz="2000" dirty="0" smtClean="0">
                <a:solidFill>
                  <a:schemeClr val="tx1"/>
                </a:solidFill>
              </a:rPr>
              <a:t> entre les objets et les données en BDD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Projet open source très populaire (Raisons : performances et adaptable 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tx1"/>
                </a:solidFill>
              </a:rPr>
              <a:t>à plusieurs type de BDD)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Les accès à la BDD se font grâce à des appels à des WM de haut niveau (encapsulation)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Avantages : Les objets métiers sont plus faciles à manipuler, gain de temps pour les développeurs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3 types de requêtes possibles :</a:t>
            </a:r>
          </a:p>
          <a:p>
            <a:pPr lvl="1"/>
            <a:r>
              <a:rPr lang="fr-FR" dirty="0" smtClean="0">
                <a:solidFill>
                  <a:schemeClr val="tx1"/>
                </a:solidFill>
              </a:rPr>
              <a:t>SQL : Surtout utile pour utiliser des fonctions spécifiques de votre BDD (Ex: Mot clé CONNECT </a:t>
            </a:r>
          </a:p>
          <a:p>
            <a:pPr marL="457200" lvl="1" indent="0">
              <a:buNone/>
            </a:pPr>
            <a:r>
              <a:rPr lang="fr-FR" dirty="0" smtClean="0">
                <a:solidFill>
                  <a:schemeClr val="tx1"/>
                </a:solidFill>
              </a:rPr>
              <a:t>chez Oracle)</a:t>
            </a:r>
          </a:p>
          <a:p>
            <a:pPr lvl="1"/>
            <a:r>
              <a:rPr lang="fr-FR" dirty="0" smtClean="0">
                <a:solidFill>
                  <a:schemeClr val="tx1"/>
                </a:solidFill>
              </a:rPr>
              <a:t>HQL : Langage orientée objet faisant intervenir des notions d’héritage, polymorphisme et d’association</a:t>
            </a:r>
          </a:p>
          <a:p>
            <a:pPr lvl="1"/>
            <a:r>
              <a:rPr lang="fr-FR" dirty="0" err="1" smtClean="0">
                <a:solidFill>
                  <a:schemeClr val="tx1"/>
                </a:solidFill>
              </a:rPr>
              <a:t>Criteria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smtClean="0">
                <a:solidFill>
                  <a:schemeClr val="tx1"/>
                </a:solidFill>
              </a:rPr>
              <a:t>: API d’interrogation par critères intuitifs</a:t>
            </a:r>
          </a:p>
          <a:p>
            <a:pPr marL="0" indent="0">
              <a:buNone/>
            </a:pPr>
            <a:endParaRPr lang="fr-FR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endParaRPr lang="fr-FR" sz="2000" dirty="0" smtClean="0">
              <a:solidFill>
                <a:schemeClr val="accent2">
                  <a:lumMod val="75000"/>
                </a:schemeClr>
              </a:solidFill>
            </a:endParaRPr>
          </a:p>
          <a:p>
            <a:endParaRPr lang="fr-FR" sz="20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954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CONCURRENTS D’ALFRESCO</a:t>
            </a:r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2000" dirty="0" err="1" smtClean="0">
                <a:solidFill>
                  <a:srgbClr val="00B0F0"/>
                </a:solidFill>
              </a:rPr>
              <a:t>Sharepoint</a:t>
            </a:r>
            <a:r>
              <a:rPr lang="fr-FR" sz="2000" dirty="0" smtClean="0">
                <a:solidFill>
                  <a:srgbClr val="00B0F0"/>
                </a:solidFill>
              </a:rPr>
              <a:t> (</a:t>
            </a:r>
            <a:r>
              <a:rPr lang="fr-FR" sz="2000" dirty="0" err="1" smtClean="0">
                <a:solidFill>
                  <a:srgbClr val="00B0F0"/>
                </a:solidFill>
              </a:rPr>
              <a:t>Eversuite</a:t>
            </a:r>
            <a:r>
              <a:rPr lang="fr-FR" sz="2000" dirty="0" smtClean="0">
                <a:solidFill>
                  <a:srgbClr val="00B0F0"/>
                </a:solidFill>
              </a:rPr>
              <a:t> Content Management) </a:t>
            </a:r>
            <a:r>
              <a:rPr lang="fr-FR" sz="2000" dirty="0" smtClean="0">
                <a:solidFill>
                  <a:schemeClr val="tx1"/>
                </a:solidFill>
              </a:rPr>
              <a:t>: Extension </a:t>
            </a:r>
            <a:r>
              <a:rPr lang="fr-FR" sz="2000" dirty="0" err="1" smtClean="0">
                <a:solidFill>
                  <a:schemeClr val="tx1"/>
                </a:solidFill>
              </a:rPr>
              <a:t>sharepoint</a:t>
            </a:r>
            <a:r>
              <a:rPr lang="fr-FR" sz="2000" dirty="0" smtClean="0">
                <a:solidFill>
                  <a:schemeClr val="tx1"/>
                </a:solidFill>
              </a:rPr>
              <a:t> pour la GED.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tx1"/>
                </a:solidFill>
              </a:rPr>
              <a:t>Elle permet de capturer, stocker, gérer, conserver les documents d’entreprise quel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tx1"/>
                </a:solidFill>
              </a:rPr>
              <a:t>Que soit leur format et de les diffuser sur un intranet, de manière sûre et contrôlée.</a:t>
            </a:r>
          </a:p>
          <a:p>
            <a:pPr marL="0" indent="0">
              <a:buNone/>
            </a:pPr>
            <a:endParaRPr lang="fr-FR" sz="2000" dirty="0" smtClean="0">
              <a:solidFill>
                <a:schemeClr val="tx1"/>
              </a:solidFill>
            </a:endParaRPr>
          </a:p>
          <a:p>
            <a:r>
              <a:rPr lang="fr-FR" sz="2000" dirty="0" err="1" smtClean="0">
                <a:solidFill>
                  <a:srgbClr val="00B0F0"/>
                </a:solidFill>
              </a:rPr>
              <a:t>Documentum</a:t>
            </a:r>
            <a:r>
              <a:rPr lang="fr-FR" sz="2000" dirty="0" smtClean="0">
                <a:solidFill>
                  <a:srgbClr val="00B0F0"/>
                </a:solidFill>
              </a:rPr>
              <a:t> </a:t>
            </a:r>
            <a:r>
              <a:rPr lang="fr-FR" sz="2000" dirty="0" smtClean="0">
                <a:solidFill>
                  <a:schemeClr val="tx1"/>
                </a:solidFill>
              </a:rPr>
              <a:t>: </a:t>
            </a:r>
            <a:r>
              <a:rPr lang="fr-FR" sz="2000" dirty="0">
                <a:solidFill>
                  <a:schemeClr val="tx1"/>
                </a:solidFill>
              </a:rPr>
              <a:t>La plateforme EMC </a:t>
            </a:r>
            <a:r>
              <a:rPr lang="fr-FR" sz="2000" dirty="0" err="1">
                <a:solidFill>
                  <a:schemeClr val="tx1"/>
                </a:solidFill>
              </a:rPr>
              <a:t>Documentum</a:t>
            </a:r>
            <a:r>
              <a:rPr lang="fr-FR" sz="2000" dirty="0">
                <a:solidFill>
                  <a:schemeClr val="tx1"/>
                </a:solidFill>
              </a:rPr>
              <a:t> fournit une infrastructure client </a:t>
            </a:r>
            <a:endParaRPr lang="fr-FR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2000" dirty="0" smtClean="0">
                <a:solidFill>
                  <a:schemeClr val="tx1"/>
                </a:solidFill>
              </a:rPr>
              <a:t>dotée </a:t>
            </a:r>
            <a:r>
              <a:rPr lang="fr-FR" sz="2000" dirty="0">
                <a:solidFill>
                  <a:schemeClr val="tx1"/>
                </a:solidFill>
              </a:rPr>
              <a:t>d'un </a:t>
            </a:r>
            <a:r>
              <a:rPr lang="fr-FR" sz="2000" dirty="0" err="1">
                <a:solidFill>
                  <a:schemeClr val="tx1"/>
                </a:solidFill>
              </a:rPr>
              <a:t>framework</a:t>
            </a:r>
            <a:r>
              <a:rPr lang="fr-FR" sz="2000" dirty="0">
                <a:solidFill>
                  <a:schemeClr val="tx1"/>
                </a:solidFill>
              </a:rPr>
              <a:t> et d'outils permettant aux utilisateurs de traiter et d'exploiter les fonctions de gestion de contenu sur diverses applications résidant sur leur poste de </a:t>
            </a:r>
            <a:r>
              <a:rPr lang="fr-FR" sz="2000" dirty="0" smtClean="0">
                <a:solidFill>
                  <a:schemeClr val="tx1"/>
                </a:solidFill>
              </a:rPr>
              <a:t>travail,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tx1"/>
                </a:solidFill>
              </a:rPr>
              <a:t>un </a:t>
            </a:r>
            <a:r>
              <a:rPr lang="fr-FR" sz="2000" dirty="0">
                <a:solidFill>
                  <a:schemeClr val="tx1"/>
                </a:solidFill>
              </a:rPr>
              <a:t>portail ou le </a:t>
            </a:r>
            <a:r>
              <a:rPr lang="fr-FR" sz="2000" dirty="0" smtClean="0">
                <a:solidFill>
                  <a:schemeClr val="tx1"/>
                </a:solidFill>
              </a:rPr>
              <a:t>Web. Solution assez chère créée par un des fondateurs d’</a:t>
            </a:r>
            <a:r>
              <a:rPr lang="fr-FR" sz="2000" dirty="0" err="1" smtClean="0">
                <a:solidFill>
                  <a:schemeClr val="tx1"/>
                </a:solidFill>
              </a:rPr>
              <a:t>Alfresco</a:t>
            </a:r>
            <a:endParaRPr lang="fr-FR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sz="2000" dirty="0" smtClean="0">
              <a:solidFill>
                <a:schemeClr val="tx1"/>
              </a:solidFill>
            </a:endParaRPr>
          </a:p>
          <a:p>
            <a:r>
              <a:rPr lang="fr-FR" sz="2000" dirty="0" err="1" smtClean="0">
                <a:solidFill>
                  <a:srgbClr val="00B0F0"/>
                </a:solidFill>
              </a:rPr>
              <a:t>Nexum</a:t>
            </a:r>
            <a:r>
              <a:rPr lang="fr-FR" sz="2000" dirty="0" smtClean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7578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ALFRESCO EN QUELQUES CHIFFRES</a:t>
            </a:r>
          </a:p>
          <a:p>
            <a:pPr marL="0" indent="0">
              <a:buNone/>
            </a:pPr>
            <a:endParaRPr lang="fr-FR" sz="2200" dirty="0" smtClean="0"/>
          </a:p>
          <a:p>
            <a:r>
              <a:rPr lang="fr-FR" sz="2200" dirty="0" smtClean="0">
                <a:solidFill>
                  <a:schemeClr val="tx1"/>
                </a:solidFill>
              </a:rPr>
              <a:t>1300 clients </a:t>
            </a:r>
            <a:r>
              <a:rPr lang="fr-FR" sz="2200" dirty="0"/>
              <a:t>à travers le monde</a:t>
            </a:r>
            <a:r>
              <a:rPr lang="fr-FR" sz="2000" dirty="0"/>
              <a:t> </a:t>
            </a:r>
            <a:endParaRPr lang="fr-FR" sz="2000" dirty="0" smtClean="0"/>
          </a:p>
          <a:p>
            <a:endParaRPr lang="fr-FR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  <a:p>
            <a:pPr marL="0" indent="0">
              <a:buNone/>
            </a:pPr>
            <a:endParaRPr lang="fr-FR" sz="3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2000" dirty="0" smtClean="0">
                <a:solidFill>
                  <a:schemeClr val="tx1"/>
                </a:solidFill>
              </a:rPr>
              <a:t>Environnement : 51% Linux / 41% Windows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Base de données : 60% MySQL / 14 % Oracle</a:t>
            </a:r>
            <a:r>
              <a:rPr lang="fr-FR" sz="3600" dirty="0" smtClean="0">
                <a:solidFill>
                  <a:schemeClr val="tx1"/>
                </a:solidFill>
              </a:rPr>
              <a:t> </a:t>
            </a:r>
          </a:p>
          <a:p>
            <a:r>
              <a:rPr lang="fr-FR" sz="2000" dirty="0" smtClean="0">
                <a:solidFill>
                  <a:schemeClr val="tx1"/>
                </a:solidFill>
              </a:rPr>
              <a:t>Temps d’insertion moyen : 10 documents/seconde</a:t>
            </a:r>
            <a:endParaRPr lang="fr-FR" sz="2000" dirty="0">
              <a:solidFill>
                <a:schemeClr val="tx1"/>
              </a:solidFill>
            </a:endParaRPr>
          </a:p>
          <a:p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23336" y="1967419"/>
            <a:ext cx="9279464" cy="110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74402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ALFRESCO AU GROUPE HENNER</a:t>
            </a:r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 descr="Alfresc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8983" y="817372"/>
            <a:ext cx="9255527" cy="5771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7677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FR" sz="14400" dirty="0" smtClean="0">
                <a:solidFill>
                  <a:schemeClr val="accent2">
                    <a:lumMod val="75000"/>
                  </a:schemeClr>
                </a:solidFill>
              </a:rPr>
              <a:t>ALFRESCO AU GROUPE HENNER (suite)</a:t>
            </a:r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8000" dirty="0" smtClean="0"/>
              <a:t>2 architectures (</a:t>
            </a:r>
            <a:r>
              <a:rPr lang="fr-FR" sz="8000" dirty="0" err="1" smtClean="0"/>
              <a:t>dev</a:t>
            </a:r>
            <a:r>
              <a:rPr lang="fr-FR" sz="8000" dirty="0"/>
              <a:t>/</a:t>
            </a:r>
            <a:r>
              <a:rPr lang="fr-FR" sz="8000" dirty="0" smtClean="0"/>
              <a:t>Recette et Prod )</a:t>
            </a:r>
          </a:p>
          <a:p>
            <a:pPr marL="0" indent="0">
              <a:buNone/>
            </a:pPr>
            <a:endParaRPr lang="fr-FR" sz="8000" dirty="0" smtClean="0"/>
          </a:p>
          <a:p>
            <a:r>
              <a:rPr lang="fr-FR" sz="8000" dirty="0" smtClean="0"/>
              <a:t>Utilisation de </a:t>
            </a:r>
            <a:r>
              <a:rPr lang="fr-FR" sz="8000" dirty="0" err="1" smtClean="0"/>
              <a:t>webservices</a:t>
            </a:r>
            <a:r>
              <a:rPr lang="fr-FR" sz="8000" dirty="0" smtClean="0"/>
              <a:t> C# (majoritairement utilisés) ou VB(via une DLL) </a:t>
            </a:r>
          </a:p>
          <a:p>
            <a:pPr marL="0" indent="0">
              <a:buNone/>
            </a:pPr>
            <a:r>
              <a:rPr lang="fr-FR" sz="8000" dirty="0" smtClean="0"/>
              <a:t>pour l’insertion en GED</a:t>
            </a:r>
          </a:p>
          <a:p>
            <a:pPr marL="0" indent="0">
              <a:buNone/>
            </a:pPr>
            <a:endParaRPr lang="fr-FR" sz="6200" dirty="0" smtClean="0"/>
          </a:p>
          <a:p>
            <a:r>
              <a:rPr lang="fr-FR" sz="8000" dirty="0" smtClean="0"/>
              <a:t>2 type d’insertions </a:t>
            </a:r>
          </a:p>
          <a:p>
            <a:pPr lvl="1"/>
            <a:r>
              <a:rPr lang="fr-FR" sz="6400" dirty="0" smtClean="0"/>
              <a:t>Insertion directe en GED (insert_document3)</a:t>
            </a:r>
          </a:p>
          <a:p>
            <a:pPr lvl="1"/>
            <a:r>
              <a:rPr lang="fr-FR" sz="6400" dirty="0" smtClean="0"/>
              <a:t>Insertion en différé (dem_insert_document3)</a:t>
            </a:r>
          </a:p>
          <a:p>
            <a:pPr marL="457200" lvl="1" indent="0">
              <a:buNone/>
            </a:pPr>
            <a:endParaRPr lang="fr-FR" dirty="0" smtClean="0"/>
          </a:p>
          <a:p>
            <a:r>
              <a:rPr lang="fr-FR" sz="8000" dirty="0" smtClean="0"/>
              <a:t>Insertion en différée </a:t>
            </a:r>
          </a:p>
          <a:p>
            <a:pPr lvl="1"/>
            <a:r>
              <a:rPr lang="fr-FR" sz="6400" dirty="0" smtClean="0"/>
              <a:t>1) Enregistrement d’un document dans un SAS</a:t>
            </a:r>
          </a:p>
          <a:p>
            <a:pPr lvl="1"/>
            <a:r>
              <a:rPr lang="fr-FR" sz="6400" dirty="0" smtClean="0"/>
              <a:t>2) Une tache planifiée qui tourne sur MSED01 scanne le SAS pour voir s’il y a des documents</a:t>
            </a:r>
          </a:p>
          <a:p>
            <a:pPr lvl="1"/>
            <a:r>
              <a:rPr lang="fr-FR" sz="6400" dirty="0" smtClean="0"/>
              <a:t>3) Transmission des données via </a:t>
            </a:r>
            <a:r>
              <a:rPr lang="fr-FR" sz="6400" dirty="0" err="1" smtClean="0"/>
              <a:t>webservice</a:t>
            </a:r>
            <a:r>
              <a:rPr lang="fr-FR" sz="6400" dirty="0" smtClean="0"/>
              <a:t>  au serveur IISPRODINT</a:t>
            </a:r>
          </a:p>
          <a:p>
            <a:pPr lvl="1"/>
            <a:r>
              <a:rPr lang="fr-FR" sz="6400" dirty="0" smtClean="0"/>
              <a:t>4) IISPRODINT fait un appel d’un </a:t>
            </a:r>
            <a:r>
              <a:rPr lang="fr-FR" sz="6400" dirty="0" err="1" smtClean="0"/>
              <a:t>webservice</a:t>
            </a:r>
            <a:r>
              <a:rPr lang="fr-FR" sz="6400" dirty="0" smtClean="0"/>
              <a:t> en formatant les données en fonction des entrées (alfrescoWS.asmx)</a:t>
            </a:r>
          </a:p>
          <a:p>
            <a:pPr lvl="1"/>
            <a:r>
              <a:rPr lang="fr-FR" sz="6400" dirty="0" smtClean="0"/>
              <a:t>5) Les données sont enregistrées sur des disques SAN via une architecture en cluster</a:t>
            </a:r>
          </a:p>
          <a:p>
            <a:pPr lvl="1"/>
            <a:endParaRPr lang="fr-FR" dirty="0"/>
          </a:p>
          <a:p>
            <a:pPr lvl="1"/>
            <a:endParaRPr lang="fr-FR" dirty="0" smtClean="0"/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endParaRPr lang="fr-FR" sz="2000" dirty="0" smtClean="0"/>
          </a:p>
          <a:p>
            <a:pPr marL="0" indent="0">
              <a:buNone/>
            </a:pPr>
            <a:endParaRPr lang="fr-FR" sz="2000" dirty="0" smtClean="0"/>
          </a:p>
          <a:p>
            <a:pPr marL="0" indent="0">
              <a:buNone/>
            </a:pPr>
            <a:endParaRPr lang="fr-FR" sz="2000" dirty="0" smtClean="0"/>
          </a:p>
          <a:p>
            <a:endParaRPr lang="fr-FR" sz="2000" dirty="0" smtClean="0"/>
          </a:p>
          <a:p>
            <a:pPr marL="0" indent="0">
              <a:buNone/>
            </a:pPr>
            <a:r>
              <a:rPr lang="fr-FR" sz="2000" dirty="0" smtClean="0"/>
              <a:t> </a:t>
            </a:r>
          </a:p>
          <a:p>
            <a:endParaRPr lang="fr-FR" dirty="0"/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3358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799" y="114695"/>
            <a:ext cx="11116733" cy="6579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 smtClean="0">
                <a:solidFill>
                  <a:schemeClr val="accent2">
                    <a:lumMod val="75000"/>
                  </a:schemeClr>
                </a:solidFill>
              </a:rPr>
              <a:t>ALFRESCO AU GROUPE HENNER (suite)</a:t>
            </a:r>
          </a:p>
          <a:p>
            <a:pPr marL="457200" lvl="1" indent="0">
              <a:buNone/>
            </a:pPr>
            <a:endParaRPr lang="fr-FR" sz="36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 smtClean="0"/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endParaRPr lang="fr-FR" sz="2000" dirty="0" smtClean="0"/>
          </a:p>
          <a:p>
            <a:pPr marL="0" indent="0">
              <a:buNone/>
            </a:pPr>
            <a:endParaRPr lang="fr-FR" sz="2000" dirty="0" smtClean="0"/>
          </a:p>
          <a:p>
            <a:pPr marL="0" indent="0">
              <a:buNone/>
            </a:pPr>
            <a:endParaRPr lang="fr-FR" sz="2000" dirty="0" smtClean="0"/>
          </a:p>
          <a:p>
            <a:endParaRPr lang="fr-FR" sz="2000" dirty="0" smtClean="0"/>
          </a:p>
          <a:p>
            <a:pPr marL="0" indent="0">
              <a:buNone/>
            </a:pPr>
            <a:r>
              <a:rPr lang="fr-FR" sz="2000" dirty="0" smtClean="0"/>
              <a:t> </a:t>
            </a:r>
          </a:p>
          <a:p>
            <a:endParaRPr lang="fr-FR" dirty="0"/>
          </a:p>
          <a:p>
            <a:pPr marL="0" indent="0">
              <a:buNone/>
            </a:pPr>
            <a:endParaRPr lang="fr-FR" sz="36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198396" y="6329229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0485071" y="6246307"/>
            <a:ext cx="1600199" cy="46005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96471" y="1130012"/>
            <a:ext cx="10388600" cy="490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3386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:a="http://schemas.openxmlformats.org/drawingml/2006/main" xmlns="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:a="http://schemas.openxmlformats.org/drawingml/2006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:a="http://schemas.openxmlformats.org/drawingml/2006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1047</TotalTime>
  <Words>1332</Words>
  <Application>Microsoft Office PowerPoint</Application>
  <PresentationFormat>Personnalisé</PresentationFormat>
  <Paragraphs>222</Paragraphs>
  <Slides>17</Slides>
  <Notes>17</Notes>
  <HiddenSlides>0</HiddenSlides>
  <MMClips>0</MMClips>
  <ScaleCrop>false</ScaleCrop>
  <HeadingPairs>
    <vt:vector size="4" baseType="variant"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Facette</vt:lpstr>
      <vt:lpstr>Alfresco, un ECM open source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rod scot</dc:creator>
  <cp:lastModifiedBy>philippe</cp:lastModifiedBy>
  <cp:revision>178</cp:revision>
  <dcterms:created xsi:type="dcterms:W3CDTF">2014-02-03T09:54:07Z</dcterms:created>
  <dcterms:modified xsi:type="dcterms:W3CDTF">2014-02-03T09:54:26Z</dcterms:modified>
</cp:coreProperties>
</file>
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6.xml" ContentType="application/vnd.openxmlformats-officedocument.presentationml.notes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Default Extension="xml" ContentType="application/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notesSlides/notesSlide6.xml" ContentType="application/vnd.openxmlformats-officedocument.presentationml.notesSlide+xml"/>
  <Default Extension="gif" ContentType="image/gif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85" r:id="rId6"/>
    <p:sldId id="259" r:id="rId7"/>
    <p:sldId id="281" r:id="rId8"/>
    <p:sldId id="268" r:id="rId9"/>
    <p:sldId id="272" r:id="rId10"/>
    <p:sldId id="282" r:id="rId11"/>
    <p:sldId id="283" r:id="rId12"/>
    <p:sldId id="269" r:id="rId13"/>
    <p:sldId id="286" r:id="rId14"/>
    <p:sldId id="287" r:id="rId15"/>
    <p:sldId id="284" r:id="rId16"/>
    <p:sldId id="279" r:id="rId17"/>
    <p:sldId id="266" r:id="rId18"/>
    <p:sldId id="280" r:id="rId19"/>
  </p:sldIdLst>
  <p:sldSz cx="9144000" cy="6858000" type="screen4x3"/>
  <p:notesSz cx="6724650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2177" autoAdjust="0"/>
  </p:normalViewPr>
  <p:slideViewPr>
    <p:cSldViewPr snapToGrid="0" snapToObjects="1">
      <p:cViewPr varScale="1">
        <p:scale>
          <a:sx n="152" d="100"/>
          <a:sy n="152" d="100"/>
        </p:scale>
        <p:origin x="-1200" y="-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D7CB8-2974-4940-9880-7E7FFB966C76}" type="datetimeFigureOut">
              <a:rPr lang="fr-FR" smtClean="0"/>
              <a:pPr/>
              <a:t>3/02/14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2465" y="4690269"/>
            <a:ext cx="537972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09079" y="9378824"/>
            <a:ext cx="2914015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5642-1DD1-334C-937D-D50129F580E8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92560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835595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Je commence par une introduire</a:t>
            </a:r>
            <a:r>
              <a:rPr lang="fr-FR" baseline="0" dirty="0" smtClean="0"/>
              <a:t> le contexte </a:t>
            </a:r>
          </a:p>
          <a:p>
            <a:r>
              <a:rPr lang="fr-FR" baseline="0" dirty="0" smtClean="0"/>
              <a:t>Je conclurais sur quelques remarques	Questions réponses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6642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contexte : </a:t>
            </a:r>
          </a:p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Travaux Existant </a:t>
            </a:r>
          </a:p>
          <a:p>
            <a:r>
              <a:rPr lang="fr-FR" sz="10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Périmètre, environnement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8174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 smtClean="0"/>
              <a:t>(Atomicité, Consistance, Isolation, Durabilité)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77754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817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err="1" smtClean="0"/>
              <a:t>Scalabilité</a:t>
            </a:r>
            <a:r>
              <a:rPr lang="fr-FR" sz="1200" dirty="0" smtClean="0"/>
              <a:t> : prendre en charge plus de données en ajoutant plus de machines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Partitionnement des données : de façon transparente pour les applications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Haute disponibilité et longévité : réplication</a:t>
            </a:r>
            <a:r>
              <a:rPr lang="fr-FR" sz="1200" baseline="0" dirty="0" smtClean="0"/>
              <a:t> et persistance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Performant et robuste : La latence est critique, pas de point faible 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/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4804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14804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593986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 consistent hashing </a:t>
            </a:r>
            <a:r>
              <a:rPr lang="en-US" dirty="0" err="1" smtClean="0"/>
              <a:t>permet</a:t>
            </a:r>
            <a:r>
              <a:rPr lang="en-US" dirty="0" smtClean="0"/>
              <a:t> de </a:t>
            </a:r>
            <a:r>
              <a:rPr lang="en-US" dirty="0" err="1" smtClean="0"/>
              <a:t>répartir</a:t>
            </a:r>
            <a:r>
              <a:rPr lang="en-US" dirty="0" smtClean="0"/>
              <a:t> des </a:t>
            </a:r>
            <a:r>
              <a:rPr lang="en-US" dirty="0" err="1" smtClean="0"/>
              <a:t>données</a:t>
            </a:r>
            <a:r>
              <a:rPr lang="en-US" dirty="0" smtClean="0"/>
              <a:t> en </a:t>
            </a:r>
            <a:r>
              <a:rPr lang="en-US" dirty="0" err="1" smtClean="0"/>
              <a:t>assurant</a:t>
            </a:r>
            <a:r>
              <a:rPr lang="en-US" dirty="0" smtClean="0"/>
              <a:t> un maximum de </a:t>
            </a:r>
            <a:r>
              <a:rPr lang="en-US" dirty="0" err="1" smtClean="0"/>
              <a:t>résilience</a:t>
            </a:r>
            <a:r>
              <a:rPr lang="en-US" dirty="0" smtClean="0"/>
              <a:t>. On </a:t>
            </a:r>
            <a:r>
              <a:rPr lang="en-US" dirty="0" err="1" smtClean="0"/>
              <a:t>retrouve</a:t>
            </a:r>
            <a:r>
              <a:rPr lang="en-US" dirty="0" smtClean="0"/>
              <a:t> son </a:t>
            </a:r>
            <a:r>
              <a:rPr lang="en-US" dirty="0" err="1" smtClean="0"/>
              <a:t>utilisation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des solutions de cache type </a:t>
            </a:r>
            <a:r>
              <a:rPr lang="en-US" dirty="0" err="1" smtClean="0"/>
              <a:t>memcached</a:t>
            </a:r>
            <a:r>
              <a:rPr lang="en-US" dirty="0" smtClean="0"/>
              <a:t>, des caches de </a:t>
            </a:r>
            <a:r>
              <a:rPr lang="en-US" dirty="0" err="1" smtClean="0"/>
              <a:t>ressources</a:t>
            </a:r>
            <a:r>
              <a:rPr lang="en-US" dirty="0" smtClean="0"/>
              <a:t> Web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également</a:t>
            </a:r>
            <a:r>
              <a:rPr lang="en-US" dirty="0" smtClean="0"/>
              <a:t> des </a:t>
            </a:r>
            <a:r>
              <a:rPr lang="en-US" dirty="0" err="1" smtClean="0"/>
              <a:t>stockages</a:t>
            </a:r>
            <a:r>
              <a:rPr lang="en-US" dirty="0" smtClean="0"/>
              <a:t> </a:t>
            </a:r>
            <a:r>
              <a:rPr lang="en-US" dirty="0" err="1" smtClean="0"/>
              <a:t>distribués</a:t>
            </a:r>
            <a:r>
              <a:rPr lang="en-US" dirty="0" smtClean="0"/>
              <a:t> type Dynamo.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 consistent hashing </a:t>
            </a:r>
            <a:r>
              <a:rPr lang="en-US" dirty="0" err="1" smtClean="0"/>
              <a:t>permet</a:t>
            </a:r>
            <a:r>
              <a:rPr lang="en-US" dirty="0" smtClean="0"/>
              <a:t> </a:t>
            </a:r>
            <a:r>
              <a:rPr lang="en-US" dirty="0" err="1" smtClean="0"/>
              <a:t>donc</a:t>
            </a:r>
            <a:r>
              <a:rPr lang="en-US" dirty="0" smtClean="0"/>
              <a:t> de </a:t>
            </a:r>
            <a:r>
              <a:rPr lang="en-US" dirty="0" err="1" smtClean="0"/>
              <a:t>répartir</a:t>
            </a:r>
            <a:r>
              <a:rPr lang="en-US" dirty="0" smtClean="0"/>
              <a:t> des </a:t>
            </a:r>
            <a:r>
              <a:rPr lang="en-US" dirty="0" err="1" smtClean="0"/>
              <a:t>données</a:t>
            </a:r>
            <a:r>
              <a:rPr lang="en-US" dirty="0" smtClean="0"/>
              <a:t> en </a:t>
            </a:r>
            <a:r>
              <a:rPr lang="en-US" dirty="0" err="1" smtClean="0"/>
              <a:t>assurant</a:t>
            </a:r>
            <a:r>
              <a:rPr lang="en-US" dirty="0" smtClean="0"/>
              <a:t> un maximum de </a:t>
            </a:r>
            <a:r>
              <a:rPr lang="en-US" dirty="0" err="1" smtClean="0"/>
              <a:t>résilience</a:t>
            </a:r>
            <a:r>
              <a:rPr lang="en-US" dirty="0" smtClean="0"/>
              <a:t>. On </a:t>
            </a:r>
            <a:r>
              <a:rPr lang="en-US" dirty="0" err="1" smtClean="0"/>
              <a:t>retrouve</a:t>
            </a:r>
            <a:r>
              <a:rPr lang="en-US" dirty="0" smtClean="0"/>
              <a:t> son </a:t>
            </a:r>
            <a:r>
              <a:rPr lang="en-US" dirty="0" err="1" smtClean="0"/>
              <a:t>utilisation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des solutions de cache type </a:t>
            </a:r>
            <a:r>
              <a:rPr lang="en-US" dirty="0" err="1" smtClean="0"/>
              <a:t>memcached</a:t>
            </a:r>
            <a:r>
              <a:rPr lang="en-US" dirty="0" smtClean="0"/>
              <a:t>, des caches de </a:t>
            </a:r>
            <a:r>
              <a:rPr lang="en-US" dirty="0" err="1" smtClean="0"/>
              <a:t>ressources</a:t>
            </a:r>
            <a:r>
              <a:rPr lang="en-US" dirty="0" smtClean="0"/>
              <a:t> Web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également</a:t>
            </a:r>
            <a:r>
              <a:rPr lang="en-US" dirty="0" smtClean="0"/>
              <a:t> des </a:t>
            </a:r>
            <a:r>
              <a:rPr lang="en-US" dirty="0" err="1" smtClean="0"/>
              <a:t>stockages</a:t>
            </a:r>
            <a:r>
              <a:rPr lang="en-US" dirty="0" smtClean="0"/>
              <a:t> </a:t>
            </a:r>
            <a:r>
              <a:rPr lang="en-US" dirty="0" err="1" smtClean="0"/>
              <a:t>distribués</a:t>
            </a:r>
            <a:r>
              <a:rPr lang="en-US" dirty="0" smtClean="0"/>
              <a:t> type Dynamo.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effectLst/>
              </a:rPr>
              <a:t>les </a:t>
            </a:r>
            <a:r>
              <a:rPr lang="en-US" dirty="0" err="1" smtClean="0">
                <a:effectLst/>
              </a:rPr>
              <a:t>éventuelles</a:t>
            </a:r>
            <a:r>
              <a:rPr lang="en-US" dirty="0" smtClean="0">
                <a:effectLst/>
              </a:rPr>
              <a:t> divergences (et </a:t>
            </a:r>
            <a:r>
              <a:rPr lang="en-US" dirty="0" err="1" smtClean="0">
                <a:effectLst/>
              </a:rPr>
              <a:t>réconciliation</a:t>
            </a:r>
            <a:r>
              <a:rPr lang="en-US" dirty="0" smtClean="0">
                <a:effectLst/>
              </a:rPr>
              <a:t>) entre </a:t>
            </a:r>
            <a:r>
              <a:rPr lang="en-US" dirty="0" err="1" smtClean="0">
                <a:effectLst/>
              </a:rPr>
              <a:t>données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sont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gérées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à</a:t>
            </a:r>
            <a:r>
              <a:rPr lang="en-US" dirty="0" smtClean="0">
                <a:effectLst/>
              </a:rPr>
              <a:t> la lecture (mode « Read-Repair ») </a:t>
            </a: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R</a:t>
            </a:r>
            <a:r>
              <a:rPr lang="fr-FR" sz="2800" dirty="0" smtClean="0"/>
              <a:t>éplicas = partition suivante sur nœud différent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58622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468729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988433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vous remercie de l’écoute bienveillante que vous m’avez accordée et reste a votre disposition pour répondre à vos questions</a:t>
            </a:r>
            <a:endParaRPr lang="en-US" sz="1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3070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5642-1DD1-334C-937D-D50129F580E8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307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22" name="Sous-titr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fr-FR" smtClean="0"/>
              <a:t>Faire glisser l'image vers l'espace réservé ou cliquer sur l'icône pour l'ajouter</a:t>
            </a:r>
            <a:endParaRPr kumimoji="0" lang="en-US" dirty="0"/>
          </a:p>
        </p:txBody>
      </p:sp>
      <p:sp>
        <p:nvSpPr>
          <p:cNvPr id="9" name="Processu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Processu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3/02/14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eurs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Bouée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3/02/14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jpe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30" Type="http://schemas.openxmlformats.org/officeDocument/2006/relationships/image" Target="../media/image33.png"/><Relationship Id="rId31" Type="http://schemas.openxmlformats.org/officeDocument/2006/relationships/image" Target="../media/image34.png"/><Relationship Id="rId32" Type="http://schemas.openxmlformats.org/officeDocument/2006/relationships/image" Target="../media/image35.png"/><Relationship Id="rId9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33" Type="http://schemas.openxmlformats.org/officeDocument/2006/relationships/image" Target="../media/image36.png"/><Relationship Id="rId34" Type="http://schemas.openxmlformats.org/officeDocument/2006/relationships/image" Target="../media/image37.png"/><Relationship Id="rId35" Type="http://schemas.openxmlformats.org/officeDocument/2006/relationships/image" Target="../media/image38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.png"/><Relationship Id="rId6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46.jpe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22857" y="660774"/>
            <a:ext cx="7807479" cy="1472184"/>
          </a:xfrm>
        </p:spPr>
        <p:txBody>
          <a:bodyPr/>
          <a:lstStyle/>
          <a:p>
            <a:pPr algn="ctr"/>
            <a:r>
              <a:rPr lang="fr-FR" dirty="0" smtClean="0"/>
              <a:t>Projet </a:t>
            </a:r>
            <a:r>
              <a:rPr lang="fr-FR" dirty="0" err="1" smtClean="0"/>
              <a:t>Voldemort</a:t>
            </a:r>
            <a:endParaRPr lang="fr-FR" dirty="0"/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1459536" y="3890707"/>
            <a:ext cx="7406640" cy="1078225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smtClean="0"/>
              <a:t>Une alternative </a:t>
            </a:r>
            <a:r>
              <a:rPr lang="fr-FR" sz="2800" dirty="0"/>
              <a:t>Open </a:t>
            </a:r>
            <a:r>
              <a:rPr lang="fr-FR" sz="2800" dirty="0" smtClean="0"/>
              <a:t>Source au </a:t>
            </a:r>
            <a:r>
              <a:rPr lang="fr-FR" sz="2800" dirty="0"/>
              <a:t>système de stockage interne </a:t>
            </a:r>
            <a:r>
              <a:rPr lang="fr-FR" sz="2800" dirty="0" smtClean="0"/>
              <a:t>d’Amazon : Dynamo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1081755" y="81021"/>
            <a:ext cx="3702794" cy="495034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NFE 204 : Bases de données avancées</a:t>
            </a:r>
          </a:p>
        </p:txBody>
      </p:sp>
      <p:sp>
        <p:nvSpPr>
          <p:cNvPr id="7" name="Sous-titre 2"/>
          <p:cNvSpPr txBox="1">
            <a:spLocks/>
          </p:cNvSpPr>
          <p:nvPr/>
        </p:nvSpPr>
        <p:spPr>
          <a:xfrm>
            <a:off x="1093052" y="6471781"/>
            <a:ext cx="6635689" cy="328139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 smtClean="0"/>
              <a:t>Présentation : Raphaël BLONDEAU 21 Janvier 2014</a:t>
            </a:r>
          </a:p>
        </p:txBody>
      </p:sp>
      <p:pic>
        <p:nvPicPr>
          <p:cNvPr id="3" name="Image 2" descr="voldemort_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4559300" y="2520950"/>
            <a:ext cx="1143000" cy="1054100"/>
          </a:xfrm>
          <a:prstGeom prst="rect">
            <a:avLst/>
          </a:prstGeom>
        </p:spPr>
      </p:pic>
      <p:pic>
        <p:nvPicPr>
          <p:cNvPr id="8" name="Image 7" descr="Capture d’écran 2014-01-18 à 16.04.59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125336" y="89354"/>
            <a:ext cx="1905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35787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535256" y="436644"/>
            <a:ext cx="4976615" cy="747995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/>
              <a:t>Contenu</a:t>
            </a:r>
            <a:endParaRPr lang="fr-FR" sz="4000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2159649" y="1446011"/>
            <a:ext cx="5077342" cy="4409712"/>
          </a:xfrm>
        </p:spPr>
        <p:txBody>
          <a:bodyPr>
            <a:normAutofit/>
          </a:bodyPr>
          <a:lstStyle/>
          <a:p>
            <a:r>
              <a:rPr lang="fr-FR" sz="2800" dirty="0" smtClean="0"/>
              <a:t>Introduction</a:t>
            </a:r>
          </a:p>
          <a:p>
            <a:r>
              <a:rPr lang="fr-FR" sz="2800" dirty="0" smtClean="0"/>
              <a:t>Le </a:t>
            </a:r>
            <a:r>
              <a:rPr lang="fr-FR" sz="2800" dirty="0" err="1" smtClean="0"/>
              <a:t>NoSQL</a:t>
            </a:r>
            <a:endParaRPr lang="fr-FR" sz="2800" dirty="0" smtClean="0"/>
          </a:p>
          <a:p>
            <a:r>
              <a:rPr lang="fr-FR" sz="2800" dirty="0" smtClean="0"/>
              <a:t>Les propositions</a:t>
            </a:r>
          </a:p>
          <a:p>
            <a:r>
              <a:rPr lang="fr-FR" sz="2800" dirty="0" smtClean="0"/>
              <a:t>Les Origines de </a:t>
            </a:r>
            <a:r>
              <a:rPr lang="fr-FR" sz="2800" dirty="0" err="1" smtClean="0"/>
              <a:t>Voldemort</a:t>
            </a:r>
            <a:endParaRPr lang="fr-FR" sz="2800" dirty="0" smtClean="0"/>
          </a:p>
          <a:p>
            <a:r>
              <a:rPr lang="fr-FR" sz="2800" dirty="0" smtClean="0"/>
              <a:t>Le projet </a:t>
            </a:r>
            <a:r>
              <a:rPr lang="fr-FR" sz="2800" dirty="0" err="1" smtClean="0"/>
              <a:t>Voldemort</a:t>
            </a:r>
            <a:endParaRPr lang="fr-FR" sz="2800" dirty="0"/>
          </a:p>
          <a:p>
            <a:r>
              <a:rPr lang="fr-FR" sz="2800" dirty="0" smtClean="0"/>
              <a:t>Mise en œuvre</a:t>
            </a:r>
          </a:p>
          <a:p>
            <a:r>
              <a:rPr lang="fr-FR" sz="2800" dirty="0" smtClean="0"/>
              <a:t>Conclusion</a:t>
            </a:r>
          </a:p>
          <a:p>
            <a:r>
              <a:rPr lang="fr-FR" sz="2800" dirty="0" smtClean="0"/>
              <a:t>Questions </a:t>
            </a:r>
            <a:r>
              <a:rPr lang="fr-FR" sz="2800" dirty="0"/>
              <a:t>/ Réponses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2</a:t>
            </a:fld>
            <a:endParaRPr lang="en-GB" sz="1600" b="1" dirty="0"/>
          </a:p>
        </p:txBody>
      </p:sp>
      <p:pic>
        <p:nvPicPr>
          <p:cNvPr id="9" name="Image 8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0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50826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671698" y="1226580"/>
            <a:ext cx="6562725" cy="5060975"/>
          </a:xfrm>
        </p:spPr>
        <p:txBody>
          <a:bodyPr>
            <a:normAutofit fontScale="85000" lnSpcReduction="20000"/>
          </a:bodyPr>
          <a:lstStyle/>
          <a:p>
            <a:r>
              <a:rPr lang="fr-FR" sz="3300" dirty="0" smtClean="0"/>
              <a:t>Les besoins</a:t>
            </a:r>
          </a:p>
          <a:p>
            <a:pPr lvl="1"/>
            <a:r>
              <a:rPr lang="fr-FR" dirty="0"/>
              <a:t>De très grands volumes de </a:t>
            </a:r>
            <a:r>
              <a:rPr lang="fr-FR" dirty="0" smtClean="0"/>
              <a:t>données,</a:t>
            </a:r>
            <a:endParaRPr lang="fr-FR" dirty="0"/>
          </a:p>
          <a:p>
            <a:pPr lvl="1"/>
            <a:r>
              <a:rPr lang="fr-FR" dirty="0"/>
              <a:t>De très nombreux </a:t>
            </a:r>
            <a:r>
              <a:rPr lang="fr-FR" dirty="0" smtClean="0"/>
              <a:t>utilisateurs,</a:t>
            </a:r>
            <a:endParaRPr lang="fr-FR" dirty="0"/>
          </a:p>
          <a:p>
            <a:pPr lvl="1"/>
            <a:r>
              <a:rPr lang="fr-FR" dirty="0"/>
              <a:t>Système distribué (de nombreux serveurs à travers le monde</a:t>
            </a:r>
            <a:r>
              <a:rPr lang="fr-FR" dirty="0" smtClean="0"/>
              <a:t>),</a:t>
            </a:r>
            <a:endParaRPr lang="fr-FR" dirty="0"/>
          </a:p>
          <a:p>
            <a:pPr lvl="1"/>
            <a:r>
              <a:rPr lang="fr-FR" dirty="0"/>
              <a:t>Un Modèle (SGBD Relationnel inadapté</a:t>
            </a:r>
            <a:r>
              <a:rPr lang="fr-FR" dirty="0" smtClean="0"/>
              <a:t>).</a:t>
            </a:r>
            <a:endParaRPr lang="fr-FR" dirty="0"/>
          </a:p>
          <a:p>
            <a:endParaRPr lang="fr-FR" sz="2800" dirty="0" smtClean="0"/>
          </a:p>
          <a:p>
            <a:r>
              <a:rPr lang="fr-FR" sz="3300" dirty="0" smtClean="0"/>
              <a:t>La Réponse : Définir </a:t>
            </a:r>
            <a:r>
              <a:rPr lang="fr-FR" sz="3300" dirty="0"/>
              <a:t>un système adapté</a:t>
            </a:r>
          </a:p>
          <a:p>
            <a:pPr marL="813816" lvl="1" indent="-457200"/>
            <a:r>
              <a:rPr lang="fr-FR" dirty="0"/>
              <a:t>Simple,</a:t>
            </a:r>
          </a:p>
          <a:p>
            <a:pPr marL="813816" lvl="1" indent="-457200"/>
            <a:r>
              <a:rPr lang="fr-FR" dirty="0"/>
              <a:t>Robuste,</a:t>
            </a:r>
          </a:p>
          <a:p>
            <a:pPr marL="813816" lvl="1" indent="-457200"/>
            <a:r>
              <a:rPr lang="fr-FR" dirty="0"/>
              <a:t>Distribué,</a:t>
            </a:r>
          </a:p>
          <a:p>
            <a:pPr marL="813816" lvl="1" indent="-457200"/>
            <a:r>
              <a:rPr lang="fr-FR" dirty="0"/>
              <a:t>Tolérant aux fautes,</a:t>
            </a:r>
          </a:p>
          <a:p>
            <a:pPr marL="813816" lvl="1" indent="-457200"/>
            <a:r>
              <a:rPr lang="fr-FR" dirty="0"/>
              <a:t>Passant à </a:t>
            </a:r>
            <a:r>
              <a:rPr lang="fr-FR" dirty="0" smtClean="0"/>
              <a:t>l’échelle.</a:t>
            </a:r>
            <a:endParaRPr lang="fr-FR" dirty="0"/>
          </a:p>
          <a:p>
            <a:endParaRPr lang="fr-FR" sz="2800" dirty="0" smtClean="0"/>
          </a:p>
        </p:txBody>
      </p:sp>
      <p:sp>
        <p:nvSpPr>
          <p:cNvPr id="5" name="ZoneTexte 4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b="1" dirty="0" smtClean="0"/>
              <a:t>Introduction</a:t>
            </a:r>
            <a:endParaRPr lang="fr-FR" sz="1100" b="1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3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Introduction</a:t>
            </a:r>
            <a:endParaRPr lang="fr-FR" sz="4000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10" name="Image 9" descr="clip_image002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679769" y="4750589"/>
            <a:ext cx="1727200" cy="1231900"/>
          </a:xfrm>
          <a:prstGeom prst="rect">
            <a:avLst/>
          </a:prstGeom>
        </p:spPr>
      </p:pic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8963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330325" y="1056214"/>
            <a:ext cx="7499350" cy="5528049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Principes</a:t>
            </a:r>
          </a:p>
          <a:p>
            <a:pPr marL="870966" lvl="1" indent="-514350"/>
            <a:r>
              <a:rPr lang="fr-FR" sz="2400" dirty="0" smtClean="0"/>
              <a:t>Haute disponibilité,</a:t>
            </a:r>
          </a:p>
          <a:p>
            <a:pPr marL="870966" lvl="1" indent="-514350"/>
            <a:r>
              <a:rPr lang="fr-FR" sz="2400" dirty="0" smtClean="0"/>
              <a:t>Forte volumétrie,</a:t>
            </a:r>
          </a:p>
          <a:p>
            <a:pPr marL="870966" lvl="1" indent="-514350"/>
            <a:r>
              <a:rPr lang="fr-FR" sz="2400" dirty="0" smtClean="0"/>
              <a:t>Partitionnement des données,</a:t>
            </a:r>
          </a:p>
          <a:p>
            <a:pPr marL="870966" lvl="1" indent="-514350"/>
            <a:r>
              <a:rPr lang="fr-FR" sz="2400" dirty="0" smtClean="0"/>
              <a:t>Abandon du principe ACID</a:t>
            </a:r>
            <a:r>
              <a:rPr lang="fr-FR" sz="2400" baseline="30000" dirty="0" smtClean="0"/>
              <a:t>*</a:t>
            </a:r>
            <a:r>
              <a:rPr lang="fr-FR" sz="2400" dirty="0" smtClean="0"/>
              <a:t>,</a:t>
            </a:r>
            <a:endParaRPr lang="fr-FR" sz="2400" baseline="30000" dirty="0" smtClean="0"/>
          </a:p>
          <a:p>
            <a:pPr marL="870966" lvl="1" indent="-514350"/>
            <a:r>
              <a:rPr lang="fr-FR" sz="2400" dirty="0" smtClean="0"/>
              <a:t>Consistance à terme,</a:t>
            </a:r>
          </a:p>
          <a:p>
            <a:pPr marL="870966" lvl="1" indent="-514350"/>
            <a:r>
              <a:rPr lang="fr-FR" sz="2400" dirty="0" smtClean="0"/>
              <a:t>Peu ou pas de structure, ni de langage de requête.</a:t>
            </a:r>
          </a:p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Modèles</a:t>
            </a:r>
          </a:p>
          <a:p>
            <a:pPr marL="699516" lvl="1" indent="-342900"/>
            <a:r>
              <a:rPr lang="fr-FR" sz="2400" dirty="0" smtClean="0"/>
              <a:t>Clé-Valeur,</a:t>
            </a:r>
          </a:p>
          <a:p>
            <a:pPr marL="699516" lvl="1" indent="-342900"/>
            <a:r>
              <a:rPr lang="fr-FR" sz="2400" dirty="0" smtClean="0"/>
              <a:t>Orienté colonne,</a:t>
            </a:r>
          </a:p>
          <a:p>
            <a:pPr marL="699516" lvl="1" indent="-342900"/>
            <a:r>
              <a:rPr lang="fr-FR" sz="2400" dirty="0" smtClean="0"/>
              <a:t>Document,</a:t>
            </a:r>
          </a:p>
          <a:p>
            <a:pPr marL="699516" lvl="1" indent="-342900"/>
            <a:r>
              <a:rPr lang="fr-FR" sz="2400" dirty="0" smtClean="0"/>
              <a:t>Orienté Graphe.</a:t>
            </a:r>
          </a:p>
          <a:p>
            <a:pPr marL="699516" lvl="1" indent="-342900"/>
            <a:endParaRPr lang="fr-FR" sz="2400" dirty="0" smtClean="0"/>
          </a:p>
          <a:p>
            <a:pPr marL="699516" lvl="1" indent="-342900"/>
            <a:endParaRPr lang="fr-FR" sz="2400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4</a:t>
            </a:fld>
            <a:endParaRPr lang="en-GB" sz="1600" b="1" dirty="0"/>
          </a:p>
        </p:txBody>
      </p:sp>
      <p:sp>
        <p:nvSpPr>
          <p:cNvPr id="11" name="Titre 3"/>
          <p:cNvSpPr txBox="1">
            <a:spLocks/>
          </p:cNvSpPr>
          <p:nvPr/>
        </p:nvSpPr>
        <p:spPr>
          <a:xfrm>
            <a:off x="1089025" y="284991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 No SQL</a:t>
            </a:r>
            <a:endParaRPr lang="fr-FR" sz="4000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480" y="511621"/>
            <a:ext cx="1676195" cy="892363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-53957" y="84520"/>
            <a:ext cx="120852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b="1" dirty="0" err="1" smtClean="0"/>
              <a:t>NoSQL</a:t>
            </a:r>
            <a:endParaRPr lang="fr-FR" sz="1100" b="1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7398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vertical 2"/>
          <p:cNvSpPr txBox="1">
            <a:spLocks/>
          </p:cNvSpPr>
          <p:nvPr/>
        </p:nvSpPr>
        <p:spPr>
          <a:xfrm>
            <a:off x="1404620" y="1102106"/>
            <a:ext cx="6214943" cy="5994642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 err="1" smtClean="0"/>
              <a:t>Clé:Valeur</a:t>
            </a:r>
            <a:endParaRPr lang="fr-FR" sz="2800" b="1" dirty="0" smtClean="0"/>
          </a:p>
          <a:p>
            <a:pPr lvl="1"/>
            <a:r>
              <a:rPr lang="fr-FR" sz="2400" b="1" dirty="0" err="1" smtClean="0"/>
              <a:t>SimleDB</a:t>
            </a:r>
            <a:r>
              <a:rPr lang="fr-FR" sz="2400" b="1" dirty="0" smtClean="0"/>
              <a:t> / DYNAMO (AMAZON),</a:t>
            </a:r>
          </a:p>
          <a:p>
            <a:pPr lvl="2"/>
            <a:r>
              <a:rPr lang="fr-FR" sz="2000" b="1" dirty="0" smtClean="0"/>
              <a:t>RIAK (Mozilla),</a:t>
            </a:r>
          </a:p>
          <a:p>
            <a:pPr lvl="2"/>
            <a:r>
              <a:rPr lang="fr-FR" sz="2000" b="1" dirty="0" err="1" smtClean="0"/>
              <a:t>Voldemort</a:t>
            </a:r>
            <a:r>
              <a:rPr lang="fr-FR" sz="2000" b="1" dirty="0" smtClean="0"/>
              <a:t> (</a:t>
            </a:r>
            <a:r>
              <a:rPr lang="fr-FR" sz="2000" b="1" dirty="0" err="1" smtClean="0"/>
              <a:t>LinkedIn</a:t>
            </a:r>
            <a:r>
              <a:rPr lang="fr-FR" sz="2000" b="1" dirty="0" smtClean="0"/>
              <a:t>),</a:t>
            </a:r>
          </a:p>
          <a:p>
            <a:pPr lvl="1"/>
            <a:r>
              <a:rPr lang="fr-FR" sz="2400" b="1" dirty="0" smtClean="0"/>
              <a:t>REDIS (The Guardian, </a:t>
            </a:r>
            <a:r>
              <a:rPr lang="fr-FR" sz="2400" b="1" dirty="0" err="1" smtClean="0"/>
              <a:t>GitHub</a:t>
            </a:r>
            <a:r>
              <a:rPr lang="fr-FR" sz="2400" b="1" dirty="0" smtClean="0"/>
              <a:t>,  </a:t>
            </a:r>
            <a:r>
              <a:rPr lang="fr-FR" sz="2400" b="1" dirty="0" err="1" smtClean="0"/>
              <a:t>Stackoverflow</a:t>
            </a:r>
            <a:r>
              <a:rPr lang="fr-FR" sz="2400" b="1" dirty="0" smtClean="0"/>
              <a:t>,  </a:t>
            </a:r>
            <a:r>
              <a:rPr lang="fr-FR" sz="2400" b="1" dirty="0" err="1" smtClean="0"/>
              <a:t>Craiglist</a:t>
            </a:r>
            <a:r>
              <a:rPr lang="fr-FR" sz="2400" b="1" dirty="0" smtClean="0"/>
              <a:t>…),</a:t>
            </a:r>
          </a:p>
          <a:p>
            <a:pPr lvl="1"/>
            <a:r>
              <a:rPr lang="fr-FR" sz="2400" b="1" dirty="0" smtClean="0"/>
              <a:t>TOKYO Cabinet,</a:t>
            </a:r>
          </a:p>
          <a:p>
            <a:pPr lvl="1"/>
            <a:r>
              <a:rPr lang="fr-FR" sz="2400" b="1" dirty="0" smtClean="0"/>
              <a:t>MEMCACHED (Live Journal),</a:t>
            </a:r>
          </a:p>
          <a:p>
            <a:pPr lvl="1"/>
            <a:r>
              <a:rPr lang="fr-FR" sz="2400" b="1" dirty="0" smtClean="0"/>
              <a:t>FOUNDATIONDB.</a:t>
            </a:r>
            <a:endParaRPr lang="fr-FR" sz="2400" b="1" dirty="0"/>
          </a:p>
          <a:p>
            <a:r>
              <a:rPr lang="fr-FR" sz="2800" b="1" dirty="0" smtClean="0"/>
              <a:t>Document</a:t>
            </a:r>
          </a:p>
          <a:p>
            <a:pPr lvl="1"/>
            <a:r>
              <a:rPr lang="fr-FR" sz="2400" b="1" dirty="0" err="1" smtClean="0"/>
              <a:t>MongoDB</a:t>
            </a:r>
            <a:r>
              <a:rPr lang="fr-FR" sz="2400" b="1" dirty="0" smtClean="0"/>
              <a:t> (SAP,  Canal+, eBay,  MTV,  Source Forge…),</a:t>
            </a:r>
          </a:p>
          <a:p>
            <a:pPr lvl="1"/>
            <a:r>
              <a:rPr lang="fr-FR" sz="2400" b="1" dirty="0" err="1" smtClean="0"/>
              <a:t>CouchDB</a:t>
            </a:r>
            <a:r>
              <a:rPr lang="fr-FR" sz="2400" b="1" dirty="0" smtClean="0"/>
              <a:t> (Apache </a:t>
            </a:r>
            <a:r>
              <a:rPr lang="fr-FR" sz="2400" b="1" dirty="0" err="1" smtClean="0"/>
              <a:t>Foundation</a:t>
            </a:r>
            <a:r>
              <a:rPr lang="fr-FR" sz="2400" b="1" dirty="0" smtClean="0"/>
              <a:t>),</a:t>
            </a:r>
          </a:p>
          <a:p>
            <a:pPr lvl="1"/>
            <a:r>
              <a:rPr lang="fr-FR" sz="2400" b="1" dirty="0" err="1" smtClean="0"/>
              <a:t>CouchBase</a:t>
            </a:r>
            <a:r>
              <a:rPr lang="fr-FR" sz="2400" b="1" dirty="0" smtClean="0"/>
              <a:t> (Amadeus,  AOL,  CISCO,  ZYNGA…),</a:t>
            </a:r>
          </a:p>
          <a:p>
            <a:pPr lvl="1"/>
            <a:r>
              <a:rPr lang="fr-FR" sz="2400" b="1" dirty="0" err="1" smtClean="0"/>
              <a:t>HypexDex</a:t>
            </a:r>
            <a:r>
              <a:rPr lang="fr-FR" sz="2400" b="1" dirty="0" smtClean="0"/>
              <a:t>,</a:t>
            </a:r>
          </a:p>
          <a:p>
            <a:pPr lvl="1"/>
            <a:r>
              <a:rPr lang="fr-FR" sz="2400" b="1" dirty="0" err="1" smtClean="0"/>
              <a:t>RethinkDB</a:t>
            </a:r>
            <a:r>
              <a:rPr lang="fr-FR" sz="2400" b="1" dirty="0"/>
              <a:t>.</a:t>
            </a:r>
            <a:endParaRPr lang="fr-FR" sz="2400" b="1" dirty="0" smtClean="0"/>
          </a:p>
          <a:p>
            <a:r>
              <a:rPr lang="fr-FR" sz="2800" b="1" dirty="0" smtClean="0"/>
              <a:t>Colonne</a:t>
            </a:r>
          </a:p>
          <a:p>
            <a:pPr marL="699516" lvl="1" indent="-342900"/>
            <a:r>
              <a:rPr lang="fr-FR" sz="2400" b="1" dirty="0" err="1" smtClean="0"/>
              <a:t>BigTable</a:t>
            </a:r>
            <a:r>
              <a:rPr lang="fr-FR" sz="2400" b="1" dirty="0" smtClean="0"/>
              <a:t> (GOOGLE)</a:t>
            </a:r>
          </a:p>
          <a:p>
            <a:pPr marL="946404" lvl="2" indent="-342900"/>
            <a:r>
              <a:rPr lang="fr-FR" sz="2000" b="1" dirty="0" smtClean="0"/>
              <a:t>Cassandra (Facebook, DIGG),</a:t>
            </a:r>
          </a:p>
          <a:p>
            <a:pPr marL="946404" lvl="2" indent="-342900"/>
            <a:r>
              <a:rPr lang="fr-FR" sz="2000" b="1" dirty="0" err="1" smtClean="0"/>
              <a:t>Hadoop</a:t>
            </a:r>
            <a:r>
              <a:rPr lang="fr-FR" sz="2000" b="1" dirty="0" smtClean="0"/>
              <a:t>/</a:t>
            </a:r>
            <a:r>
              <a:rPr lang="fr-FR" sz="2000" b="1" dirty="0" err="1" smtClean="0"/>
              <a:t>Hbase</a:t>
            </a:r>
            <a:r>
              <a:rPr lang="fr-FR" sz="2000" b="1" dirty="0" smtClean="0"/>
              <a:t> (Facebook),</a:t>
            </a:r>
          </a:p>
          <a:p>
            <a:pPr marL="946404" lvl="2" indent="-342900"/>
            <a:r>
              <a:rPr lang="fr-FR" sz="2000" b="1" dirty="0" err="1" smtClean="0"/>
              <a:t>Hypertable</a:t>
            </a:r>
            <a:r>
              <a:rPr lang="fr-FR" sz="2000" b="1" dirty="0" smtClean="0"/>
              <a:t>,</a:t>
            </a:r>
          </a:p>
          <a:p>
            <a:pPr marL="699516" lvl="1" indent="-342900"/>
            <a:r>
              <a:rPr lang="fr-FR" sz="2400" b="1" dirty="0" err="1" smtClean="0"/>
              <a:t>Accumulo</a:t>
            </a:r>
            <a:r>
              <a:rPr lang="fr-FR" sz="2400" b="1" dirty="0" smtClean="0"/>
              <a:t> (NSA).</a:t>
            </a:r>
          </a:p>
          <a:p>
            <a:r>
              <a:rPr lang="fr-FR" sz="2700" b="1" dirty="0"/>
              <a:t>Graphe</a:t>
            </a:r>
          </a:p>
          <a:p>
            <a:pPr marL="699516" lvl="1" indent="-342900"/>
            <a:r>
              <a:rPr lang="fr-FR" sz="2400" b="1" dirty="0" smtClean="0"/>
              <a:t>Neo4J (VIADEO,  CISCO,  ADOBE,  Lufthansa…),</a:t>
            </a:r>
            <a:endParaRPr lang="fr-FR" sz="2400" b="1" dirty="0"/>
          </a:p>
          <a:p>
            <a:pPr marL="699516" lvl="1" indent="-342900"/>
            <a:r>
              <a:rPr lang="fr-FR" sz="2400" b="1" dirty="0" smtClean="0"/>
              <a:t>Allegro,</a:t>
            </a:r>
            <a:endParaRPr lang="fr-FR" sz="2400" b="1" dirty="0"/>
          </a:p>
          <a:p>
            <a:pPr marL="699516" lvl="1" indent="-342900"/>
            <a:r>
              <a:rPr lang="fr-FR" sz="2400" b="1" dirty="0" err="1" smtClean="0"/>
              <a:t>Virtuoso</a:t>
            </a:r>
            <a:r>
              <a:rPr lang="fr-FR" sz="2400" b="1" dirty="0" smtClean="0"/>
              <a:t>,</a:t>
            </a:r>
            <a:endParaRPr lang="fr-FR" sz="2400" b="1" dirty="0"/>
          </a:p>
          <a:p>
            <a:pPr marL="699516" lvl="1" indent="-342900"/>
            <a:r>
              <a:rPr lang="fr-FR" sz="2400" b="1" dirty="0" err="1" smtClean="0"/>
              <a:t>Infogrid</a:t>
            </a:r>
            <a:r>
              <a:rPr lang="fr-FR" sz="2400" b="1" dirty="0" smtClean="0"/>
              <a:t>.</a:t>
            </a:r>
            <a:endParaRPr lang="fr-FR" sz="24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5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84991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Les propositions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629" y="1586837"/>
            <a:ext cx="1054337" cy="210867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975" y="3257981"/>
            <a:ext cx="542154" cy="162646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959" y="980776"/>
            <a:ext cx="528344" cy="181618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137" y="1042548"/>
            <a:ext cx="488626" cy="157621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866" y="1147567"/>
            <a:ext cx="271835" cy="271835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463" y="1873527"/>
            <a:ext cx="1263889" cy="221181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1849" y="2253418"/>
            <a:ext cx="698130" cy="310668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990" y="2367995"/>
            <a:ext cx="1072042" cy="350395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0629" y="2139954"/>
            <a:ext cx="973393" cy="247773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6360" y="1556452"/>
            <a:ext cx="733619" cy="18340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1952" y="1199774"/>
            <a:ext cx="461842" cy="169342"/>
          </a:xfrm>
          <a:prstGeom prst="rect">
            <a:avLst/>
          </a:prstGeom>
        </p:spPr>
      </p:pic>
      <p:pic>
        <p:nvPicPr>
          <p:cNvPr id="45" name="Image 44" descr="Capture d’écran 2014-01-18 à 17.15.18.png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499895" y="928086"/>
            <a:ext cx="281764" cy="267497"/>
          </a:xfrm>
          <a:prstGeom prst="rect">
            <a:avLst/>
          </a:prstGeom>
        </p:spPr>
      </p:pic>
      <p:pic>
        <p:nvPicPr>
          <p:cNvPr id="46" name="Image 45" descr="Capture d’écran 2014-01-18 à 17.11.13.png"/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660270" y="1216724"/>
            <a:ext cx="1109646" cy="168266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3675" y="2881165"/>
            <a:ext cx="539431" cy="157334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686" y="2932118"/>
            <a:ext cx="283886" cy="319372"/>
          </a:xfrm>
          <a:prstGeom prst="rect">
            <a:avLst/>
          </a:prstGeom>
        </p:spPr>
      </p:pic>
      <p:pic>
        <p:nvPicPr>
          <p:cNvPr id="49" name="Image 48" descr="Capture d’écran 2014-01-18 à 17.25.19.pn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446357" y="2759067"/>
            <a:ext cx="543003" cy="271501"/>
          </a:xfrm>
          <a:prstGeom prst="rect">
            <a:avLst/>
          </a:prstGeom>
        </p:spPr>
      </p:pic>
      <p:pic>
        <p:nvPicPr>
          <p:cNvPr id="50" name="Image 49" descr="Capture d’écran 2014-01-18 à 17.26.23.png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803360" y="3024388"/>
            <a:ext cx="654014" cy="173513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218" y="3352459"/>
            <a:ext cx="497235" cy="188639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0266" y="2564086"/>
            <a:ext cx="600725" cy="153126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80124" y="3367125"/>
            <a:ext cx="371857" cy="193366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979" y="2868746"/>
            <a:ext cx="889000" cy="146050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3053" y="5353309"/>
            <a:ext cx="677482" cy="186121"/>
          </a:xfrm>
          <a:prstGeom prst="rect">
            <a:avLst/>
          </a:prstGeom>
        </p:spPr>
      </p:pic>
      <p:pic>
        <p:nvPicPr>
          <p:cNvPr id="56" name="Image 55" descr="Capture d’écran 2014-01-18 à 17.38.44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117414" y="5545529"/>
            <a:ext cx="433517" cy="231490"/>
          </a:xfrm>
          <a:prstGeom prst="rect">
            <a:avLst/>
          </a:prstGeom>
        </p:spPr>
      </p:pic>
      <p:pic>
        <p:nvPicPr>
          <p:cNvPr id="57" name="Image 56" descr="Capture d’écran 2014-01-18 à 17.29.40.png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267064" y="2858251"/>
            <a:ext cx="611746" cy="126133"/>
          </a:xfrm>
          <a:prstGeom prst="rect">
            <a:avLst/>
          </a:prstGeom>
        </p:spPr>
      </p:pic>
      <p:pic>
        <p:nvPicPr>
          <p:cNvPr id="58" name="Image 5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39447" y="4718723"/>
            <a:ext cx="704328" cy="249717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13112" y="4215738"/>
            <a:ext cx="418470" cy="303505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18320" y="4387635"/>
            <a:ext cx="451285" cy="300857"/>
          </a:xfrm>
          <a:prstGeom prst="rect">
            <a:avLst/>
          </a:prstGeom>
        </p:spPr>
      </p:pic>
      <p:pic>
        <p:nvPicPr>
          <p:cNvPr id="62" name="Image 61" descr="Capture d’écran 2014-01-18 à 17.00.04.png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7530732" y="4702704"/>
            <a:ext cx="451658" cy="325787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31626" y="4286453"/>
            <a:ext cx="198094" cy="198094"/>
          </a:xfrm>
          <a:prstGeom prst="rect">
            <a:avLst/>
          </a:prstGeom>
        </p:spPr>
      </p:pic>
      <p:pic>
        <p:nvPicPr>
          <p:cNvPr id="64" name="Image 6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59607" y="4432928"/>
            <a:ext cx="986999" cy="242955"/>
          </a:xfrm>
          <a:prstGeom prst="rect">
            <a:avLst/>
          </a:prstGeom>
        </p:spPr>
      </p:pic>
      <p:pic>
        <p:nvPicPr>
          <p:cNvPr id="65" name="Image 6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61119" y="4768336"/>
            <a:ext cx="463769" cy="463769"/>
          </a:xfrm>
          <a:prstGeom prst="rect">
            <a:avLst/>
          </a:prstGeom>
        </p:spPr>
      </p:pic>
      <p:pic>
        <p:nvPicPr>
          <p:cNvPr id="66" name="Image 65" descr="accumulo-logo.png"/>
          <p:cNvPicPr>
            <a:picLocks noChangeAspect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6412855" y="5381420"/>
            <a:ext cx="600047" cy="153346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103851" y="4690545"/>
            <a:ext cx="701303" cy="262990"/>
          </a:xfrm>
          <a:prstGeom prst="rect">
            <a:avLst/>
          </a:prstGeom>
        </p:spPr>
      </p:pic>
      <p:sp>
        <p:nvSpPr>
          <p:cNvPr id="74" name="ZoneTexte 73"/>
          <p:cNvSpPr txBox="1"/>
          <p:nvPr/>
        </p:nvSpPr>
        <p:spPr>
          <a:xfrm>
            <a:off x="-53958" y="84520"/>
            <a:ext cx="12153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b="1" dirty="0"/>
              <a:t>P</a:t>
            </a:r>
            <a:r>
              <a:rPr lang="fr-FR" sz="1100" b="1" dirty="0" smtClean="0"/>
              <a:t>ropositions</a:t>
            </a:r>
            <a:endParaRPr lang="fr-FR" sz="1100" b="1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5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68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83458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4410" y="1178456"/>
            <a:ext cx="8266372" cy="5315798"/>
          </a:xfrm>
        </p:spPr>
        <p:txBody>
          <a:bodyPr>
            <a:normAutofit/>
          </a:bodyPr>
          <a:lstStyle/>
          <a:p>
            <a:r>
              <a:rPr lang="fr-FR" sz="2800" dirty="0" smtClean="0"/>
              <a:t>Un Sponsor :</a:t>
            </a:r>
          </a:p>
          <a:p>
            <a:endParaRPr lang="fr-FR" sz="2800" dirty="0"/>
          </a:p>
          <a:p>
            <a:r>
              <a:rPr lang="fr-FR" sz="2800" dirty="0" smtClean="0"/>
              <a:t>Des besoins</a:t>
            </a:r>
            <a:endParaRPr lang="fr-FR" sz="2400" dirty="0" smtClean="0"/>
          </a:p>
          <a:p>
            <a:pPr lvl="1"/>
            <a:r>
              <a:rPr lang="fr-FR" sz="2400" dirty="0" smtClean="0"/>
              <a:t>Applicatifs : statistiques du réseau, consultation de profil, contacts potentiels…,</a:t>
            </a:r>
          </a:p>
          <a:p>
            <a:pPr lvl="1"/>
            <a:r>
              <a:rPr lang="fr-FR" sz="2400" dirty="0" smtClean="0"/>
              <a:t>Certaines données traitées en batch,</a:t>
            </a:r>
          </a:p>
          <a:p>
            <a:pPr lvl="1"/>
            <a:r>
              <a:rPr lang="fr-FR" sz="2400" dirty="0" smtClean="0"/>
              <a:t>Augmentation quantité de données (</a:t>
            </a:r>
            <a:r>
              <a:rPr lang="fr-FR" sz="2400" dirty="0" err="1" smtClean="0"/>
              <a:t>scalabilité</a:t>
            </a:r>
            <a:r>
              <a:rPr lang="fr-FR" sz="2400" dirty="0" smtClean="0"/>
              <a:t> horizontale),</a:t>
            </a:r>
          </a:p>
          <a:p>
            <a:pPr lvl="1"/>
            <a:r>
              <a:rPr lang="fr-FR" sz="2400" dirty="0" smtClean="0"/>
              <a:t>Partitionnement des données,</a:t>
            </a:r>
          </a:p>
          <a:p>
            <a:pPr lvl="1"/>
            <a:r>
              <a:rPr lang="fr-FR" sz="2400" dirty="0" smtClean="0"/>
              <a:t>Haute disponibilité et longévité,</a:t>
            </a:r>
          </a:p>
          <a:p>
            <a:pPr lvl="1"/>
            <a:r>
              <a:rPr lang="fr-FR" sz="2400" dirty="0" smtClean="0"/>
              <a:t>Performant et robuste,</a:t>
            </a:r>
          </a:p>
          <a:p>
            <a:pPr lvl="1"/>
            <a:r>
              <a:rPr lang="fr-FR" sz="2400" dirty="0" smtClean="0"/>
              <a:t>Une API simple aux performances prévisibles.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 idx="4294967295"/>
          </p:nvPr>
        </p:nvSpPr>
        <p:spPr>
          <a:xfrm>
            <a:off x="1089025" y="284991"/>
            <a:ext cx="7499350" cy="830997"/>
          </a:xfrm>
        </p:spPr>
        <p:txBody>
          <a:bodyPr>
            <a:normAutofit/>
          </a:bodyPr>
          <a:lstStyle/>
          <a:p>
            <a:r>
              <a:rPr lang="fr-FR" sz="4000" dirty="0" smtClean="0"/>
              <a:t>Les Origines de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6</a:t>
            </a:fld>
            <a:endParaRPr lang="en-GB" sz="16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144" y="1267019"/>
            <a:ext cx="1676400" cy="406400"/>
          </a:xfrm>
          <a:prstGeom prst="rect">
            <a:avLst/>
          </a:prstGeom>
        </p:spPr>
      </p:pic>
      <p:pic>
        <p:nvPicPr>
          <p:cNvPr id="8" name="Image 7" descr="voldemort_logo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b="1" dirty="0" smtClean="0"/>
              <a:t>Origines</a:t>
            </a:r>
            <a:endParaRPr lang="fr-FR" sz="1100" b="1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58385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18531" y="1173696"/>
            <a:ext cx="7557845" cy="5251148"/>
          </a:xfrm>
        </p:spPr>
        <p:txBody>
          <a:bodyPr>
            <a:normAutofit fontScale="92500" lnSpcReduction="10000"/>
          </a:bodyPr>
          <a:lstStyle/>
          <a:p>
            <a:r>
              <a:rPr lang="fr-FR" sz="3000" dirty="0" smtClean="0"/>
              <a:t>AMAZON </a:t>
            </a:r>
            <a:r>
              <a:rPr lang="fr-FR" sz="3000" dirty="0" err="1" smtClean="0"/>
              <a:t>SimpleDB</a:t>
            </a:r>
            <a:r>
              <a:rPr lang="fr-FR" sz="3000" dirty="0" smtClean="0"/>
              <a:t> </a:t>
            </a:r>
            <a:r>
              <a:rPr lang="fr-FR" sz="3000" dirty="0" smtClean="0">
                <a:sym typeface="Wingdings"/>
              </a:rPr>
              <a:t></a:t>
            </a:r>
            <a:r>
              <a:rPr lang="fr-FR" sz="3000" dirty="0" smtClean="0"/>
              <a:t> DYNAMO</a:t>
            </a:r>
            <a:endParaRPr lang="fr-FR" sz="2400" dirty="0" smtClean="0"/>
          </a:p>
          <a:p>
            <a:pPr lvl="1"/>
            <a:r>
              <a:rPr lang="fr-FR" sz="2600" dirty="0" smtClean="0"/>
              <a:t>Un Modèle Clé-Valeur,</a:t>
            </a:r>
          </a:p>
          <a:p>
            <a:pPr lvl="1"/>
            <a:r>
              <a:rPr lang="fr-FR" sz="2600" dirty="0" smtClean="0"/>
              <a:t>Un système à haute disponibilité et passant à l’échelle,</a:t>
            </a:r>
          </a:p>
          <a:p>
            <a:pPr lvl="1"/>
            <a:r>
              <a:rPr lang="fr-FR" sz="2600" dirty="0" smtClean="0"/>
              <a:t>Un réseau de nœuds, </a:t>
            </a:r>
          </a:p>
          <a:p>
            <a:pPr lvl="1"/>
            <a:r>
              <a:rPr lang="fr-FR" sz="2600" dirty="0"/>
              <a:t>Réplication des </a:t>
            </a:r>
            <a:r>
              <a:rPr lang="fr-FR" sz="2600" dirty="0" smtClean="0"/>
              <a:t>données,</a:t>
            </a:r>
            <a:endParaRPr lang="fr-FR" sz="2600" dirty="0"/>
          </a:p>
          <a:p>
            <a:pPr lvl="1"/>
            <a:r>
              <a:rPr lang="fr-FR" sz="2600" dirty="0" smtClean="0"/>
              <a:t>Consistant à terme,</a:t>
            </a:r>
          </a:p>
          <a:p>
            <a:pPr lvl="1"/>
            <a:r>
              <a:rPr lang="fr-FR" sz="2600" dirty="0" smtClean="0"/>
              <a:t>Aisé à mettre en œuvre.</a:t>
            </a:r>
          </a:p>
          <a:p>
            <a:pPr lvl="1"/>
            <a:endParaRPr lang="fr-FR" sz="2400" dirty="0"/>
          </a:p>
          <a:p>
            <a:r>
              <a:rPr lang="fr-FR" sz="3000" dirty="0" smtClean="0"/>
              <a:t>Une solution libre </a:t>
            </a:r>
            <a:r>
              <a:rPr lang="fr-FR" sz="3000" dirty="0" smtClean="0">
                <a:sym typeface="Wingdings"/>
              </a:rPr>
              <a:t> Le projet VOLDEMORT</a:t>
            </a:r>
          </a:p>
          <a:p>
            <a:pPr lvl="1"/>
            <a:r>
              <a:rPr lang="fr-FR" sz="2600" dirty="0" smtClean="0"/>
              <a:t>Données </a:t>
            </a:r>
            <a:r>
              <a:rPr lang="fr-FR" sz="2600" dirty="0" err="1" smtClean="0"/>
              <a:t>versionnées</a:t>
            </a:r>
            <a:r>
              <a:rPr lang="fr-FR" sz="2600" dirty="0" smtClean="0"/>
              <a:t>,</a:t>
            </a:r>
            <a:endParaRPr lang="fr-FR" sz="2600" dirty="0"/>
          </a:p>
          <a:p>
            <a:pPr lvl="1"/>
            <a:r>
              <a:rPr lang="fr-FR" sz="2600" dirty="0" smtClean="0"/>
              <a:t>Supports de données variés (Java BDB, </a:t>
            </a:r>
            <a:r>
              <a:rPr lang="fr-FR" sz="2600" dirty="0" err="1" smtClean="0"/>
              <a:t>mysql</a:t>
            </a:r>
            <a:r>
              <a:rPr lang="fr-FR" sz="2600" dirty="0" smtClean="0"/>
              <a:t>, </a:t>
            </a:r>
            <a:r>
              <a:rPr lang="fr-FR" sz="2600" dirty="0" err="1" smtClean="0"/>
              <a:t>inmemory</a:t>
            </a:r>
            <a:r>
              <a:rPr lang="fr-FR" sz="2600" dirty="0" smtClean="0"/>
              <a:t>, </a:t>
            </a:r>
            <a:r>
              <a:rPr lang="fr-FR" sz="2600" dirty="0" err="1" smtClean="0"/>
              <a:t>readonly</a:t>
            </a:r>
            <a:r>
              <a:rPr lang="fr-FR" sz="2600" dirty="0" smtClean="0"/>
              <a:t>).</a:t>
            </a:r>
            <a:endParaRPr lang="fr-FR" sz="2600" dirty="0"/>
          </a:p>
        </p:txBody>
      </p:sp>
      <p:sp>
        <p:nvSpPr>
          <p:cNvPr id="4" name="Titre 3"/>
          <p:cNvSpPr>
            <a:spLocks noGrp="1"/>
          </p:cNvSpPr>
          <p:nvPr>
            <p:ph type="title" idx="4294967295"/>
          </p:nvPr>
        </p:nvSpPr>
        <p:spPr>
          <a:xfrm>
            <a:off x="1089025" y="284991"/>
            <a:ext cx="7499350" cy="830997"/>
          </a:xfrm>
        </p:spPr>
        <p:txBody>
          <a:bodyPr>
            <a:normAutofit/>
          </a:bodyPr>
          <a:lstStyle/>
          <a:p>
            <a:r>
              <a:rPr lang="fr-FR" sz="4000" dirty="0" smtClean="0"/>
              <a:t>Les Origines de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7</a:t>
            </a:fld>
            <a:endParaRPr lang="en-GB" sz="1600" b="1" dirty="0"/>
          </a:p>
        </p:txBody>
      </p:sp>
      <p:pic>
        <p:nvPicPr>
          <p:cNvPr id="7" name="Image 6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88744"/>
            <a:ext cx="671416" cy="619195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-53958" y="84520"/>
            <a:ext cx="11949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b="1" dirty="0" smtClean="0"/>
              <a:t>Origines</a:t>
            </a:r>
            <a:endParaRPr lang="fr-FR" sz="1100" b="1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40820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8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Le Projet </a:t>
            </a:r>
            <a:r>
              <a:rPr lang="fr-FR" sz="4000" dirty="0" err="1" smtClean="0"/>
              <a:t>Voldemort</a:t>
            </a:r>
            <a:endParaRPr lang="fr-FR" sz="4000" dirty="0"/>
          </a:p>
        </p:txBody>
      </p:sp>
      <p:pic>
        <p:nvPicPr>
          <p:cNvPr id="8" name="Image 7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415" y="1922484"/>
            <a:ext cx="4692318" cy="3059392"/>
          </a:xfrm>
          <a:prstGeom prst="rect">
            <a:avLst/>
          </a:prstGeom>
        </p:spPr>
      </p:pic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19548" y="1201724"/>
            <a:ext cx="3987515" cy="5591616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fr-FR" sz="2800" dirty="0" smtClean="0"/>
              <a:t>Principes</a:t>
            </a:r>
          </a:p>
          <a:p>
            <a:pPr marL="699516" lvl="1" indent="-342900"/>
            <a:r>
              <a:rPr lang="fr-FR" sz="2400" dirty="0" smtClean="0"/>
              <a:t>Architecture en couches,</a:t>
            </a:r>
          </a:p>
          <a:p>
            <a:pPr marL="699516" lvl="1" indent="-342900"/>
            <a:r>
              <a:rPr lang="fr-FR" sz="2400" dirty="0" smtClean="0"/>
              <a:t>Interface unique,</a:t>
            </a:r>
          </a:p>
          <a:p>
            <a:pPr marL="699516" lvl="1" indent="-342900"/>
            <a:r>
              <a:rPr lang="fr-FR" sz="2400" dirty="0" smtClean="0"/>
              <a:t>4 opérations,</a:t>
            </a:r>
          </a:p>
          <a:p>
            <a:pPr marL="946404" lvl="2" indent="-342900"/>
            <a:r>
              <a:rPr lang="fr-FR" sz="2000" dirty="0" smtClean="0"/>
              <a:t>Put, </a:t>
            </a:r>
            <a:r>
              <a:rPr lang="fr-FR" sz="2000" dirty="0" err="1" smtClean="0"/>
              <a:t>get</a:t>
            </a:r>
            <a:r>
              <a:rPr lang="fr-FR" sz="2000" dirty="0" smtClean="0"/>
              <a:t>, </a:t>
            </a:r>
            <a:r>
              <a:rPr lang="fr-FR" sz="2000" dirty="0" err="1" smtClean="0"/>
              <a:t>getall</a:t>
            </a:r>
            <a:r>
              <a:rPr lang="fr-FR" sz="2000" dirty="0" smtClean="0"/>
              <a:t>, </a:t>
            </a:r>
            <a:r>
              <a:rPr lang="fr-FR" sz="2000" dirty="0" err="1" smtClean="0"/>
              <a:t>delete</a:t>
            </a:r>
            <a:r>
              <a:rPr lang="fr-FR" sz="2000" dirty="0" smtClean="0"/>
              <a:t>,</a:t>
            </a:r>
          </a:p>
          <a:p>
            <a:pPr marL="699516" lvl="1" indent="-342900"/>
            <a:r>
              <a:rPr lang="fr-FR" sz="2400" dirty="0" smtClean="0"/>
              <a:t>Données organisées en stores,</a:t>
            </a:r>
          </a:p>
          <a:p>
            <a:pPr marL="699516" lvl="1" indent="-342900"/>
            <a:r>
              <a:rPr lang="fr-FR" sz="2400" dirty="0" smtClean="0"/>
              <a:t>Unicité des clés dans les stores,</a:t>
            </a:r>
          </a:p>
          <a:p>
            <a:pPr marL="699516" lvl="1" indent="-342900"/>
            <a:r>
              <a:rPr lang="fr-FR" sz="2400" dirty="0" smtClean="0"/>
              <a:t>Facile à tester,</a:t>
            </a:r>
          </a:p>
          <a:p>
            <a:pPr marL="699516" lvl="1" indent="-342900"/>
            <a:r>
              <a:rPr lang="fr-FR" sz="2400" dirty="0" smtClean="0"/>
              <a:t>Une API JAVA riche,</a:t>
            </a:r>
          </a:p>
          <a:p>
            <a:pPr marL="946404" lvl="2" indent="-342900"/>
            <a:r>
              <a:rPr lang="fr-FR" sz="2000" dirty="0" smtClean="0"/>
              <a:t>Gestion des versions, </a:t>
            </a:r>
            <a:r>
              <a:rPr lang="fr-FR" sz="2000" dirty="0" err="1" smtClean="0"/>
              <a:t>rebalancing</a:t>
            </a:r>
            <a:r>
              <a:rPr lang="fr-FR" sz="2000" dirty="0" smtClean="0"/>
              <a:t>…</a:t>
            </a:r>
          </a:p>
          <a:p>
            <a:pPr marL="356616" lvl="1" indent="0">
              <a:buNone/>
            </a:pPr>
            <a:endParaRPr lang="fr-FR" sz="2000" dirty="0" smtClean="0"/>
          </a:p>
          <a:p>
            <a:pPr marL="356616" lvl="1" indent="0">
              <a:buNone/>
            </a:pPr>
            <a:endParaRPr lang="fr-FR" sz="2000" dirty="0"/>
          </a:p>
        </p:txBody>
      </p:sp>
      <p:sp>
        <p:nvSpPr>
          <p:cNvPr id="18" name="ZoneTexte 17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65393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458" y="3236238"/>
            <a:ext cx="2837329" cy="1897615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9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2" name="Image 1" descr="Capture d’écran 2014-01-14 à 22.05.48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5725481" y="1527108"/>
            <a:ext cx="3418519" cy="1724071"/>
          </a:xfrm>
          <a:prstGeom prst="rect">
            <a:avLst/>
          </a:prstGeom>
        </p:spPr>
      </p:pic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261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049" y="5177915"/>
            <a:ext cx="2920849" cy="675409"/>
          </a:xfrm>
          <a:prstGeom prst="rect">
            <a:avLst/>
          </a:prstGeom>
        </p:spPr>
      </p:pic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  <p:sp>
        <p:nvSpPr>
          <p:cNvPr id="19" name="Espace réservé du texte vertical 2"/>
          <p:cNvSpPr txBox="1">
            <a:spLocks/>
          </p:cNvSpPr>
          <p:nvPr/>
        </p:nvSpPr>
        <p:spPr>
          <a:xfrm>
            <a:off x="1020786" y="1155104"/>
            <a:ext cx="4820456" cy="5554085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indent="-514350">
              <a:buFont typeface="+mj-lt"/>
              <a:buAutoNum type="arabicPeriod" startAt="2"/>
            </a:pPr>
            <a:r>
              <a:rPr lang="fr-FR" sz="2800" dirty="0" smtClean="0"/>
              <a:t>La distribution : Consistent </a:t>
            </a:r>
            <a:r>
              <a:rPr lang="fr-FR" sz="2800" dirty="0" err="1" smtClean="0"/>
              <a:t>Hashing</a:t>
            </a:r>
            <a:endParaRPr lang="fr-FR" sz="2800" dirty="0" smtClean="0"/>
          </a:p>
          <a:p>
            <a:pPr marL="82296" indent="0">
              <a:buFont typeface="Wingdings 2"/>
              <a:buNone/>
            </a:pPr>
            <a:endParaRPr lang="fr-FR" sz="1700" dirty="0" smtClean="0"/>
          </a:p>
          <a:p>
            <a:r>
              <a:rPr lang="fr-FR" sz="2400" dirty="0" smtClean="0"/>
              <a:t>Anneau représentant les clés,</a:t>
            </a:r>
          </a:p>
          <a:p>
            <a:r>
              <a:rPr lang="fr-FR" sz="2400" dirty="0" smtClean="0"/>
              <a:t>Division de l’anneau en partitions,</a:t>
            </a:r>
          </a:p>
          <a:p>
            <a:r>
              <a:rPr lang="fr-FR" sz="2400" dirty="0" smtClean="0"/>
              <a:t>Une clé appartient à une partition,</a:t>
            </a:r>
          </a:p>
          <a:p>
            <a:r>
              <a:rPr lang="fr-FR" sz="2400" dirty="0" smtClean="0"/>
              <a:t>Assigner des partitions à des nœuds,</a:t>
            </a:r>
          </a:p>
          <a:p>
            <a:r>
              <a:rPr lang="fr-FR" sz="2400" dirty="0" smtClean="0"/>
              <a:t>Un nœud gère plusieurs partitions.</a:t>
            </a:r>
          </a:p>
          <a:p>
            <a:pPr marL="82296" indent="0">
              <a:buFont typeface="Wingdings 2"/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4958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0104" y="1257033"/>
            <a:ext cx="7878232" cy="5807075"/>
          </a:xfrm>
        </p:spPr>
        <p:txBody>
          <a:bodyPr>
            <a:normAutofit fontScale="92500" lnSpcReduction="20000"/>
          </a:bodyPr>
          <a:lstStyle/>
          <a:p>
            <a:pPr marL="596646" indent="-514350">
              <a:buFont typeface="+mj-lt"/>
              <a:buAutoNum type="arabicPeriod" startAt="3"/>
            </a:pPr>
            <a:r>
              <a:rPr lang="fr-FR" sz="3000" dirty="0" smtClean="0"/>
              <a:t>La consistance à terme</a:t>
            </a:r>
          </a:p>
          <a:p>
            <a:pPr marL="82296" indent="0">
              <a:buNone/>
            </a:pPr>
            <a:endParaRPr lang="fr-FR" sz="2800" dirty="0" smtClean="0"/>
          </a:p>
          <a:p>
            <a:r>
              <a:rPr lang="fr-FR" sz="2800" dirty="0" smtClean="0"/>
              <a:t>Réseau de (N) nœuds,</a:t>
            </a:r>
            <a:endParaRPr lang="fr-FR" sz="2800" dirty="0"/>
          </a:p>
          <a:p>
            <a:r>
              <a:rPr lang="fr-FR" sz="2800" dirty="0" smtClean="0"/>
              <a:t>Facteur de réplication ajustable (W),</a:t>
            </a:r>
          </a:p>
          <a:p>
            <a:r>
              <a:rPr lang="fr-FR" sz="2800" dirty="0"/>
              <a:t>Réplicas placés sur </a:t>
            </a:r>
            <a:r>
              <a:rPr lang="fr-FR" sz="2800" dirty="0" smtClean="0"/>
              <a:t>W-</a:t>
            </a:r>
            <a:r>
              <a:rPr lang="fr-FR" sz="2800" dirty="0"/>
              <a:t>1 autres </a:t>
            </a:r>
            <a:r>
              <a:rPr lang="fr-FR" sz="2800" dirty="0" smtClean="0"/>
              <a:t>nœuds,</a:t>
            </a:r>
            <a:endParaRPr lang="fr-FR" sz="2800" dirty="0"/>
          </a:p>
          <a:p>
            <a:pPr lvl="1"/>
            <a:r>
              <a:rPr lang="fr-FR" sz="2400" dirty="0" smtClean="0"/>
              <a:t>Si W=3 une clé de P est écrite dans </a:t>
            </a:r>
            <a:r>
              <a:rPr lang="fr-FR" sz="2800" dirty="0" smtClean="0"/>
              <a:t>P-1, P et </a:t>
            </a:r>
            <a:r>
              <a:rPr lang="fr-FR" sz="2800" dirty="0"/>
              <a:t>P+</a:t>
            </a:r>
            <a:r>
              <a:rPr lang="fr-FR" sz="2800" dirty="0" smtClean="0"/>
              <a:t>1,</a:t>
            </a:r>
          </a:p>
          <a:p>
            <a:pPr lvl="1"/>
            <a:r>
              <a:rPr lang="fr-FR" sz="2400" dirty="0" smtClean="0"/>
              <a:t>Ecriture valide si (W) réplications,</a:t>
            </a:r>
          </a:p>
          <a:p>
            <a:r>
              <a:rPr lang="fr-FR" sz="2800" dirty="0" smtClean="0"/>
              <a:t>Facteur de lecture ajustable (R),</a:t>
            </a:r>
          </a:p>
          <a:p>
            <a:pPr lvl="1"/>
            <a:r>
              <a:rPr lang="fr-FR" sz="2400" dirty="0" smtClean="0"/>
              <a:t>Lecture consistante si lue sur (R) nœuds,</a:t>
            </a:r>
          </a:p>
          <a:p>
            <a:endParaRPr lang="fr-FR" sz="2800" dirty="0"/>
          </a:p>
          <a:p>
            <a:r>
              <a:rPr lang="fr-FR" sz="2800" dirty="0" smtClean="0"/>
              <a:t>Modèle considéré comme consistant si</a:t>
            </a:r>
          </a:p>
          <a:p>
            <a:pPr lvl="1"/>
            <a:r>
              <a:rPr lang="fr-FR" sz="2400" dirty="0" smtClean="0"/>
              <a:t>W+R&gt;N,</a:t>
            </a:r>
          </a:p>
          <a:p>
            <a:pPr marL="402336" lvl="1" indent="0">
              <a:buNone/>
            </a:pPr>
            <a:r>
              <a:rPr lang="fr-FR" sz="2400" dirty="0" smtClean="0"/>
              <a:t>Alors une lecture après une écriture retourne la dernière valeur écrite.</a:t>
            </a:r>
          </a:p>
          <a:p>
            <a:pPr marL="82296" indent="0">
              <a:buNone/>
            </a:pPr>
            <a:r>
              <a:rPr lang="fr-FR" sz="2800" dirty="0" smtClean="0"/>
              <a:t> </a:t>
            </a:r>
          </a:p>
          <a:p>
            <a:pPr marL="82296" indent="0">
              <a:buNone/>
            </a:pPr>
            <a:endParaRPr lang="fr-FR" sz="1700" dirty="0" smtClean="0"/>
          </a:p>
          <a:p>
            <a:pPr marL="82296" indent="0">
              <a:buNone/>
            </a:pPr>
            <a:endParaRPr lang="fr-FR" sz="1700" dirty="0"/>
          </a:p>
          <a:p>
            <a:pPr marL="82296" indent="0">
              <a:buNone/>
            </a:pPr>
            <a:endParaRPr lang="fr-FR" sz="1700" dirty="0" smtClean="0"/>
          </a:p>
          <a:p>
            <a:pPr marL="82296" indent="0">
              <a:buNone/>
            </a:pPr>
            <a:endParaRPr lang="fr-FR" sz="18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10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261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805" y="537393"/>
            <a:ext cx="2658982" cy="1700965"/>
          </a:xfrm>
          <a:prstGeom prst="rect">
            <a:avLst/>
          </a:prstGeom>
        </p:spPr>
      </p:pic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9562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25946" y="1201053"/>
            <a:ext cx="7804150" cy="5612840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 startAt="4"/>
            </a:pPr>
            <a:r>
              <a:rPr lang="fr-FR" sz="2800" dirty="0" smtClean="0"/>
              <a:t>Le </a:t>
            </a:r>
            <a:r>
              <a:rPr lang="fr-FR" sz="2800" dirty="0" err="1" smtClean="0"/>
              <a:t>versioning</a:t>
            </a:r>
            <a:r>
              <a:rPr lang="fr-FR" sz="2800" dirty="0" smtClean="0"/>
              <a:t> </a:t>
            </a:r>
            <a:r>
              <a:rPr lang="fr-FR" sz="2800" dirty="0" err="1" smtClean="0"/>
              <a:t>Vector</a:t>
            </a:r>
            <a:r>
              <a:rPr lang="fr-FR" sz="2800" dirty="0" smtClean="0"/>
              <a:t> </a:t>
            </a:r>
            <a:r>
              <a:rPr lang="fr-FR" sz="2800" dirty="0" err="1" smtClean="0"/>
              <a:t>Clocks</a:t>
            </a:r>
            <a:endParaRPr lang="fr-FR" sz="2800" dirty="0" smtClean="0"/>
          </a:p>
          <a:p>
            <a:pPr marL="82296" indent="0">
              <a:buNone/>
            </a:pPr>
            <a:endParaRPr lang="fr-FR" sz="1800" dirty="0" smtClean="0"/>
          </a:p>
          <a:p>
            <a:r>
              <a:rPr lang="fr-FR" sz="2400" dirty="0" smtClean="0"/>
              <a:t>Plusieurs versions de valeurs peuvent exister,</a:t>
            </a:r>
          </a:p>
          <a:p>
            <a:r>
              <a:rPr lang="fr-FR" sz="2400" dirty="0" smtClean="0"/>
              <a:t>Affecte une version à chaque couple clé/valeur,</a:t>
            </a:r>
          </a:p>
          <a:p>
            <a:r>
              <a:rPr lang="fr-FR" sz="2400" dirty="0" smtClean="0"/>
              <a:t>Permet de déterminer l’ordre des écritures concurrentes,</a:t>
            </a:r>
          </a:p>
          <a:p>
            <a:r>
              <a:rPr lang="fr-FR" sz="2400" dirty="0" smtClean="0"/>
              <a:t>Sauvegarde toutes les versions conflictuelles à l’écriture,</a:t>
            </a:r>
          </a:p>
          <a:p>
            <a:r>
              <a:rPr lang="fr-FR" sz="2400" dirty="0" smtClean="0"/>
              <a:t>Résolution des conflits à la lecture par le client,</a:t>
            </a:r>
          </a:p>
          <a:p>
            <a:pPr lvl="1"/>
            <a:r>
              <a:rPr lang="fr-FR" sz="2000" dirty="0" smtClean="0"/>
              <a:t>Read </a:t>
            </a:r>
            <a:r>
              <a:rPr lang="fr-FR" sz="2000" dirty="0" err="1" smtClean="0"/>
              <a:t>Repair</a:t>
            </a:r>
            <a:r>
              <a:rPr lang="fr-FR" sz="2000" dirty="0" smtClean="0"/>
              <a:t>,</a:t>
            </a:r>
            <a:endParaRPr lang="fr-FR" sz="2000" dirty="0"/>
          </a:p>
          <a:p>
            <a:pPr lvl="1"/>
            <a:r>
              <a:rPr lang="fr-FR" sz="2000" dirty="0" smtClean="0"/>
              <a:t>Identifie les versions incohérentes à la lecture,</a:t>
            </a:r>
          </a:p>
          <a:p>
            <a:pPr lvl="1"/>
            <a:endParaRPr lang="fr-FR" sz="1600" dirty="0"/>
          </a:p>
          <a:p>
            <a:r>
              <a:rPr lang="fr-FR" sz="2400" dirty="0" smtClean="0"/>
              <a:t>Pour répondre à la question:</a:t>
            </a:r>
          </a:p>
          <a:p>
            <a:pPr marL="82296" indent="0">
              <a:buNone/>
            </a:pPr>
            <a:r>
              <a:rPr lang="fr-FR" sz="2400" dirty="0" smtClean="0"/>
              <a:t>Donnée écrite sur 3 nœuds, 1 nœud échoue et revient.</a:t>
            </a:r>
          </a:p>
          <a:p>
            <a:pPr marL="82296" indent="0">
              <a:buNone/>
            </a:pPr>
            <a:r>
              <a:rPr lang="fr-FR" sz="2400" dirty="0" smtClean="0"/>
              <a:t>Quel nœud dispose de la bonne valeur 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11</a:t>
            </a:fld>
            <a:endParaRPr lang="en-GB" sz="1600" b="1" dirty="0"/>
          </a:p>
        </p:txBody>
      </p:sp>
      <p:sp>
        <p:nvSpPr>
          <p:cNvPr id="10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1" name="Image 10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428580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12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21" name="Document 20"/>
          <p:cNvSpPr/>
          <p:nvPr/>
        </p:nvSpPr>
        <p:spPr>
          <a:xfrm>
            <a:off x="6367450" y="2433399"/>
            <a:ext cx="2605533" cy="2182863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 smtClean="0">
                <a:solidFill>
                  <a:srgbClr val="FF0000"/>
                </a:solidFill>
              </a:rPr>
              <a:t>=2</a:t>
            </a:r>
            <a:endParaRPr lang="fr-FR" sz="1200" b="1" dirty="0">
              <a:solidFill>
                <a:srgbClr val="FF0000"/>
              </a:solidFill>
            </a:endParaRP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 useBgFill="1">
        <p:nvSpPr>
          <p:cNvPr id="18" name="Document 17"/>
          <p:cNvSpPr/>
          <p:nvPr/>
        </p:nvSpPr>
        <p:spPr>
          <a:xfrm>
            <a:off x="6161182" y="2818386"/>
            <a:ext cx="2605533" cy="2151838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 smtClean="0">
                <a:solidFill>
                  <a:srgbClr val="FF0000"/>
                </a:solidFill>
              </a:rPr>
              <a:t>=1</a:t>
            </a:r>
            <a:endParaRPr lang="fr-FR" sz="1200" b="1" dirty="0">
              <a:solidFill>
                <a:srgbClr val="FF0000"/>
              </a:solidFill>
            </a:endParaRP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 useBgFill="1">
        <p:nvSpPr>
          <p:cNvPr id="20" name="Document 19"/>
          <p:cNvSpPr/>
          <p:nvPr/>
        </p:nvSpPr>
        <p:spPr>
          <a:xfrm>
            <a:off x="5974194" y="3200716"/>
            <a:ext cx="2605533" cy="2152966"/>
          </a:xfrm>
          <a:prstGeom prst="flowChartDocumen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200" dirty="0">
                <a:solidFill>
                  <a:schemeClr val="tx1"/>
                </a:solidFill>
              </a:rPr>
              <a:t># </a:t>
            </a:r>
            <a:r>
              <a:rPr lang="fr-FR" sz="1200" dirty="0" smtClean="0">
                <a:solidFill>
                  <a:schemeClr val="tx1"/>
                </a:solidFill>
              </a:rPr>
              <a:t>The </a:t>
            </a:r>
            <a:r>
              <a:rPr lang="fr-FR" sz="1200" dirty="0">
                <a:solidFill>
                  <a:schemeClr val="tx1"/>
                </a:solidFill>
              </a:rPr>
              <a:t>ID of </a:t>
            </a:r>
            <a:r>
              <a:rPr lang="fr-FR" sz="1200" dirty="0" err="1" smtClean="0">
                <a:solidFill>
                  <a:schemeClr val="tx1"/>
                </a:solidFill>
              </a:rPr>
              <a:t>this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particular</a:t>
            </a:r>
            <a:r>
              <a:rPr lang="fr-FR" sz="1200" dirty="0">
                <a:solidFill>
                  <a:schemeClr val="tx1"/>
                </a:solidFill>
              </a:rPr>
              <a:t> cluster </a:t>
            </a:r>
            <a:r>
              <a:rPr lang="fr-FR" sz="1200" dirty="0" err="1">
                <a:solidFill>
                  <a:schemeClr val="tx1"/>
                </a:solidFill>
              </a:rPr>
              <a:t>node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b="1" dirty="0" err="1">
                <a:solidFill>
                  <a:srgbClr val="FF0000"/>
                </a:solidFill>
              </a:rPr>
              <a:t>node.id</a:t>
            </a:r>
            <a:r>
              <a:rPr lang="fr-FR" sz="1200" b="1" dirty="0">
                <a:solidFill>
                  <a:srgbClr val="FF0000"/>
                </a:solidFill>
              </a:rPr>
              <a:t>=0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err="1">
                <a:solidFill>
                  <a:schemeClr val="tx1"/>
                </a:solidFill>
              </a:rPr>
              <a:t>max.threads</a:t>
            </a:r>
            <a:r>
              <a:rPr lang="fr-FR" sz="1200" dirty="0">
                <a:solidFill>
                  <a:schemeClr val="tx1"/>
                </a:solidFill>
              </a:rPr>
              <a:t>=100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enable.repair</a:t>
            </a:r>
            <a:r>
              <a:rPr lang="fr-FR" sz="1200" dirty="0">
                <a:solidFill>
                  <a:schemeClr val="tx1"/>
                </a:solidFill>
              </a:rPr>
              <a:t>=false</a:t>
            </a:r>
          </a:p>
          <a:p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### DB options 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r>
              <a:rPr lang="fr-FR" sz="1200" dirty="0">
                <a:solidFill>
                  <a:schemeClr val="tx1"/>
                </a:solidFill>
              </a:rPr>
              <a:t>##</a:t>
            </a:r>
            <a:r>
              <a:rPr lang="fr-FR" sz="1200" dirty="0" smtClean="0">
                <a:solidFill>
                  <a:schemeClr val="tx1"/>
                </a:solidFill>
              </a:rPr>
              <a:t>#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>
                <a:solidFill>
                  <a:schemeClr val="tx1"/>
                </a:solidFill>
              </a:rPr>
              <a:t># BDB</a:t>
            </a:r>
          </a:p>
          <a:p>
            <a:r>
              <a:rPr lang="fr-FR" sz="1200" dirty="0" err="1">
                <a:solidFill>
                  <a:schemeClr val="tx1"/>
                </a:solidFill>
              </a:rPr>
              <a:t>bdb.cache.size</a:t>
            </a:r>
            <a:r>
              <a:rPr lang="fr-FR" sz="1200" dirty="0">
                <a:solidFill>
                  <a:schemeClr val="tx1"/>
                </a:solidFill>
              </a:rPr>
              <a:t>=</a:t>
            </a:r>
            <a:r>
              <a:rPr lang="fr-FR" sz="1200" dirty="0" smtClean="0">
                <a:solidFill>
                  <a:schemeClr val="tx1"/>
                </a:solidFill>
              </a:rPr>
              <a:t>100MB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-51175" y="84520"/>
            <a:ext cx="1219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  <p:sp>
        <p:nvSpPr>
          <p:cNvPr id="14" name="Espace réservé du texte vertical 2"/>
          <p:cNvSpPr txBox="1">
            <a:spLocks/>
          </p:cNvSpPr>
          <p:nvPr/>
        </p:nvSpPr>
        <p:spPr>
          <a:xfrm>
            <a:off x="1030069" y="1162962"/>
            <a:ext cx="4451043" cy="55420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 smtClean="0"/>
              <a:t>Configuration</a:t>
            </a:r>
          </a:p>
          <a:p>
            <a:pPr marL="82296" indent="0">
              <a:buFont typeface="Wingdings 2"/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/>
              <a:t>Identification des </a:t>
            </a:r>
            <a:r>
              <a:rPr lang="fr-FR" sz="2400" dirty="0" smtClean="0"/>
              <a:t>nœuds </a:t>
            </a:r>
            <a:r>
              <a:rPr lang="fr-FR" sz="2400" dirty="0"/>
              <a:t>Serveur </a:t>
            </a:r>
          </a:p>
          <a:p>
            <a:pPr marL="889254" lvl="2" indent="-285750"/>
            <a:r>
              <a:rPr lang="fr-FR" sz="2000" dirty="0"/>
              <a:t>Fichiers : </a:t>
            </a:r>
            <a:r>
              <a:rPr lang="fr-FR" sz="2000" dirty="0" err="1"/>
              <a:t>server.properties</a:t>
            </a:r>
            <a:endParaRPr lang="fr-FR" sz="2000" dirty="0"/>
          </a:p>
          <a:p>
            <a:pPr marL="356616" lvl="1" indent="0">
              <a:buNone/>
            </a:pPr>
            <a:endParaRPr lang="fr-FR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87827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30069" y="1162961"/>
            <a:ext cx="4598527" cy="5414053"/>
          </a:xfrm>
        </p:spPr>
        <p:txBody>
          <a:bodyPr>
            <a:normAutofit/>
          </a:bodyPr>
          <a:lstStyle/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/>
              <a:t>Configuration</a:t>
            </a:r>
          </a:p>
          <a:p>
            <a:pPr marL="82296" indent="0"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Identification des Nœuds Serveur </a:t>
            </a:r>
          </a:p>
          <a:p>
            <a:pPr marL="889254" lvl="2" indent="-285750"/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</a:t>
            </a:r>
            <a:r>
              <a:rPr lang="fr-F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server.properties</a:t>
            </a: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42366" lvl="1" indent="-285750"/>
            <a:endParaRPr lang="fr-FR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13816" lvl="1" indent="-457200">
              <a:buFont typeface="+mj-lt"/>
              <a:buAutoNum type="alphaLcParenR" startAt="2"/>
            </a:pPr>
            <a:r>
              <a:rPr lang="fr-FR" sz="2400" dirty="0" smtClean="0"/>
              <a:t>Définition du cluster </a:t>
            </a:r>
            <a:endParaRPr lang="fr-FR" sz="2400" dirty="0"/>
          </a:p>
          <a:p>
            <a:pPr marL="946404" lvl="2" indent="-342900"/>
            <a:r>
              <a:rPr lang="fr-FR" sz="2000" dirty="0" smtClean="0"/>
              <a:t>Fichiers : cluster.xml</a:t>
            </a:r>
          </a:p>
          <a:p>
            <a:pPr marL="946404" lvl="2" indent="-342900"/>
            <a:endParaRPr lang="fr-FR" sz="2000" dirty="0"/>
          </a:p>
          <a:p>
            <a:pPr marL="603504" lvl="2" indent="0">
              <a:buNone/>
            </a:pPr>
            <a:endParaRPr lang="fr-FR" sz="20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13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2" name="Multidocument 1"/>
          <p:cNvSpPr/>
          <p:nvPr/>
        </p:nvSpPr>
        <p:spPr>
          <a:xfrm>
            <a:off x="5480802" y="1114421"/>
            <a:ext cx="3568925" cy="5496770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050" dirty="0"/>
              <a:t>&lt;cluster&gt;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&lt;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  <a:r>
              <a:rPr lang="fr-FR" sz="1050" dirty="0" err="1"/>
              <a:t>mycluster</a:t>
            </a:r>
            <a:r>
              <a:rPr lang="fr-FR" sz="1050" dirty="0"/>
              <a:t>&lt;/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id&gt;0&lt;/id&gt;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http-port&gt;8081&lt;/http-port&gt;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socket-port&gt;6666&lt;/socket-port&gt;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-port&gt;6667&lt;/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partitions&gt;0, 1&lt;/</a:t>
            </a:r>
            <a:r>
              <a:rPr lang="fr-FR" sz="1050" dirty="0" smtClean="0"/>
              <a:t>partitions&gt;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  &lt;/server&gt;</a:t>
            </a:r>
          </a:p>
          <a:p>
            <a:r>
              <a:rPr lang="fr-FR" sz="1050" dirty="0"/>
              <a:t> </a:t>
            </a:r>
            <a:r>
              <a:rPr lang="fr-FR" sz="1050" dirty="0" smtClean="0"/>
              <a:t>   &lt;server&gt;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id&gt;1&lt;/id&gt;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http-port&gt;8082&lt;/http-port&gt;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socket-port&gt;6668&lt;/socket-port&gt;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-port&gt;6669&lt;/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partitions&gt;2, 3&lt;/partitions&gt;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/server&gt;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server&gt;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id&gt;2&lt;/id&gt;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host&gt;</a:t>
            </a:r>
            <a:r>
              <a:rPr lang="fr-FR" sz="1050" dirty="0" err="1"/>
              <a:t>localhost</a:t>
            </a:r>
            <a:r>
              <a:rPr lang="fr-FR" sz="1050" dirty="0"/>
              <a:t>&lt;/host&gt;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http-port&gt;8083&lt;/http-port&gt;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socket-port&gt;6670&lt;/socket-port&gt;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 err="1"/>
              <a:t>admin</a:t>
            </a:r>
            <a:r>
              <a:rPr lang="fr-FR" sz="1050" dirty="0"/>
              <a:t>-port&gt;6671&lt;/</a:t>
            </a:r>
            <a:r>
              <a:rPr lang="fr-FR" sz="1050" dirty="0" err="1"/>
              <a:t>admin</a:t>
            </a:r>
            <a:r>
              <a:rPr lang="fr-FR" sz="1050" dirty="0"/>
              <a:t>-port&gt;</a:t>
            </a:r>
          </a:p>
          <a:p>
            <a:r>
              <a:rPr lang="fr-FR" sz="1050" dirty="0" smtClean="0"/>
              <a:t>      &lt;</a:t>
            </a:r>
            <a:r>
              <a:rPr lang="fr-FR" sz="1050" dirty="0"/>
              <a:t>partitions&gt;4, 5&lt;/partitions&gt;</a:t>
            </a:r>
          </a:p>
          <a:p>
            <a:r>
              <a:rPr lang="fr-FR" sz="1050" dirty="0" smtClean="0"/>
              <a:t>    &lt;</a:t>
            </a:r>
            <a:r>
              <a:rPr lang="fr-FR" sz="1050" dirty="0"/>
              <a:t>/server</a:t>
            </a:r>
            <a:r>
              <a:rPr lang="fr-FR" sz="1050" dirty="0" smtClean="0"/>
              <a:t>&gt;</a:t>
            </a:r>
            <a:endParaRPr lang="fr-FR" sz="1050" dirty="0"/>
          </a:p>
          <a:p>
            <a:r>
              <a:rPr lang="fr-FR" sz="1050" dirty="0"/>
              <a:t>&lt;/cluster&gt;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-51175" y="84520"/>
            <a:ext cx="119894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55616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14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Le Projet </a:t>
            </a:r>
            <a:r>
              <a:rPr lang="fr-FR" sz="4000" dirty="0" err="1"/>
              <a:t>Voldemort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 useBgFill="1">
        <p:nvSpPr>
          <p:cNvPr id="14" name="Multidocument 13"/>
          <p:cNvSpPr/>
          <p:nvPr/>
        </p:nvSpPr>
        <p:spPr>
          <a:xfrm>
            <a:off x="5480801" y="1639974"/>
            <a:ext cx="3568925" cy="4589857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050" dirty="0"/>
              <a:t>&lt;stores&gt;</a:t>
            </a:r>
          </a:p>
          <a:p>
            <a:r>
              <a:rPr lang="fr-FR" sz="1050" dirty="0"/>
              <a:t>  &lt;!-- Note </a:t>
            </a:r>
            <a:r>
              <a:rPr lang="fr-FR" sz="1050" dirty="0" err="1"/>
              <a:t>that</a:t>
            </a:r>
            <a:r>
              <a:rPr lang="fr-FR" sz="1050" dirty="0"/>
              <a:t> "test" store </a:t>
            </a:r>
            <a:r>
              <a:rPr lang="fr-FR" sz="1050" dirty="0" err="1"/>
              <a:t>requires</a:t>
            </a:r>
            <a:r>
              <a:rPr lang="fr-FR" sz="1050" dirty="0"/>
              <a:t> 2 </a:t>
            </a:r>
            <a:r>
              <a:rPr lang="fr-FR" sz="1050" dirty="0" err="1"/>
              <a:t>reads</a:t>
            </a:r>
            <a:r>
              <a:rPr lang="fr-FR" sz="1050" dirty="0"/>
              <a:t> and 2</a:t>
            </a:r>
            <a:r>
              <a:rPr lang="fr-FR" sz="1050" dirty="0" smtClean="0"/>
              <a:t> </a:t>
            </a:r>
            <a:r>
              <a:rPr lang="fr-FR" sz="1050" dirty="0" err="1"/>
              <a:t>writes</a:t>
            </a:r>
            <a:r>
              <a:rPr lang="fr-FR" sz="1050" dirty="0"/>
              <a:t>,</a:t>
            </a:r>
          </a:p>
          <a:p>
            <a:r>
              <a:rPr lang="fr-FR" sz="1050" dirty="0"/>
              <a:t>     </a:t>
            </a:r>
            <a:r>
              <a:rPr lang="fr-FR" sz="1050" dirty="0" err="1"/>
              <a:t>so</a:t>
            </a:r>
            <a:r>
              <a:rPr lang="fr-FR" sz="1050" dirty="0"/>
              <a:t> to use </a:t>
            </a:r>
            <a:r>
              <a:rPr lang="fr-FR" sz="1050" dirty="0" err="1"/>
              <a:t>this</a:t>
            </a:r>
            <a:r>
              <a:rPr lang="fr-FR" sz="1050" dirty="0"/>
              <a:t> store </a:t>
            </a:r>
            <a:r>
              <a:rPr lang="fr-FR" sz="1050" dirty="0" err="1"/>
              <a:t>you</a:t>
            </a:r>
            <a:r>
              <a:rPr lang="fr-FR" sz="1050" dirty="0"/>
              <a:t> must have </a:t>
            </a:r>
            <a:r>
              <a:rPr lang="fr-FR" sz="1050" dirty="0" err="1"/>
              <a:t>both</a:t>
            </a:r>
            <a:r>
              <a:rPr lang="fr-FR" sz="1050" dirty="0"/>
              <a:t> </a:t>
            </a:r>
            <a:r>
              <a:rPr lang="fr-FR" sz="1050" dirty="0" err="1"/>
              <a:t>nodes</a:t>
            </a:r>
            <a:r>
              <a:rPr lang="fr-FR" sz="1050" dirty="0"/>
              <a:t> </a:t>
            </a:r>
            <a:r>
              <a:rPr lang="fr-FR" sz="1050" dirty="0" err="1"/>
              <a:t>started</a:t>
            </a:r>
            <a:r>
              <a:rPr lang="fr-FR" sz="1050" dirty="0"/>
              <a:t> and running --&gt;</a:t>
            </a:r>
          </a:p>
          <a:p>
            <a:r>
              <a:rPr lang="fr-FR" sz="1050" dirty="0"/>
              <a:t>  &lt;store&gt;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  <a:r>
              <a:rPr lang="fr-FR" sz="1050" b="1" dirty="0">
                <a:solidFill>
                  <a:srgbClr val="FF0000"/>
                </a:solidFill>
              </a:rPr>
              <a:t>test</a:t>
            </a:r>
            <a:r>
              <a:rPr lang="fr-FR" sz="1050" dirty="0"/>
              <a:t>&lt;/</a:t>
            </a:r>
            <a:r>
              <a:rPr lang="fr-FR" sz="1050" dirty="0" err="1"/>
              <a:t>name</a:t>
            </a:r>
            <a:r>
              <a:rPr lang="fr-FR" sz="1050" dirty="0"/>
              <a:t>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persistence</a:t>
            </a:r>
            <a:r>
              <a:rPr lang="fr-FR" sz="1050" dirty="0"/>
              <a:t>&gt;</a:t>
            </a:r>
            <a:r>
              <a:rPr lang="fr-FR" sz="1050" dirty="0" err="1"/>
              <a:t>bdb</a:t>
            </a:r>
            <a:r>
              <a:rPr lang="fr-FR" sz="1050" dirty="0"/>
              <a:t>&lt;/</a:t>
            </a:r>
            <a:r>
              <a:rPr lang="fr-FR" sz="1050" dirty="0" err="1"/>
              <a:t>persistence</a:t>
            </a:r>
            <a:r>
              <a:rPr lang="fr-FR" sz="1050" dirty="0"/>
              <a:t>&gt;</a:t>
            </a:r>
          </a:p>
          <a:p>
            <a:r>
              <a:rPr lang="fr-FR" sz="1050" dirty="0"/>
              <a:t>    &lt;</a:t>
            </a:r>
            <a:r>
              <a:rPr lang="fr-FR" sz="1050" dirty="0" err="1"/>
              <a:t>routing</a:t>
            </a:r>
            <a:r>
              <a:rPr lang="fr-FR" sz="1050" dirty="0"/>
              <a:t>&gt;client&lt;/</a:t>
            </a:r>
            <a:r>
              <a:rPr lang="fr-FR" sz="1050" dirty="0" err="1"/>
              <a:t>routing</a:t>
            </a:r>
            <a:r>
              <a:rPr lang="fr-FR" sz="1050" dirty="0" smtClean="0"/>
              <a:t>&gt;</a:t>
            </a:r>
          </a:p>
          <a:p>
            <a:endParaRPr lang="fr-FR" sz="1050" dirty="0"/>
          </a:p>
          <a:p>
            <a:r>
              <a:rPr lang="fr-FR" sz="1050" dirty="0"/>
              <a:t>   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replication</a:t>
            </a:r>
            <a:r>
              <a:rPr lang="fr-FR" sz="1050" b="1" dirty="0">
                <a:solidFill>
                  <a:srgbClr val="FF0000"/>
                </a:solidFill>
              </a:rPr>
              <a:t>-factor</a:t>
            </a:r>
            <a:r>
              <a:rPr lang="fr-FR" sz="1050" b="1" dirty="0" smtClean="0">
                <a:solidFill>
                  <a:srgbClr val="FF0000"/>
                </a:solidFill>
              </a:rPr>
              <a:t>&gt;3&lt;</a:t>
            </a:r>
            <a:r>
              <a:rPr lang="fr-FR" sz="1050" b="1" dirty="0">
                <a:solidFill>
                  <a:srgbClr val="FF0000"/>
                </a:solidFill>
              </a:rPr>
              <a:t>/</a:t>
            </a:r>
            <a:r>
              <a:rPr lang="fr-FR" sz="1050" b="1" dirty="0" err="1">
                <a:solidFill>
                  <a:srgbClr val="FF0000"/>
                </a:solidFill>
              </a:rPr>
              <a:t>replication</a:t>
            </a:r>
            <a:r>
              <a:rPr lang="fr-FR" sz="1050" b="1" dirty="0">
                <a:solidFill>
                  <a:srgbClr val="FF0000"/>
                </a:solidFill>
              </a:rPr>
              <a:t>-factor&gt;</a:t>
            </a:r>
          </a:p>
          <a:p>
            <a:endParaRPr lang="fr-FR" sz="1050" dirty="0" smtClean="0"/>
          </a:p>
          <a:p>
            <a:r>
              <a:rPr lang="fr-FR" sz="1050" dirty="0" smtClean="0"/>
              <a:t>   </a:t>
            </a:r>
            <a:r>
              <a:rPr lang="fr-FR" sz="1050" b="1" dirty="0" smtClean="0">
                <a:solidFill>
                  <a:srgbClr val="FF0000"/>
                </a:solidFill>
              </a:rPr>
              <a:t>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required-reads</a:t>
            </a:r>
            <a:r>
              <a:rPr lang="fr-FR" sz="1050" b="1" dirty="0">
                <a:solidFill>
                  <a:srgbClr val="FF0000"/>
                </a:solidFill>
              </a:rPr>
              <a:t>&gt;2&lt;/</a:t>
            </a:r>
            <a:r>
              <a:rPr lang="fr-FR" sz="1050" b="1" dirty="0" err="1">
                <a:solidFill>
                  <a:srgbClr val="FF0000"/>
                </a:solidFill>
              </a:rPr>
              <a:t>required-reads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</a:t>
            </a:r>
            <a:r>
              <a:rPr lang="fr-FR" sz="1050" b="1" dirty="0" err="1">
                <a:solidFill>
                  <a:srgbClr val="FF0000"/>
                </a:solidFill>
              </a:rPr>
              <a:t>required-writes</a:t>
            </a:r>
            <a:r>
              <a:rPr lang="fr-FR" sz="1050" b="1" dirty="0" smtClean="0">
                <a:solidFill>
                  <a:srgbClr val="FF0000"/>
                </a:solidFill>
              </a:rPr>
              <a:t>&gt;2&lt;</a:t>
            </a:r>
            <a:r>
              <a:rPr lang="fr-FR" sz="1050" b="1" dirty="0">
                <a:solidFill>
                  <a:srgbClr val="FF0000"/>
                </a:solidFill>
              </a:rPr>
              <a:t>/</a:t>
            </a:r>
            <a:r>
              <a:rPr lang="fr-FR" sz="1050" b="1" dirty="0" err="1">
                <a:solidFill>
                  <a:srgbClr val="FF0000"/>
                </a:solidFill>
              </a:rPr>
              <a:t>required-writes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dirty="0"/>
              <a:t>   </a:t>
            </a:r>
            <a:endParaRPr lang="fr-FR" sz="1050" dirty="0" smtClean="0"/>
          </a:p>
          <a:p>
            <a:r>
              <a:rPr lang="fr-FR" sz="1050" dirty="0"/>
              <a:t> </a:t>
            </a:r>
            <a:r>
              <a:rPr lang="fr-FR" sz="1050" dirty="0" smtClean="0"/>
              <a:t>  </a:t>
            </a:r>
            <a:r>
              <a:rPr lang="fr-FR" sz="1050" b="1" dirty="0" smtClean="0">
                <a:solidFill>
                  <a:srgbClr val="FF0000"/>
                </a:solidFill>
              </a:rPr>
              <a:t> </a:t>
            </a:r>
            <a:r>
              <a:rPr lang="fr-FR" sz="1050" b="1" dirty="0">
                <a:solidFill>
                  <a:srgbClr val="FF0000"/>
                </a:solidFill>
              </a:rPr>
              <a:t>&lt;</a:t>
            </a:r>
            <a:r>
              <a:rPr lang="fr-FR" sz="1050" b="1" dirty="0" err="1">
                <a:solidFill>
                  <a:srgbClr val="FF0000"/>
                </a:solidFill>
              </a:rPr>
              <a:t>key-serializer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  &lt;type&gt;string&lt;/type&gt;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&lt;/</a:t>
            </a:r>
            <a:r>
              <a:rPr lang="fr-FR" sz="1050" b="1" dirty="0" err="1">
                <a:solidFill>
                  <a:srgbClr val="FF0000"/>
                </a:solidFill>
              </a:rPr>
              <a:t>key-serializer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&lt;value-</a:t>
            </a:r>
            <a:r>
              <a:rPr lang="fr-FR" sz="1050" b="1" dirty="0" err="1">
                <a:solidFill>
                  <a:srgbClr val="FF0000"/>
                </a:solidFill>
              </a:rPr>
              <a:t>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  &lt;type&gt;string&lt;/type&gt;</a:t>
            </a:r>
          </a:p>
          <a:p>
            <a:r>
              <a:rPr lang="fr-FR" sz="1050" b="1" dirty="0">
                <a:solidFill>
                  <a:srgbClr val="FF0000"/>
                </a:solidFill>
              </a:rPr>
              <a:t>    &lt;/value-</a:t>
            </a:r>
            <a:r>
              <a:rPr lang="fr-FR" sz="1050" b="1" dirty="0" err="1">
                <a:solidFill>
                  <a:srgbClr val="FF0000"/>
                </a:solidFill>
              </a:rPr>
              <a:t>serializer</a:t>
            </a:r>
            <a:r>
              <a:rPr lang="fr-FR" sz="1050" b="1" dirty="0">
                <a:solidFill>
                  <a:srgbClr val="FF0000"/>
                </a:solidFill>
              </a:rPr>
              <a:t>&gt;</a:t>
            </a:r>
          </a:p>
          <a:p>
            <a:r>
              <a:rPr lang="fr-FR" sz="1050" dirty="0" smtClean="0"/>
              <a:t>&lt;</a:t>
            </a:r>
            <a:r>
              <a:rPr lang="fr-FR" sz="1050" dirty="0"/>
              <a:t>/store&gt;</a:t>
            </a:r>
          </a:p>
          <a:p>
            <a:r>
              <a:rPr lang="fr-FR" sz="1050" dirty="0"/>
              <a:t>&lt;/stores&gt;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-53578" y="84520"/>
            <a:ext cx="12013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b="1" dirty="0" err="1" smtClean="0"/>
              <a:t>Proj</a:t>
            </a:r>
            <a:r>
              <a:rPr lang="fr-FR" sz="1100" b="1" dirty="0" smtClean="0"/>
              <a:t>. </a:t>
            </a:r>
            <a:r>
              <a:rPr lang="fr-FR" sz="1100" b="1" dirty="0" err="1"/>
              <a:t>Voldemort</a:t>
            </a:r>
            <a:endParaRPr lang="fr-FR" sz="1100" b="1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12" name="Espace réservé du texte vertical 2"/>
          <p:cNvSpPr txBox="1">
            <a:spLocks/>
          </p:cNvSpPr>
          <p:nvPr/>
        </p:nvSpPr>
        <p:spPr>
          <a:xfrm>
            <a:off x="1030069" y="1162962"/>
            <a:ext cx="4451043" cy="55420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6646" lvl="1" indent="-514350">
              <a:spcBef>
                <a:spcPts val="600"/>
              </a:spcBef>
              <a:buSzPct val="80000"/>
              <a:buFont typeface="+mj-lt"/>
              <a:buAutoNum type="arabicPeriod" startAt="5"/>
            </a:pPr>
            <a:r>
              <a:rPr lang="fr-FR" dirty="0" smtClean="0"/>
              <a:t>Configuration</a:t>
            </a:r>
          </a:p>
          <a:p>
            <a:pPr marL="82296" indent="0">
              <a:buFont typeface="Wingdings 2"/>
              <a:buNone/>
            </a:pPr>
            <a:endParaRPr lang="fr-FR" sz="2400" dirty="0" smtClean="0"/>
          </a:p>
          <a:p>
            <a:pPr marL="813816" lvl="1" indent="-457200">
              <a:buFont typeface="+mj-lt"/>
              <a:buAutoNum type="alphaLcParenR"/>
            </a:pPr>
            <a:r>
              <a:rPr lang="fr-FR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Identification des Nœuds Serveur </a:t>
            </a:r>
          </a:p>
          <a:p>
            <a:pPr marL="889254" lvl="2" indent="-285750"/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</a:t>
            </a:r>
            <a:r>
              <a:rPr lang="fr-F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server.properties</a:t>
            </a: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42366" lvl="1" indent="-285750"/>
            <a:endParaRPr lang="fr-FR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13816" lvl="1" indent="-457200">
              <a:buFont typeface="+mj-lt"/>
              <a:buAutoNum type="alphaLcParenR" startAt="2"/>
            </a:pPr>
            <a:r>
              <a:rPr lang="fr-FR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Définition du cluster </a:t>
            </a:r>
          </a:p>
          <a:p>
            <a:pPr marL="946404" lvl="2" indent="-342900"/>
            <a:r>
              <a:rPr lang="fr-FR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Fichiers : cluster.xml</a:t>
            </a:r>
          </a:p>
          <a:p>
            <a:pPr marL="946404" lvl="2" indent="-342900"/>
            <a:endParaRPr lang="fr-FR" sz="2000" dirty="0" smtClean="0"/>
          </a:p>
          <a:p>
            <a:pPr marL="813816" lvl="1" indent="-457200">
              <a:buFont typeface="+mj-lt"/>
              <a:buAutoNum type="alphaLcParenR" startAt="3"/>
            </a:pPr>
            <a:r>
              <a:rPr lang="fr-FR" sz="2400" dirty="0" err="1" smtClean="0"/>
              <a:t>Datastore</a:t>
            </a:r>
            <a:endParaRPr lang="fr-FR" sz="2400" dirty="0" smtClean="0"/>
          </a:p>
          <a:p>
            <a:pPr marL="946404" lvl="2" indent="-342900"/>
            <a:r>
              <a:rPr lang="fr-FR" sz="2000" dirty="0" smtClean="0"/>
              <a:t>Fichiers : stores.xml</a:t>
            </a:r>
          </a:p>
          <a:p>
            <a:pPr marL="946404" lvl="2" indent="-342900"/>
            <a:endParaRPr lang="fr-FR" sz="2000" dirty="0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3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3620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030069" y="1205505"/>
            <a:ext cx="8048316" cy="5587835"/>
          </a:xfrm>
        </p:spPr>
        <p:txBody>
          <a:bodyPr>
            <a:normAutofit/>
          </a:bodyPr>
          <a:lstStyle/>
          <a:p>
            <a:pPr marL="82296" lvl="1" indent="0">
              <a:spcBef>
                <a:spcPts val="600"/>
              </a:spcBef>
              <a:buSzPct val="80000"/>
              <a:buNone/>
            </a:pPr>
            <a:r>
              <a:rPr lang="fr-FR" dirty="0" smtClean="0"/>
              <a:t>Scénario et constatations</a:t>
            </a:r>
          </a:p>
          <a:p>
            <a:pPr marL="82296" lvl="1" indent="0">
              <a:spcBef>
                <a:spcPts val="600"/>
              </a:spcBef>
              <a:buSzPct val="80000"/>
              <a:buNone/>
            </a:pPr>
            <a:endParaRPr lang="fr-FR" sz="1000" dirty="0" smtClean="0"/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/>
              <a:t>Lancement de 3 serveurs formant le cluster et d’un client,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/>
              <a:t>Recherche clé « macle » </a:t>
            </a:r>
            <a:r>
              <a:rPr lang="fr-FR" sz="2400" dirty="0" smtClean="0">
                <a:sym typeface="Wingdings"/>
              </a:rPr>
              <a:t> « NULL »,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Insertion clé « macle » et affichage </a:t>
            </a:r>
            <a:r>
              <a:rPr lang="fr-FR" sz="2400" dirty="0" err="1" smtClean="0">
                <a:sym typeface="Wingdings"/>
              </a:rPr>
              <a:t>preflist</a:t>
            </a:r>
            <a:r>
              <a:rPr lang="fr-FR" sz="2400" dirty="0" smtClean="0">
                <a:sym typeface="Wingdings"/>
              </a:rPr>
              <a:t>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Insertion autre clé, puis réinsertion même clé avec valeur différente  constater les versions,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Extinction d’un nœud et constatation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sur put,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Extinction d’un second nœud et constatation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Suppression données nœud 3 et relance nœud 2,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Constatations sur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put,</a:t>
            </a:r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r>
              <a:rPr lang="fr-FR" sz="2400" dirty="0" smtClean="0">
                <a:sym typeface="Wingdings"/>
              </a:rPr>
              <a:t>Relance nœud 3 et </a:t>
            </a:r>
            <a:r>
              <a:rPr lang="fr-FR" sz="2400" dirty="0">
                <a:sym typeface="Wingdings"/>
              </a:rPr>
              <a:t>« restore </a:t>
            </a:r>
            <a:r>
              <a:rPr lang="fr-FR" sz="2400" dirty="0" smtClean="0">
                <a:sym typeface="Wingdings"/>
              </a:rPr>
              <a:t>», constatation </a:t>
            </a:r>
            <a:r>
              <a:rPr lang="fr-FR" sz="2400" dirty="0" err="1" smtClean="0">
                <a:sym typeface="Wingdings"/>
              </a:rPr>
              <a:t>get</a:t>
            </a:r>
            <a:r>
              <a:rPr lang="fr-FR" sz="2400" dirty="0" smtClean="0">
                <a:sym typeface="Wingdings"/>
              </a:rPr>
              <a:t> et put.</a:t>
            </a:r>
            <a:endParaRPr lang="fr-FR" sz="2400" dirty="0" smtClean="0"/>
          </a:p>
          <a:p>
            <a:pPr marL="539496" lvl="1" indent="-457200">
              <a:spcBef>
                <a:spcPts val="600"/>
              </a:spcBef>
              <a:buSzPct val="80000"/>
              <a:buFont typeface="+mj-lt"/>
              <a:buAutoNum type="arabicPeriod"/>
            </a:pPr>
            <a:endParaRPr lang="fr-FR" sz="22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15</a:t>
            </a:fld>
            <a:endParaRPr lang="en-GB" sz="1600" b="1" dirty="0"/>
          </a:p>
        </p:txBody>
      </p:sp>
      <p:sp>
        <p:nvSpPr>
          <p:cNvPr id="8" name="Titre 3"/>
          <p:cNvSpPr txBox="1">
            <a:spLocks/>
          </p:cNvSpPr>
          <p:nvPr/>
        </p:nvSpPr>
        <p:spPr>
          <a:xfrm>
            <a:off x="1089025" y="283423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Mise en </a:t>
            </a:r>
            <a:r>
              <a:rPr lang="fr-FR" sz="4000" dirty="0" smtClean="0"/>
              <a:t>œuvre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-53464" y="84520"/>
            <a:ext cx="11944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b="1" dirty="0"/>
              <a:t>Mise en </a:t>
            </a:r>
            <a:r>
              <a:rPr lang="fr-FR" sz="1100" b="1" dirty="0" smtClean="0"/>
              <a:t>œuvre</a:t>
            </a:r>
            <a:endParaRPr lang="fr-FR" sz="1100" b="1" dirty="0"/>
          </a:p>
          <a:p>
            <a:r>
              <a:rPr lang="fr-FR" sz="1100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85822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1538941" y="1235960"/>
            <a:ext cx="7524846" cy="4772402"/>
          </a:xfrm>
        </p:spPr>
        <p:txBody>
          <a:bodyPr>
            <a:normAutofit/>
          </a:bodyPr>
          <a:lstStyle/>
          <a:p>
            <a:r>
              <a:rPr lang="fr-FR" sz="2800" dirty="0" smtClean="0"/>
              <a:t>Simple, Robuste, Performant,  API Java riche,</a:t>
            </a:r>
          </a:p>
          <a:p>
            <a:endParaRPr lang="fr-FR" sz="2800" dirty="0" smtClean="0"/>
          </a:p>
          <a:p>
            <a:r>
              <a:rPr lang="fr-FR" sz="2800" dirty="0" smtClean="0"/>
              <a:t>Utilisations de </a:t>
            </a:r>
            <a:r>
              <a:rPr lang="fr-FR" sz="2800" dirty="0" err="1" smtClean="0"/>
              <a:t>LinkedIn</a:t>
            </a:r>
            <a:r>
              <a:rPr lang="fr-FR" sz="2800" dirty="0" smtClean="0"/>
              <a:t> : </a:t>
            </a:r>
            <a:r>
              <a:rPr lang="fr-FR" sz="2800" dirty="0"/>
              <a:t>data </a:t>
            </a:r>
            <a:r>
              <a:rPr lang="fr-FR" sz="2800" dirty="0" err="1"/>
              <a:t>products</a:t>
            </a:r>
            <a:r>
              <a:rPr lang="fr-FR" sz="2800" dirty="0"/>
              <a:t>, page </a:t>
            </a:r>
            <a:r>
              <a:rPr lang="fr-FR" sz="2800" dirty="0" err="1"/>
              <a:t>view</a:t>
            </a:r>
            <a:r>
              <a:rPr lang="fr-FR" sz="2800" dirty="0"/>
              <a:t> </a:t>
            </a:r>
            <a:r>
              <a:rPr lang="fr-FR" sz="2800" dirty="0" err="1"/>
              <a:t>tracking</a:t>
            </a:r>
            <a:r>
              <a:rPr lang="fr-FR" sz="2800" dirty="0"/>
              <a:t>, </a:t>
            </a:r>
            <a:r>
              <a:rPr lang="fr-FR" sz="2800" dirty="0" err="1" smtClean="0"/>
              <a:t>security</a:t>
            </a:r>
            <a:r>
              <a:rPr lang="fr-FR" sz="2800" dirty="0"/>
              <a:t>, communication system, news, </a:t>
            </a:r>
            <a:r>
              <a:rPr lang="fr-FR" sz="2800" dirty="0" smtClean="0"/>
              <a:t>sharing</a:t>
            </a:r>
            <a:r>
              <a:rPr lang="fr-FR" sz="2800" dirty="0"/>
              <a:t> </a:t>
            </a:r>
            <a:r>
              <a:rPr lang="fr-FR" sz="2800" dirty="0" smtClean="0"/>
              <a:t>…</a:t>
            </a:r>
            <a:endParaRPr lang="fr-FR" sz="2800" dirty="0"/>
          </a:p>
          <a:p>
            <a:pPr marL="82296" indent="0">
              <a:buNone/>
            </a:pPr>
            <a:endParaRPr lang="fr-FR" sz="2800" dirty="0"/>
          </a:p>
          <a:p>
            <a:r>
              <a:rPr lang="fr-FR" sz="2800" dirty="0" smtClean="0"/>
              <a:t>Utilisation par d’autres entreprises : Gilt </a:t>
            </a:r>
            <a:r>
              <a:rPr lang="fr-FR" sz="2800" dirty="0"/>
              <a:t>Group, </a:t>
            </a:r>
            <a:r>
              <a:rPr lang="fr-FR" sz="2800" dirty="0" err="1"/>
              <a:t>EHarmony</a:t>
            </a:r>
            <a:r>
              <a:rPr lang="fr-FR" sz="2800" dirty="0"/>
              <a:t>, Nokia, </a:t>
            </a:r>
            <a:r>
              <a:rPr lang="fr-FR" sz="2800" dirty="0" err="1"/>
              <a:t>Jive</a:t>
            </a:r>
            <a:r>
              <a:rPr lang="fr-FR" sz="2800" dirty="0"/>
              <a:t> </a:t>
            </a:r>
            <a:r>
              <a:rPr lang="fr-FR" sz="2800" dirty="0" smtClean="0"/>
              <a:t>Software</a:t>
            </a:r>
            <a:r>
              <a:rPr lang="fr-FR" sz="2800" dirty="0"/>
              <a:t>, </a:t>
            </a:r>
            <a:r>
              <a:rPr lang="fr-FR" sz="2800" dirty="0" err="1"/>
              <a:t>WealthFront</a:t>
            </a:r>
            <a:r>
              <a:rPr lang="fr-FR" sz="2800" dirty="0"/>
              <a:t>, ...</a:t>
            </a:r>
          </a:p>
          <a:p>
            <a:endParaRPr lang="fr-FR" sz="2800" dirty="0" smtClean="0"/>
          </a:p>
          <a:p>
            <a:pPr marL="82296" indent="0">
              <a:buNone/>
            </a:pPr>
            <a:endParaRPr lang="fr-FR" sz="2800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16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68482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Conclusion</a:t>
            </a:r>
            <a:endParaRPr lang="fr-FR" sz="4000" dirty="0"/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-51555" y="84520"/>
            <a:ext cx="11333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b="1" dirty="0"/>
              <a:t>Conclusion</a:t>
            </a:r>
          </a:p>
          <a:p>
            <a:r>
              <a:rPr lang="fr-FR" sz="1100" dirty="0" smtClean="0"/>
              <a:t>Q / R</a:t>
            </a:r>
            <a:endParaRPr lang="fr-FR" sz="1100" dirty="0"/>
          </a:p>
        </p:txBody>
      </p:sp>
      <p:pic>
        <p:nvPicPr>
          <p:cNvPr id="12" name="Picture 2" descr="http://ts2.mm.bing.net/th?id=H.4850320666330189&amp;w=257&amp;h=118&amp;c=7&amp;rs=1&amp;pid=1.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1220" y="5443477"/>
            <a:ext cx="835983" cy="38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://static.eharmony.com/files/corp/images/ft/logo-white2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06533" y="5462617"/>
            <a:ext cx="1372704" cy="279745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4" name="Picture 6" descr="Description de l'image  Nokia Logo.svg.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1469" y="5443477"/>
            <a:ext cx="977566" cy="34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15091" y="5362830"/>
            <a:ext cx="806706" cy="448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36155" y="5406223"/>
            <a:ext cx="1133554" cy="36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9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28226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body" orient="vert" idx="4294967295"/>
          </p:nvPr>
        </p:nvSpPr>
        <p:spPr>
          <a:xfrm>
            <a:off x="2188316" y="1943480"/>
            <a:ext cx="4442315" cy="953081"/>
          </a:xfrm>
        </p:spPr>
        <p:txBody>
          <a:bodyPr/>
          <a:lstStyle/>
          <a:p>
            <a:r>
              <a:rPr lang="fr-FR" dirty="0" smtClean="0"/>
              <a:t>Questions / Réponses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62528" y="6304390"/>
            <a:ext cx="587375" cy="488950"/>
          </a:xfrm>
        </p:spPr>
        <p:txBody>
          <a:bodyPr/>
          <a:lstStyle/>
          <a:p>
            <a:fld id="{3BAEC554-C28F-8344-BFCD-263B055A3CF8}" type="slidenum">
              <a:rPr lang="en-GB" sz="1600" b="1"/>
              <a:pPr/>
              <a:t>17</a:t>
            </a:fld>
            <a:endParaRPr lang="en-GB" sz="1600" b="1" dirty="0"/>
          </a:p>
        </p:txBody>
      </p:sp>
      <p:sp>
        <p:nvSpPr>
          <p:cNvPr id="9" name="Titre 3"/>
          <p:cNvSpPr txBox="1">
            <a:spLocks/>
          </p:cNvSpPr>
          <p:nvPr/>
        </p:nvSpPr>
        <p:spPr>
          <a:xfrm>
            <a:off x="1089025" y="268482"/>
            <a:ext cx="7499350" cy="8309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smtClean="0"/>
              <a:t>Merci</a:t>
            </a:r>
            <a:endParaRPr lang="fr-FR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1201463" y="3722741"/>
            <a:ext cx="76484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Références principales</a:t>
            </a:r>
          </a:p>
          <a:p>
            <a:endParaRPr lang="fr-FR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http://blog.linkedin.com/2009/04/01/project-voldemort-part-ii-how-it-works/</a:t>
            </a:r>
            <a:r>
              <a:rPr lang="fr-FR" sz="1200" b="1" dirty="0" smtClean="0"/>
              <a:t>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Amazon </a:t>
            </a:r>
            <a:r>
              <a:rPr lang="fr-FR" sz="1200" b="1" dirty="0" smtClean="0"/>
              <a:t>article sur Dynamo : </a:t>
            </a:r>
            <a:r>
              <a:rPr lang="fr-FR" sz="1200" b="1" dirty="0"/>
              <a:t>http://s3.amazonaws.com/AllThingsDistributed/sosp/amazon-dynamo-sosp2007.</a:t>
            </a:r>
            <a:r>
              <a:rPr lang="fr-FR" sz="1200" b="1" dirty="0" smtClean="0"/>
              <a:t>pdf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</a:t>
            </a:r>
            <a:r>
              <a:rPr lang="fr-FR" sz="1200" b="1" dirty="0" err="1"/>
              <a:t>www.project-voldemort.com</a:t>
            </a:r>
            <a:r>
              <a:rPr lang="fr-FR" sz="1200" b="1" dirty="0"/>
              <a:t>/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http://www.allthingsdistributed.com/2007/12/</a:t>
            </a:r>
            <a:r>
              <a:rPr lang="fr-FR" sz="1200" b="1" dirty="0" smtClean="0"/>
              <a:t>eventually_consistent.html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http://blog.xebia.fr/2010/04/21/nosql-europe-tour-dhorizon-des-bases-de-donnees-nosql</a:t>
            </a:r>
            <a:r>
              <a:rPr lang="fr-FR" sz="1200" b="1" dirty="0" smtClean="0"/>
              <a:t>/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Panorama des bases de données NoSQL - </a:t>
            </a:r>
            <a:r>
              <a:rPr lang="fr-FR" sz="1200" b="1" dirty="0" smtClean="0"/>
              <a:t>  http</a:t>
            </a:r>
            <a:r>
              <a:rPr lang="fr-FR" sz="1200" b="1" dirty="0"/>
              <a:t>://blog.inovia-conseil.fr/?p=</a:t>
            </a:r>
            <a:r>
              <a:rPr lang="fr-FR" sz="1200" b="1" dirty="0" smtClean="0"/>
              <a:t>117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1200" b="1" dirty="0"/>
              <a:t>http://</a:t>
            </a:r>
            <a:r>
              <a:rPr lang="fr-FR" sz="1200" b="1" dirty="0" err="1"/>
              <a:t>blog.octo.com</a:t>
            </a:r>
            <a:r>
              <a:rPr lang="fr-FR" sz="1200" b="1" dirty="0"/>
              <a:t>/</a:t>
            </a:r>
            <a:r>
              <a:rPr lang="fr-FR" sz="1200" b="1" dirty="0" err="1"/>
              <a:t>amazon</a:t>
            </a:r>
            <a:r>
              <a:rPr lang="fr-FR" sz="1200" b="1" dirty="0"/>
              <a:t>-</a:t>
            </a:r>
            <a:r>
              <a:rPr lang="fr-FR" sz="1200" b="1" dirty="0" err="1"/>
              <a:t>simpledb</a:t>
            </a:r>
            <a:r>
              <a:rPr lang="fr-FR" sz="1200" b="1" dirty="0"/>
              <a:t>-le-</a:t>
            </a:r>
            <a:r>
              <a:rPr lang="fr-FR" sz="1200" b="1" dirty="0" err="1"/>
              <a:t>harry</a:t>
            </a:r>
            <a:r>
              <a:rPr lang="fr-FR" sz="1200" b="1" dirty="0"/>
              <a:t>-</a:t>
            </a:r>
            <a:r>
              <a:rPr lang="fr-FR" sz="1200" b="1" dirty="0" err="1"/>
              <a:t>potter</a:t>
            </a:r>
            <a:r>
              <a:rPr lang="fr-FR" sz="1200" b="1" dirty="0"/>
              <a:t>-de-</a:t>
            </a:r>
            <a:r>
              <a:rPr lang="fr-FR" sz="1200" b="1" dirty="0" err="1"/>
              <a:t>voldemort</a:t>
            </a:r>
            <a:r>
              <a:rPr lang="fr-FR" sz="1200" b="1" dirty="0" smtClean="0"/>
              <a:t>/</a:t>
            </a:r>
          </a:p>
        </p:txBody>
      </p:sp>
      <p:pic>
        <p:nvPicPr>
          <p:cNvPr id="10" name="Image 9" descr="voldemort_logo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8406969" y="6199178"/>
            <a:ext cx="671416" cy="619195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-53957" y="84520"/>
            <a:ext cx="11357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 smtClean="0"/>
              <a:t>PLAN</a:t>
            </a:r>
          </a:p>
          <a:p>
            <a:endParaRPr lang="fr-FR" sz="1100" b="1" dirty="0"/>
          </a:p>
          <a:p>
            <a:r>
              <a:rPr lang="fr-FR" sz="1100" dirty="0" smtClean="0"/>
              <a:t>Introduction</a:t>
            </a:r>
            <a:endParaRPr lang="fr-FR" sz="1100" dirty="0"/>
          </a:p>
          <a:p>
            <a:r>
              <a:rPr lang="fr-FR" sz="1100" dirty="0" err="1" smtClean="0"/>
              <a:t>NoSQL</a:t>
            </a:r>
            <a:endParaRPr lang="fr-FR" sz="1100" dirty="0"/>
          </a:p>
          <a:p>
            <a:r>
              <a:rPr lang="fr-FR" sz="1100" dirty="0"/>
              <a:t>P</a:t>
            </a:r>
            <a:r>
              <a:rPr lang="fr-FR" sz="1100" dirty="0" smtClean="0"/>
              <a:t>ropositions</a:t>
            </a:r>
            <a:endParaRPr lang="fr-FR" sz="1100" dirty="0"/>
          </a:p>
          <a:p>
            <a:r>
              <a:rPr lang="fr-FR" sz="1100" dirty="0" smtClean="0"/>
              <a:t>Origines</a:t>
            </a:r>
            <a:endParaRPr lang="fr-FR" sz="1100" dirty="0"/>
          </a:p>
          <a:p>
            <a:r>
              <a:rPr lang="fr-FR" sz="1100" dirty="0" err="1" smtClean="0"/>
              <a:t>Proj</a:t>
            </a:r>
            <a:r>
              <a:rPr lang="fr-FR" sz="1100" dirty="0" smtClean="0"/>
              <a:t>. </a:t>
            </a:r>
            <a:r>
              <a:rPr lang="fr-FR" sz="1100" dirty="0" err="1"/>
              <a:t>Voldemort</a:t>
            </a:r>
            <a:endParaRPr lang="fr-FR" sz="1100" dirty="0"/>
          </a:p>
          <a:p>
            <a:r>
              <a:rPr lang="fr-FR" sz="1100" dirty="0"/>
              <a:t>Mise en </a:t>
            </a:r>
            <a:r>
              <a:rPr lang="fr-FR" sz="1100" dirty="0" smtClean="0"/>
              <a:t>œuvre</a:t>
            </a:r>
            <a:endParaRPr lang="fr-FR" sz="1100" dirty="0"/>
          </a:p>
          <a:p>
            <a:r>
              <a:rPr lang="fr-FR" sz="1100" dirty="0"/>
              <a:t>Conclusion</a:t>
            </a:r>
          </a:p>
          <a:p>
            <a:r>
              <a:rPr lang="fr-FR" sz="1100" b="1" dirty="0" smtClean="0"/>
              <a:t>Q / R</a:t>
            </a:r>
            <a:endParaRPr lang="fr-FR" sz="1100" b="1" dirty="0"/>
          </a:p>
        </p:txBody>
      </p:sp>
      <p:sp>
        <p:nvSpPr>
          <p:cNvPr id="12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160847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vertical 2"/>
          <p:cNvSpPr>
            <a:spLocks noGrp="1"/>
          </p:cNvSpPr>
          <p:nvPr>
            <p:ph type="subTitle" idx="1"/>
          </p:nvPr>
        </p:nvSpPr>
        <p:spPr>
          <a:xfrm>
            <a:off x="3919800" y="1708936"/>
            <a:ext cx="4335599" cy="707904"/>
          </a:xfrm>
        </p:spPr>
        <p:txBody>
          <a:bodyPr>
            <a:noAutofit/>
          </a:bodyPr>
          <a:lstStyle/>
          <a:p>
            <a:pPr marL="82296" indent="0">
              <a:buNone/>
            </a:pPr>
            <a:r>
              <a:rPr lang="fr-FR" sz="3200" dirty="0" smtClean="0"/>
              <a:t>Projet VOLDEMORT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EC554-C28F-8344-BFCD-263B055A3CF8}" type="slidenum">
              <a:rPr lang="en-GB" sz="1600" b="1"/>
              <a:pPr/>
              <a:t>18</a:t>
            </a:fld>
            <a:endParaRPr lang="en-GB" sz="1600" b="1" dirty="0"/>
          </a:p>
        </p:txBody>
      </p:sp>
      <p:pic>
        <p:nvPicPr>
          <p:cNvPr id="12" name="Image 11" descr="voldemort_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:p="http://schemas.openxmlformats.org/presentationml/2006/main" xmlns:r="http://schemas.openxmlformats.org/officeDocument/2006/relationships" xmlns:a="http://schemas.openxmlformats.org/drawingml/2006/main" xmlns="" val="0"/>
              </a:ext>
            </a:extLst>
          </a:blip>
          <a:stretch>
            <a:fillRect/>
          </a:stretch>
        </p:blipFill>
        <p:spPr>
          <a:xfrm>
            <a:off x="3484126" y="2308490"/>
            <a:ext cx="2964646" cy="273406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799" y="1778891"/>
            <a:ext cx="1676400" cy="406400"/>
          </a:xfrm>
          <a:prstGeom prst="rect">
            <a:avLst/>
          </a:prstGeom>
        </p:spPr>
      </p:pic>
      <p:sp>
        <p:nvSpPr>
          <p:cNvPr id="8" name="Sous-titre 2"/>
          <p:cNvSpPr txBox="1">
            <a:spLocks/>
          </p:cNvSpPr>
          <p:nvPr/>
        </p:nvSpPr>
        <p:spPr>
          <a:xfrm>
            <a:off x="6120824" y="68768"/>
            <a:ext cx="2941299" cy="244109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/>
              <a:t>Présentation : Raphaël BLONDEAU 21 Janvier 2014</a:t>
            </a:r>
          </a:p>
        </p:txBody>
      </p:sp>
      <p:sp>
        <p:nvSpPr>
          <p:cNvPr id="9" name="Sous-titre 2"/>
          <p:cNvSpPr txBox="1">
            <a:spLocks/>
          </p:cNvSpPr>
          <p:nvPr/>
        </p:nvSpPr>
        <p:spPr>
          <a:xfrm>
            <a:off x="1081755" y="67653"/>
            <a:ext cx="3702794" cy="25859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dirty="0" smtClean="0"/>
              <a:t>NFE 204 : Bases de données avancées</a:t>
            </a:r>
          </a:p>
        </p:txBody>
      </p:sp>
    </p:spTree>
    <p:extLst>
      <p:ext uri="{BB962C8B-B14F-4D97-AF65-F5344CB8AC3E}">
        <p14:creationId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347082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9777</TotalTime>
  <Words>2247</Words>
  <Application>Microsoft Office PowerPoint</Application>
  <PresentationFormat>Présentation à l'écran (4:3)</PresentationFormat>
  <Paragraphs>501</Paragraphs>
  <Slides>18</Slides>
  <Notes>18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Solstice</vt:lpstr>
      <vt:lpstr>Projet Voldemort</vt:lpstr>
      <vt:lpstr>Contenu</vt:lpstr>
      <vt:lpstr>Diapositive 3</vt:lpstr>
      <vt:lpstr>Diapositive 4</vt:lpstr>
      <vt:lpstr>Diapositive 5</vt:lpstr>
      <vt:lpstr>Les Origines de Voldemort</vt:lpstr>
      <vt:lpstr>Les Origines de Voldemort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Famille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recherche d’images par croquis</dc:title>
  <dc:creator>Raphaël BLONDEAU</dc:creator>
  <cp:lastModifiedBy>philippe</cp:lastModifiedBy>
  <cp:revision>151</cp:revision>
  <cp:lastPrinted>2012-06-20T11:45:09Z</cp:lastPrinted>
  <dcterms:created xsi:type="dcterms:W3CDTF">2014-02-03T09:51:32Z</dcterms:created>
  <dcterms:modified xsi:type="dcterms:W3CDTF">2014-02-03T09:52:00Z</dcterms:modified>
</cp:coreProperties>
</file>

<file path=[Content_Types].xml><?xml version="1.0" encoding="utf-8"?>
<Types xmlns="http://schemas.openxmlformats.org/package/2006/content-types">
  <Default Extension="rels" ContentType="application/vnd.openxmlformats-package.relationships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Default Extension="xml" ContentType="application/xml"/>
  <Override PartName="/ppt/tableStyles.xml" ContentType="application/vnd.openxmlformats-officedocument.presentationml.tableStyles+xml"/>
  <Override PartName="/ppt/notesSlides/notesSlide31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8.xml" ContentType="application/vnd.openxmlformats-officedocument.presentationml.slide+xml"/>
  <Override PartName="/ppt/slides/slide21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30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ppt/notesSlides/notesSlide7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notesSlides/notesSlide8.xml" ContentType="application/vnd.openxmlformats-officedocument.presentationml.notesSlide+xml"/>
  <Default Extension="png" ContentType="image/png"/>
  <Override PartName="/ppt/slideLayouts/slideLayout4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slides/slide26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11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34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docProps/app.xml" ContentType="application/vnd.openxmlformats-officedocument.extended-properties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26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notesSlides/notesSlide18.xml" ContentType="application/vnd.openxmlformats-officedocument.presentationml.notesSlide+xml"/>
  <Override PartName="/ppt/viewProps.xml" ContentType="application/vnd.openxmlformats-officedocument.presentationml.viewProps+xml"/>
  <Default Extension="jpeg" ContentType="image/jpeg"/>
  <Override PartName="/ppt/notesSlides/notesSlide1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5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29.xml" ContentType="application/vnd.openxmlformats-officedocument.presentationml.slide+xml"/>
  <Override PartName="/ppt/theme/theme1.xml" ContentType="application/vnd.openxmlformats-officedocument.theme+xml"/>
  <Override PartName="/ppt/slides/slide22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24.xml" ContentType="application/vnd.openxmlformats-officedocument.presentationml.notesSlide+xml"/>
  <Override PartName="/ppt/slides/slide6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1.xml" ContentType="application/vnd.openxmlformats-officedocument.presentationml.slide+xml"/>
  <Default Extension="bin" ContentType="application/vnd.openxmlformats-officedocument.presentationml.printerSettings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r:id="rId1"/>
  </p:sldMasterIdLst>
  <p:notesMasterIdLst>
    <p:notesMasterId r:id="rId37"/>
  </p:notesMasterIdLst>
  <p:sldIdLst>
    <p:sldId id="256" r:id="rId2"/>
    <p:sldId id="257" r:id="rId3"/>
    <p:sldId id="261" r:id="rId4"/>
    <p:sldId id="262" r:id="rId5"/>
    <p:sldId id="281" r:id="rId6"/>
    <p:sldId id="280" r:id="rId7"/>
    <p:sldId id="312" r:id="rId8"/>
    <p:sldId id="295" r:id="rId9"/>
    <p:sldId id="287" r:id="rId10"/>
    <p:sldId id="278" r:id="rId11"/>
    <p:sldId id="276" r:id="rId12"/>
    <p:sldId id="286" r:id="rId13"/>
    <p:sldId id="275" r:id="rId14"/>
    <p:sldId id="288" r:id="rId15"/>
    <p:sldId id="296" r:id="rId16"/>
    <p:sldId id="298" r:id="rId17"/>
    <p:sldId id="299" r:id="rId18"/>
    <p:sldId id="300" r:id="rId19"/>
    <p:sldId id="289" r:id="rId20"/>
    <p:sldId id="290" r:id="rId21"/>
    <p:sldId id="291" r:id="rId22"/>
    <p:sldId id="292" r:id="rId23"/>
    <p:sldId id="293" r:id="rId24"/>
    <p:sldId id="294" r:id="rId25"/>
    <p:sldId id="273" r:id="rId26"/>
    <p:sldId id="302" r:id="rId27"/>
    <p:sldId id="303" r:id="rId28"/>
    <p:sldId id="304" r:id="rId29"/>
    <p:sldId id="305" r:id="rId30"/>
    <p:sldId id="307" r:id="rId31"/>
    <p:sldId id="308" r:id="rId32"/>
    <p:sldId id="306" r:id="rId33"/>
    <p:sldId id="309" r:id="rId34"/>
    <p:sldId id="310" r:id="rId35"/>
    <p:sldId id="311" r:id="rId36"/>
  </p:sldIdLst>
  <p:sldSz cx="12192000" cy="6858000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lrMru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 snapVertSplitter="1" vertBarState="minimized" horzBarState="maximized">
    <p:restoredLeft sz="34615" autoAdjust="0"/>
    <p:restoredTop sz="86380" autoAdjust="0"/>
  </p:normalViewPr>
  <p:slideViewPr>
    <p:cSldViewPr snapToGrid="0">
      <p:cViewPr varScale="1">
        <p:scale>
          <a:sx n="162" d="100"/>
          <a:sy n="162" d="100"/>
        </p:scale>
        <p:origin x="-472" y="-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notesMaster" Target="notesMasters/notesMaster1.xml"/><Relationship Id="rId38" Type="http://schemas.openxmlformats.org/officeDocument/2006/relationships/printerSettings" Target="printerSettings/printerSettings1.bin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2CD81BF-AD5B-45F5-A05E-A0F7A8884882}" type="datetimeFigureOut">
              <a:rPr lang="fr-FR"/>
              <a:pPr>
                <a:defRPr/>
              </a:pPr>
              <a:t>3/02/14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2AD554E-0678-4BC4-BF87-E05400C0746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Espace réservé de l'image des diapositives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5363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2CA5055-B433-4DF6-8EA6-2FDFB13372EE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Espace réservé de l'image des diapositives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7411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E03EA90-76EB-4843-8B87-5BC84CBCFDA6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Espace réservé de l'image des diapositives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9459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50B9CE7-AE1F-4AE0-94B0-FBD5F5D0AB87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Espace réservé de l'image des diapositives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1507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6CC160-BF04-452A-9F0D-B65CF865825C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F6BEFB13-CB43-4C0E-B7CD-4C94565CEED3}" type="slidenum">
              <a:rPr lang="fr-FR" sz="1200">
                <a:latin typeface="+mn-lt"/>
              </a:rPr>
              <a:pPr algn="r">
                <a:defRPr/>
              </a:pPr>
              <a:t>5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44161589-86D4-4E10-9215-17E9CC6F404F}" type="slidenum">
              <a:rPr lang="fr-FR" sz="1200">
                <a:latin typeface="+mn-lt"/>
              </a:rPr>
              <a:pPr algn="r">
                <a:defRPr/>
              </a:pPr>
              <a:t>6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D2694FB4-0220-4F37-BB47-360BEB6F0EA5}" type="slidenum">
              <a:rPr lang="fr-FR" sz="1200">
                <a:latin typeface="+mn-lt"/>
              </a:rPr>
              <a:pPr algn="r">
                <a:defRPr/>
              </a:pPr>
              <a:t>7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F5F9E94B-2E0B-457B-98DF-A95AB5775981}" type="slidenum">
              <a:rPr lang="fr-FR" sz="1200">
                <a:latin typeface="+mn-lt"/>
              </a:rPr>
              <a:pPr algn="r">
                <a:defRPr/>
              </a:pPr>
              <a:t>8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783D135-4416-422A-89F4-562AD08C6CEF}" type="slidenum">
              <a:rPr lang="fr-FR" sz="1200">
                <a:latin typeface="+mn-lt"/>
              </a:rPr>
              <a:pPr algn="r">
                <a:defRPr/>
              </a:pPr>
              <a:t>9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898EA1C1-F3A6-404B-8C96-ACF25FE4FC4E}" type="slidenum">
              <a:rPr lang="fr-FR" sz="1200">
                <a:latin typeface="+mn-lt"/>
              </a:rPr>
              <a:pPr algn="r">
                <a:defRPr/>
              </a:pPr>
              <a:t>10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363DEB48-1B70-4B75-8335-787FAA1E852D}" type="slidenum">
              <a:rPr lang="fr-FR" sz="1200">
                <a:latin typeface="+mn-lt"/>
              </a:rPr>
              <a:pPr algn="r">
                <a:defRPr/>
              </a:pPr>
              <a:t>11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B0625F92-292D-4B97-8E18-0B36F3ED9B8B}" type="slidenum">
              <a:rPr lang="fr-FR" sz="1200">
                <a:latin typeface="+mn-lt"/>
              </a:rPr>
              <a:pPr algn="r">
                <a:defRPr/>
              </a:pPr>
              <a:t>12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256EDAD2-C2B9-434C-A003-BC8455748295}" type="slidenum">
              <a:rPr lang="fr-FR" sz="1200">
                <a:latin typeface="+mn-lt"/>
              </a:rPr>
              <a:pPr algn="r">
                <a:defRPr/>
              </a:pPr>
              <a:t>13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4BFDFEBF-606A-4DEB-98BB-5359600AE716}" type="slidenum">
              <a:rPr lang="fr-FR" sz="1200">
                <a:latin typeface="+mn-lt"/>
              </a:rPr>
              <a:pPr algn="r">
                <a:defRPr/>
              </a:pPr>
              <a:t>14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6F2EF7A4-6C89-4857-99DF-C9DF00D9DC94}" type="slidenum">
              <a:rPr lang="fr-FR" sz="1200">
                <a:latin typeface="+mn-lt"/>
              </a:rPr>
              <a:pPr algn="r">
                <a:defRPr/>
              </a:pPr>
              <a:t>15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56FFC7B3-B7C5-4644-9DF4-12585C8CA0E4}" type="slidenum">
              <a:rPr lang="fr-FR" sz="1200">
                <a:latin typeface="+mn-lt"/>
              </a:rPr>
              <a:pPr algn="r">
                <a:defRPr/>
              </a:pPr>
              <a:t>16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137AB338-2B8B-4ABE-B25D-9C1E2A3E5617}" type="slidenum">
              <a:rPr lang="fr-FR" sz="1200">
                <a:latin typeface="+mn-lt"/>
              </a:rPr>
              <a:pPr algn="r">
                <a:defRPr/>
              </a:pPr>
              <a:t>17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D1D7C4F-50D9-4DC7-962A-EF3245C4D0FC}" type="slidenum">
              <a:rPr lang="fr-FR" sz="1200">
                <a:latin typeface="+mn-lt"/>
              </a:rPr>
              <a:pPr algn="r">
                <a:defRPr/>
              </a:pPr>
              <a:t>18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3B45EF5E-32C9-4428-8BA5-38C44CF68A48}" type="slidenum">
              <a:rPr lang="fr-FR" sz="1200">
                <a:latin typeface="+mn-lt"/>
              </a:rPr>
              <a:pPr algn="r">
                <a:defRPr/>
              </a:pPr>
              <a:t>19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4880E98A-0EB9-462A-8826-2D7294A32F6D}" type="slidenum">
              <a:rPr lang="fr-FR" sz="1200">
                <a:latin typeface="+mn-lt"/>
              </a:rPr>
              <a:pPr algn="r">
                <a:defRPr/>
              </a:pPr>
              <a:t>20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CBB1B97-DB6A-4668-A400-1DBA42D5F201}" type="slidenum">
              <a:rPr lang="fr-FR" sz="1200">
                <a:latin typeface="+mn-lt"/>
              </a:rPr>
              <a:pPr algn="r">
                <a:defRPr/>
              </a:pPr>
              <a:t>21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C92F7992-8D73-418E-BB63-D91908A12DA2}" type="slidenum">
              <a:rPr lang="fr-FR" sz="1200">
                <a:latin typeface="+mn-lt"/>
              </a:rPr>
              <a:pPr algn="r">
                <a:defRPr/>
              </a:pPr>
              <a:t>22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E31AF2E5-36A1-4DB9-9450-A09FE74C279F}" type="slidenum">
              <a:rPr lang="fr-FR" sz="1200">
                <a:latin typeface="+mn-lt"/>
              </a:rPr>
              <a:pPr algn="r">
                <a:defRPr/>
              </a:pPr>
              <a:t>23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84BDBD96-7DB6-441C-8AFD-129B46DFCF60}" type="slidenum">
              <a:rPr lang="fr-FR" sz="1200">
                <a:latin typeface="+mn-lt"/>
              </a:rPr>
              <a:pPr algn="r">
                <a:defRPr/>
              </a:pPr>
              <a:t>24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Espace réservé de l'image des diapositives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4035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AF8C915-7033-4923-A3AF-338604E289DF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fr-F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403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F154A9EB-7387-4935-B5EA-ADB3695FC636}" type="slidenum">
              <a:rPr lang="fr-FR" sz="1200">
                <a:latin typeface="+mn-lt"/>
              </a:rPr>
              <a:pPr algn="r">
                <a:defRPr/>
              </a:pPr>
              <a:t>26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403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2BBD009E-2D6B-41DB-AF18-01FB5048F72D}" type="slidenum">
              <a:rPr lang="fr-FR" sz="1200">
                <a:latin typeface="+mn-lt"/>
              </a:rPr>
              <a:pPr algn="r">
                <a:defRPr/>
              </a:pPr>
              <a:t>27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403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D22D605E-E0F6-4607-94CF-7259336DC267}" type="slidenum">
              <a:rPr lang="fr-FR" sz="1200">
                <a:latin typeface="+mn-lt"/>
              </a:rPr>
              <a:pPr algn="r">
                <a:defRPr/>
              </a:pPr>
              <a:t>28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403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01CF12E-0C6D-485F-A7C9-7A3659C954AD}" type="slidenum">
              <a:rPr lang="fr-FR" sz="1200">
                <a:latin typeface="+mn-lt"/>
              </a:rPr>
              <a:pPr algn="r">
                <a:defRPr/>
              </a:pPr>
              <a:t>29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403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241C962D-CE1A-47E6-BA5A-F5685399C28D}" type="slidenum">
              <a:rPr lang="fr-FR" sz="1200">
                <a:latin typeface="+mn-lt"/>
              </a:rPr>
              <a:pPr algn="r">
                <a:defRPr/>
              </a:pPr>
              <a:t>30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403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CDC1D509-0CCD-476E-AFB9-962E96DDC8B6}" type="slidenum">
              <a:rPr lang="fr-FR" sz="1200">
                <a:latin typeface="+mn-lt"/>
              </a:rPr>
              <a:pPr algn="r">
                <a:defRPr/>
              </a:pPr>
              <a:t>31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403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68CB2ABF-C58A-4CD5-8110-370BBF6D25B6}" type="slidenum">
              <a:rPr lang="fr-FR" sz="1200">
                <a:latin typeface="+mn-lt"/>
              </a:rPr>
              <a:pPr algn="r">
                <a:defRPr/>
              </a:pPr>
              <a:t>32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4035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6649900E-D9D0-49B7-8009-BE22A0E60FD5}" type="slidenum">
              <a:rPr lang="fr-FR" sz="1200">
                <a:latin typeface="+mn-lt"/>
              </a:rPr>
              <a:pPr algn="r">
                <a:defRPr/>
              </a:pPr>
              <a:t>33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9459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640DE563-FF5C-490C-923C-096D63AD1CD8}" type="slidenum">
              <a:rPr lang="fr-FR" sz="1200">
                <a:latin typeface="+mn-lt"/>
              </a:rPr>
              <a:pPr algn="r">
                <a:defRPr/>
              </a:pPr>
              <a:t>34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9459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BC17280A-DF10-4DBB-8698-955116F1AE33}" type="slidenum">
              <a:rPr lang="fr-FR" sz="1200">
                <a:latin typeface="+mn-lt"/>
              </a:rPr>
              <a:pPr algn="r">
                <a:defRPr/>
              </a:pPr>
              <a:t>35</a:t>
            </a:fld>
            <a:endParaRPr lang="fr-FR" sz="1200">
              <a:latin typeface="+mn-lt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1A7E0F-D4DB-40FA-B0C8-12C899C7ADDC}" type="datetime1">
              <a:rPr lang="fr-FR"/>
              <a:pPr>
                <a:defRPr/>
              </a:pPr>
              <a:t>3/02/14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Stéphane LY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C485C-76D2-4EBD-8CFD-C5A4F2CA6BA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F4535C-CB86-43ED-A95D-9852F62203B9}" type="datetime1">
              <a:rPr lang="fr-FR"/>
              <a:pPr>
                <a:defRPr/>
              </a:pPr>
              <a:t>3/02/14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Stéphane LY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2D9F2-6CD7-482C-8FE4-7BA17DBC6A1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0FEAD-AB6B-41F5-BC2E-50C037AB9FAC}" type="datetime1">
              <a:rPr lang="fr-FR"/>
              <a:pPr>
                <a:defRPr/>
              </a:pPr>
              <a:t>3/02/14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Stéphane LY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7D379-AFA7-4DFB-BDEF-19B8667D1F9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653664-35A1-4F93-AAD2-BB1892BC7EC9}" type="datetime1">
              <a:rPr lang="fr-FR"/>
              <a:pPr>
                <a:defRPr/>
              </a:pPr>
              <a:t>3/02/14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Stéphane LY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6F6C6-0CBE-4E94-A0A5-C48D8385C00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76A3E-5716-400A-9182-86EFFCA33FB2}" type="datetime1">
              <a:rPr lang="fr-FR"/>
              <a:pPr>
                <a:defRPr/>
              </a:pPr>
              <a:t>3/02/14</a:t>
            </a:fld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Stéphane LY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AA0372-B893-4474-84B0-30C51A84F16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E738B4-C0DA-4F0D-A978-B27D15DBF43A}" type="datetime1">
              <a:rPr lang="fr-FR"/>
              <a:pPr>
                <a:defRPr/>
              </a:pPr>
              <a:t>3/02/14</a:t>
            </a:fld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Stéphane LY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F9199-708C-4C47-890E-682FEFFF9B5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9E537-392D-4C9D-9467-49C882FE04CD}" type="datetime1">
              <a:rPr lang="fr-FR"/>
              <a:pPr>
                <a:defRPr/>
              </a:pPr>
              <a:t>3/02/14</a:t>
            </a:fld>
            <a:endParaRPr lang="fr-FR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Stéphane LY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F4879-56E5-47C1-8D42-99EC270E4CB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A2B0FB-42B0-4A94-8BFF-798534579B29}" type="datetime1">
              <a:rPr lang="fr-FR"/>
              <a:pPr>
                <a:defRPr/>
              </a:pPr>
              <a:t>3/02/14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Stéphane LY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B3F36-0F65-47D0-8661-53880DBAE23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F467B8-B3D4-4075-A8FD-411B1176E851}" type="datetime1">
              <a:rPr lang="fr-FR"/>
              <a:pPr>
                <a:defRPr/>
              </a:pPr>
              <a:t>3/02/14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Stéphane LY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2DF7B6-6C38-4CF4-A215-4E4263EB432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335D9-CB54-4FD5-9E08-159370F05591}" type="datetime1">
              <a:rPr lang="fr-FR"/>
              <a:pPr>
                <a:defRPr/>
              </a:pPr>
              <a:t>3/02/14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Stéphane LY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74F69-AAB1-4746-9B9F-5F88BDFB78C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F379A3-8D86-4853-A73D-C48398999AC9}" type="datetime1">
              <a:rPr lang="fr-FR"/>
              <a:pPr>
                <a:defRPr/>
              </a:pPr>
              <a:t>3/02/14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Stéphane LY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74F9A-1A06-4390-B84B-A3162492A1E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Modifiez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45E19D9-CAF1-4CE7-ADC9-967086D16066}" type="datetime1">
              <a:rPr lang="fr-FR"/>
              <a:pPr>
                <a:defRPr/>
              </a:pPr>
              <a:t>3/02/14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/>
              <a:t>Stéphane LY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FB29381-50B2-4A7C-855D-F813E934F08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re 1"/>
          <p:cNvSpPr>
            <a:spLocks noGrp="1"/>
          </p:cNvSpPr>
          <p:nvPr>
            <p:ph type="ctrTitle"/>
          </p:nvPr>
        </p:nvSpPr>
        <p:spPr>
          <a:xfrm>
            <a:off x="1524000" y="2144713"/>
            <a:ext cx="9144000" cy="762000"/>
          </a:xfrm>
        </p:spPr>
        <p:txBody>
          <a:bodyPr/>
          <a:lstStyle/>
          <a:p>
            <a:pPr eaLnBrk="1" hangingPunct="1"/>
            <a:r>
              <a:rPr lang="fr-FR" sz="4400" smtClean="0"/>
              <a:t>Google Search Appliance</a:t>
            </a:r>
          </a:p>
        </p:txBody>
      </p:sp>
      <p:sp>
        <p:nvSpPr>
          <p:cNvPr id="14338" name="Sous-titre 2"/>
          <p:cNvSpPr>
            <a:spLocks noGrp="1"/>
          </p:cNvSpPr>
          <p:nvPr>
            <p:ph type="subTitle" idx="1"/>
          </p:nvPr>
        </p:nvSpPr>
        <p:spPr>
          <a:xfrm>
            <a:off x="1504950" y="4865688"/>
            <a:ext cx="9144000" cy="611187"/>
          </a:xfrm>
        </p:spPr>
        <p:txBody>
          <a:bodyPr/>
          <a:lstStyle/>
          <a:p>
            <a:pPr eaLnBrk="1" hangingPunct="1">
              <a:lnSpc>
                <a:spcPct val="70000"/>
              </a:lnSpc>
            </a:pPr>
            <a:endParaRPr lang="fr-FR" sz="800" smtClean="0"/>
          </a:p>
          <a:p>
            <a:pPr eaLnBrk="1" hangingPunct="1">
              <a:lnSpc>
                <a:spcPct val="70000"/>
              </a:lnSpc>
            </a:pPr>
            <a:endParaRPr lang="fr-FR" sz="800" smtClean="0"/>
          </a:p>
          <a:p>
            <a:pPr eaLnBrk="1" hangingPunct="1">
              <a:lnSpc>
                <a:spcPct val="70000"/>
              </a:lnSpc>
            </a:pPr>
            <a:endParaRPr lang="fr-FR" sz="800" smtClean="0"/>
          </a:p>
          <a:p>
            <a:pPr eaLnBrk="1" hangingPunct="1">
              <a:lnSpc>
                <a:spcPct val="70000"/>
              </a:lnSpc>
            </a:pPr>
            <a:r>
              <a:rPr lang="fr-FR" smtClean="0"/>
              <a:t>NFE 204 – Base de données avancée I</a:t>
            </a:r>
          </a:p>
        </p:txBody>
      </p:sp>
      <p:pic>
        <p:nvPicPr>
          <p:cNvPr id="14339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-1128713" y="6375400"/>
            <a:ext cx="4114801" cy="365125"/>
          </a:xfrm>
        </p:spPr>
        <p:txBody>
          <a:bodyPr/>
          <a:lstStyle/>
          <a:p>
            <a:pPr>
              <a:defRPr/>
            </a:pPr>
            <a:r>
              <a:rPr lang="fr-FR" sz="1400" dirty="0"/>
              <a:t>Stéphane LY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5D5F96-FD84-4D4A-BE11-5FD56D0F5832}" type="slidenum">
              <a:rPr lang="fr-FR"/>
              <a:pPr>
                <a:defRPr/>
              </a:pPr>
              <a:t>1</a:t>
            </a:fld>
            <a:endParaRPr lang="fr-FR"/>
          </a:p>
        </p:txBody>
      </p:sp>
      <p:pic>
        <p:nvPicPr>
          <p:cNvPr id="14342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00525" y="600075"/>
            <a:ext cx="3373438" cy="144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683000" y="2874963"/>
            <a:ext cx="4265613" cy="175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r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25500"/>
          </a:xfrm>
        </p:spPr>
        <p:txBody>
          <a:bodyPr/>
          <a:lstStyle/>
          <a:p>
            <a:pPr eaLnBrk="1" hangingPunct="1"/>
            <a:r>
              <a:rPr lang="fr-FR" sz="4800" smtClean="0"/>
              <a:t>Plan de la présentation</a:t>
            </a:r>
          </a:p>
        </p:txBody>
      </p:sp>
      <p:sp>
        <p:nvSpPr>
          <p:cNvPr id="16386" name="Sous-titre 2"/>
          <p:cNvSpPr>
            <a:spLocks noGrp="1"/>
          </p:cNvSpPr>
          <p:nvPr>
            <p:ph type="subTitle" idx="1"/>
          </p:nvPr>
        </p:nvSpPr>
        <p:spPr>
          <a:xfrm>
            <a:off x="1524000" y="1673225"/>
            <a:ext cx="9144000" cy="4303713"/>
          </a:xfrm>
        </p:spPr>
        <p:txBody>
          <a:bodyPr/>
          <a:lstStyle/>
          <a:p>
            <a:pPr marL="711200" indent="-711200" eaLnBrk="1" hangingPunct="1"/>
            <a:r>
              <a:rPr lang="fr-FR" sz="600" smtClean="0"/>
              <a:t>I – </a:t>
            </a:r>
          </a:p>
          <a:p>
            <a:pPr marL="711200" indent="-711200" algn="l" eaLnBrk="1" hangingPunct="1">
              <a:buFont typeface="Calibri Light"/>
              <a:buAutoNum type="romanUcPeriod"/>
            </a:pPr>
            <a:r>
              <a:rPr lang="fr-FR" sz="3600" smtClean="0"/>
              <a:t>Introduction</a:t>
            </a:r>
          </a:p>
          <a:p>
            <a:pPr marL="711200" indent="-711200" algn="l" eaLnBrk="1" hangingPunct="1">
              <a:buFont typeface="Calibri Light"/>
              <a:buAutoNum type="romanUcPeriod"/>
            </a:pPr>
            <a:r>
              <a:rPr lang="fr-FR" sz="3600" smtClean="0"/>
              <a:t>Principe de fonctionnement</a:t>
            </a:r>
          </a:p>
          <a:p>
            <a:pPr marL="711200" indent="-711200" algn="l" eaLnBrk="1" hangingPunct="1">
              <a:buFont typeface="Calibri Light"/>
              <a:buAutoNum type="romanUcPeriod"/>
            </a:pPr>
            <a:r>
              <a:rPr lang="fr-FR" sz="3600" smtClean="0"/>
              <a:t>Principales fonctionnalités</a:t>
            </a:r>
          </a:p>
          <a:p>
            <a:pPr marL="711200" indent="-711200" algn="l" eaLnBrk="1" hangingPunct="1">
              <a:buFont typeface="Calibri Light"/>
              <a:buAutoNum type="romanUcPeriod"/>
            </a:pPr>
            <a:r>
              <a:rPr lang="fr-FR" sz="3600" smtClean="0"/>
              <a:t>Mise en œuvre chez GMF</a:t>
            </a:r>
          </a:p>
          <a:p>
            <a:pPr marL="711200" indent="-711200" algn="l" eaLnBrk="1" hangingPunct="1">
              <a:buFont typeface="Calibri Light"/>
              <a:buAutoNum type="romanUcPeriod"/>
            </a:pPr>
            <a:r>
              <a:rPr lang="fr-FR" sz="3600" smtClean="0"/>
              <a:t>Conclusion</a:t>
            </a:r>
          </a:p>
        </p:txBody>
      </p:sp>
      <p:pic>
        <p:nvPicPr>
          <p:cNvPr id="16387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-1128713" y="6375400"/>
            <a:ext cx="4114801" cy="365125"/>
          </a:xfrm>
        </p:spPr>
        <p:txBody>
          <a:bodyPr/>
          <a:lstStyle/>
          <a:p>
            <a:pPr>
              <a:defRPr/>
            </a:pPr>
            <a:r>
              <a:rPr lang="fr-FR" sz="1400" dirty="0"/>
              <a:t>Stéphane LY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F60B7A-9D29-4036-BFD1-23836CB53A2F}" type="slidenum">
              <a:rPr lang="fr-FR"/>
              <a:pPr>
                <a:defRPr/>
              </a:pPr>
              <a:t>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r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01688"/>
          </a:xfrm>
        </p:spPr>
        <p:txBody>
          <a:bodyPr/>
          <a:lstStyle/>
          <a:p>
            <a:pPr eaLnBrk="1" hangingPunct="1"/>
            <a:r>
              <a:rPr lang="fr-FR" sz="4800" smtClean="0"/>
              <a:t>Introduction</a:t>
            </a:r>
          </a:p>
        </p:txBody>
      </p:sp>
      <p:sp>
        <p:nvSpPr>
          <p:cNvPr id="18434" name="Sous-titre 2"/>
          <p:cNvSpPr>
            <a:spLocks noGrp="1"/>
          </p:cNvSpPr>
          <p:nvPr>
            <p:ph type="subTitle" idx="1"/>
          </p:nvPr>
        </p:nvSpPr>
        <p:spPr>
          <a:xfrm>
            <a:off x="1524000" y="1673225"/>
            <a:ext cx="9144000" cy="4303713"/>
          </a:xfrm>
        </p:spPr>
        <p:txBody>
          <a:bodyPr/>
          <a:lstStyle/>
          <a:p>
            <a:pPr marL="342900" indent="-342900" algn="l" eaLnBrk="1" hangingPunct="1"/>
            <a:r>
              <a:rPr lang="fr-FR" sz="2800" u="sng" smtClean="0"/>
              <a:t>Problématique :</a:t>
            </a:r>
          </a:p>
          <a:p>
            <a:pPr marL="342900" indent="-342900" algn="l" eaLnBrk="1" hangingPunct="1">
              <a:buFont typeface="Arial" charset="0"/>
              <a:buChar char="•"/>
            </a:pPr>
            <a:r>
              <a:rPr lang="fr-FR" sz="2800" smtClean="0"/>
              <a:t>Données importantes pour l’entreprise (présentations, études, procédures…)</a:t>
            </a:r>
          </a:p>
          <a:p>
            <a:pPr marL="342900" indent="-342900" algn="l" eaLnBrk="1" hangingPunct="1">
              <a:buFont typeface="Arial" charset="0"/>
              <a:buChar char="•"/>
            </a:pPr>
            <a:r>
              <a:rPr lang="fr-FR" sz="2800" smtClean="0"/>
              <a:t>De plus en plus de données, dans divers conteneurs, divers endroits…</a:t>
            </a:r>
          </a:p>
          <a:p>
            <a:pPr marL="342900" indent="-342900" algn="l" eaLnBrk="1" hangingPunct="1">
              <a:buFont typeface="Arial" charset="0"/>
              <a:buChar char="•"/>
            </a:pPr>
            <a:r>
              <a:rPr lang="fr-FR" sz="2800" smtClean="0"/>
              <a:t>Faciliter la recherche d’information pour le collaborateur</a:t>
            </a:r>
          </a:p>
          <a:p>
            <a:pPr marL="342900" indent="-342900" algn="l" eaLnBrk="1" hangingPunct="1">
              <a:buFont typeface="Arial" charset="0"/>
              <a:buChar char="•"/>
            </a:pPr>
            <a:r>
              <a:rPr lang="fr-FR" sz="2800" smtClean="0"/>
              <a:t>Fournir à l’internaute des informations pertinentes</a:t>
            </a:r>
          </a:p>
        </p:txBody>
      </p:sp>
      <p:pic>
        <p:nvPicPr>
          <p:cNvPr id="18435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-1128713" y="6375400"/>
            <a:ext cx="4114801" cy="365125"/>
          </a:xfrm>
        </p:spPr>
        <p:txBody>
          <a:bodyPr/>
          <a:lstStyle/>
          <a:p>
            <a:pPr>
              <a:defRPr/>
            </a:pPr>
            <a:r>
              <a:rPr lang="fr-FR" sz="1400" dirty="0"/>
              <a:t>Stéphane LY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6CF5B9-BBE3-4E56-8706-C52C2CDA6AD8}" type="slidenum">
              <a:rPr lang="fr-FR"/>
              <a:pPr>
                <a:defRPr/>
              </a:pPr>
              <a:t>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r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790575"/>
          </a:xfrm>
        </p:spPr>
        <p:txBody>
          <a:bodyPr/>
          <a:lstStyle/>
          <a:p>
            <a:pPr eaLnBrk="1" hangingPunct="1"/>
            <a:r>
              <a:rPr lang="fr-FR" sz="4800" smtClean="0"/>
              <a:t>Introduction</a:t>
            </a:r>
          </a:p>
        </p:txBody>
      </p:sp>
      <p:sp>
        <p:nvSpPr>
          <p:cNvPr id="20482" name="Sous-titre 2"/>
          <p:cNvSpPr>
            <a:spLocks noGrp="1"/>
          </p:cNvSpPr>
          <p:nvPr>
            <p:ph type="subTitle" idx="1"/>
          </p:nvPr>
        </p:nvSpPr>
        <p:spPr>
          <a:xfrm>
            <a:off x="1524000" y="1673225"/>
            <a:ext cx="9144000" cy="4303713"/>
          </a:xfrm>
        </p:spPr>
        <p:txBody>
          <a:bodyPr/>
          <a:lstStyle/>
          <a:p>
            <a:pPr marL="342900" indent="-342900" algn="l" eaLnBrk="1" hangingPunct="1"/>
            <a:r>
              <a:rPr lang="fr-FR" sz="2800" u="sng" smtClean="0"/>
              <a:t>Solutions de Google:</a:t>
            </a:r>
          </a:p>
          <a:p>
            <a:pPr marL="342900" indent="-342900" algn="l" eaLnBrk="1" hangingPunct="1">
              <a:buFont typeface="Arial" charset="0"/>
              <a:buChar char="•"/>
            </a:pPr>
            <a:r>
              <a:rPr lang="fr-FR" sz="2800" smtClean="0"/>
              <a:t>Environnement google.fr au service des données de l’entreprise</a:t>
            </a:r>
          </a:p>
          <a:p>
            <a:pPr marL="342900" indent="-342900" algn="l" eaLnBrk="1" hangingPunct="1">
              <a:buFont typeface="Arial" charset="0"/>
              <a:buChar char="•"/>
            </a:pPr>
            <a:r>
              <a:rPr lang="fr-FR" sz="2800" smtClean="0"/>
              <a:t>GSA (Google Search Appliance) : « moteur de recherche universel » pour les entreprises.</a:t>
            </a:r>
          </a:p>
          <a:p>
            <a:pPr marL="342900" indent="-342900" algn="l" eaLnBrk="1" hangingPunct="1">
              <a:buFont typeface="Arial" charset="0"/>
              <a:buChar char="•"/>
            </a:pPr>
            <a:r>
              <a:rPr lang="fr-FR" sz="2800" smtClean="0"/>
              <a:t>« Appliance » intégrant matériel/logiciels, mise en œuvre et administration simplifiée</a:t>
            </a:r>
            <a:endParaRPr lang="fr-FR" sz="2800" u="sng" smtClean="0"/>
          </a:p>
          <a:p>
            <a:pPr marL="342900" indent="-342900" algn="l" eaLnBrk="1" hangingPunct="1">
              <a:buFont typeface="Arial" charset="0"/>
              <a:buChar char="•"/>
            </a:pPr>
            <a:r>
              <a:rPr lang="fr-FR" sz="2800" smtClean="0"/>
              <a:t>Permet recherche sur intranets, serveurs web, portails, BDD, partages de fichiers, CMS…</a:t>
            </a:r>
          </a:p>
          <a:p>
            <a:pPr marL="342900" indent="-342900" algn="l" eaLnBrk="1" hangingPunct="1"/>
            <a:endParaRPr lang="fr-FR" sz="2800" smtClean="0"/>
          </a:p>
          <a:p>
            <a:pPr marL="342900" indent="-342900" algn="l" eaLnBrk="1" hangingPunct="1">
              <a:buFont typeface="Arial" charset="0"/>
              <a:buChar char="•"/>
            </a:pPr>
            <a:endParaRPr lang="fr-FR" sz="4000" smtClean="0"/>
          </a:p>
        </p:txBody>
      </p:sp>
      <p:pic>
        <p:nvPicPr>
          <p:cNvPr id="20483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-1128713" y="6375400"/>
            <a:ext cx="4114801" cy="365125"/>
          </a:xfrm>
        </p:spPr>
        <p:txBody>
          <a:bodyPr/>
          <a:lstStyle/>
          <a:p>
            <a:pPr>
              <a:defRPr/>
            </a:pPr>
            <a:r>
              <a:rPr lang="fr-FR" sz="1400" dirty="0"/>
              <a:t>Stéphane LY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9739D4-C2C4-4E4F-B466-EF02C29558C1}" type="slidenum">
              <a:rPr lang="fr-FR"/>
              <a:pPr>
                <a:defRPr/>
              </a:pPr>
              <a:t>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752475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Les solutions de Google</a:t>
            </a:r>
          </a:p>
        </p:txBody>
      </p:sp>
      <p:sp>
        <p:nvSpPr>
          <p:cNvPr id="22530" name="Sous-titre 2"/>
          <p:cNvSpPr>
            <a:spLocks noGrp="1"/>
          </p:cNvSpPr>
          <p:nvPr>
            <p:ph type="subTitle" idx="4294967295"/>
          </p:nvPr>
        </p:nvSpPr>
        <p:spPr>
          <a:xfrm>
            <a:off x="1384300" y="955675"/>
            <a:ext cx="7620000" cy="4629150"/>
          </a:xfrm>
        </p:spPr>
        <p:txBody>
          <a:bodyPr/>
          <a:lstStyle/>
          <a:p>
            <a:pPr marL="742950" lvl="1" indent="-285750" eaLnBrk="1" hangingPunct="1"/>
            <a:r>
              <a:rPr lang="fr-FR" smtClean="0"/>
              <a:t>Google Site Search </a:t>
            </a:r>
          </a:p>
          <a:p>
            <a:pPr lvl="3" eaLnBrk="1" hangingPunct="1"/>
            <a:r>
              <a:rPr lang="fr-FR" sz="2400" smtClean="0"/>
              <a:t>Pour les sites web</a:t>
            </a:r>
          </a:p>
          <a:p>
            <a:pPr lvl="3" eaLnBrk="1" hangingPunct="1"/>
            <a:r>
              <a:rPr lang="fr-FR" sz="2400" smtClean="0"/>
              <a:t>Facturation en fonction du nombre de requête de recherche par an</a:t>
            </a:r>
          </a:p>
          <a:p>
            <a:pPr lvl="3" eaLnBrk="1" hangingPunct="1"/>
            <a:endParaRPr lang="fr-FR" sz="2400" smtClean="0"/>
          </a:p>
          <a:p>
            <a:pPr marL="742950" lvl="1" indent="-285750" eaLnBrk="1" hangingPunct="1"/>
            <a:r>
              <a:rPr lang="fr-FR" smtClean="0"/>
              <a:t>Google Mini</a:t>
            </a:r>
          </a:p>
          <a:p>
            <a:pPr lvl="3" eaLnBrk="1" hangingPunct="1"/>
            <a:r>
              <a:rPr lang="fr-FR" sz="2400" smtClean="0"/>
              <a:t>Version allégée du GSA (jusqu’à 300 000 doc)</a:t>
            </a:r>
          </a:p>
          <a:p>
            <a:pPr lvl="3" eaLnBrk="1" hangingPunct="1"/>
            <a:r>
              <a:rPr lang="fr-FR" sz="2400" smtClean="0"/>
              <a:t>Retiré en 2012</a:t>
            </a:r>
          </a:p>
          <a:p>
            <a:pPr lvl="3" eaLnBrk="1" hangingPunct="1">
              <a:buFont typeface="Arial" charset="0"/>
              <a:buNone/>
            </a:pPr>
            <a:endParaRPr lang="fr-FR" sz="2400" smtClean="0"/>
          </a:p>
          <a:p>
            <a:pPr marL="742950" lvl="1" indent="-285750" eaLnBrk="1" hangingPunct="1"/>
            <a:r>
              <a:rPr lang="fr-FR" smtClean="0"/>
              <a:t>Google Search Appliance</a:t>
            </a:r>
          </a:p>
          <a:p>
            <a:pPr lvl="3" eaLnBrk="1" hangingPunct="1"/>
            <a:r>
              <a:rPr lang="fr-FR" sz="2400" smtClean="0"/>
              <a:t>GB-7007 (jusqu’à 10 millions de doc) et GB-9009 </a:t>
            </a:r>
            <a:r>
              <a:rPr lang="fr-FR" smtClean="0"/>
              <a:t>(</a:t>
            </a:r>
            <a:r>
              <a:rPr lang="fr-FR" sz="2400" smtClean="0"/>
              <a:t>jusqu’à 30 millions de doc en version standard)</a:t>
            </a:r>
          </a:p>
          <a:p>
            <a:pPr lvl="3" eaLnBrk="1" hangingPunct="1">
              <a:buFont typeface="Arial" charset="0"/>
              <a:buNone/>
            </a:pPr>
            <a:endParaRPr lang="fr-FR" smtClean="0"/>
          </a:p>
          <a:p>
            <a:pPr lvl="3" eaLnBrk="1" hangingPunct="1"/>
            <a:endParaRPr lang="fr-FR" smtClean="0"/>
          </a:p>
          <a:p>
            <a:pPr lvl="3" eaLnBrk="1" hangingPunct="1"/>
            <a:endParaRPr lang="fr-FR" smtClean="0"/>
          </a:p>
          <a:p>
            <a:pPr marL="342900" indent="-342900" eaLnBrk="1" hangingPunct="1"/>
            <a:endParaRPr lang="fr-FR" sz="2000" smtClean="0"/>
          </a:p>
        </p:txBody>
      </p:sp>
      <p:pic>
        <p:nvPicPr>
          <p:cNvPr id="22531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9168C58D-39AD-4142-9041-2EC3662DE49A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5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22534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36050" y="4383088"/>
            <a:ext cx="224790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5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712200" y="2828925"/>
            <a:ext cx="2976563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873125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Principe de fonctionnement</a:t>
            </a:r>
          </a:p>
        </p:txBody>
      </p:sp>
      <p:pic>
        <p:nvPicPr>
          <p:cNvPr id="24578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39EB1F7C-1BC3-4281-8782-4AD947A11C5C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6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2458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98675" y="1519238"/>
            <a:ext cx="8394700" cy="361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873125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Principe de fonctionnement</a:t>
            </a:r>
          </a:p>
        </p:txBody>
      </p:sp>
      <p:pic>
        <p:nvPicPr>
          <p:cNvPr id="26626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2F8FA334-47CA-4AF8-AC5E-C3CB2F6838D3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7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26629" name="Text Box 7"/>
          <p:cNvSpPr txBox="1">
            <a:spLocks noChangeArrowheads="1"/>
          </p:cNvSpPr>
          <p:nvPr/>
        </p:nvSpPr>
        <p:spPr bwMode="auto">
          <a:xfrm>
            <a:off x="2203450" y="2306638"/>
            <a:ext cx="64055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6630" name="Text Box 8"/>
          <p:cNvSpPr txBox="1">
            <a:spLocks noChangeArrowheads="1"/>
          </p:cNvSpPr>
          <p:nvPr/>
        </p:nvSpPr>
        <p:spPr bwMode="auto">
          <a:xfrm>
            <a:off x="1511300" y="923925"/>
            <a:ext cx="8796338" cy="562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/>
              <a:t>Requête de recherche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fr-FR"/>
              <a:t> Formulaire HTLM</a:t>
            </a:r>
          </a:p>
          <a:p>
            <a:pPr>
              <a:spcBef>
                <a:spcPct val="50000"/>
              </a:spcBef>
            </a:pPr>
            <a:r>
              <a:rPr lang="fr-FR" sz="1400">
                <a:solidFill>
                  <a:schemeClr val="hlink"/>
                </a:solidFill>
              </a:rPr>
              <a:t>&lt;form method="GET" action="http://search.mycompany.com/search"&gt;</a:t>
            </a:r>
          </a:p>
          <a:p>
            <a:pPr>
              <a:spcBef>
                <a:spcPct val="50000"/>
              </a:spcBef>
            </a:pPr>
            <a:r>
              <a:rPr lang="fr-FR" sz="1400">
                <a:solidFill>
                  <a:schemeClr val="hlink"/>
                </a:solidFill>
              </a:rPr>
              <a:t>&lt;input type="text" name="q" size="32" maxlength="256" value="query string"&gt;</a:t>
            </a:r>
          </a:p>
          <a:p>
            <a:pPr>
              <a:spcBef>
                <a:spcPct val="50000"/>
              </a:spcBef>
            </a:pPr>
            <a:r>
              <a:rPr lang="fr-FR" sz="1400">
                <a:solidFill>
                  <a:schemeClr val="hlink"/>
                </a:solidFill>
              </a:rPr>
              <a:t>&lt;input type="submit" name="btnG" value="Google Search"&gt;</a:t>
            </a:r>
          </a:p>
          <a:p>
            <a:pPr>
              <a:spcBef>
                <a:spcPct val="50000"/>
              </a:spcBef>
            </a:pPr>
            <a:r>
              <a:rPr lang="fr-FR" sz="1400">
                <a:solidFill>
                  <a:schemeClr val="hlink"/>
                </a:solidFill>
              </a:rPr>
              <a:t>&lt;input type="hidden" name="site" value="default_collection"&gt;</a:t>
            </a:r>
          </a:p>
          <a:p>
            <a:pPr>
              <a:spcBef>
                <a:spcPct val="50000"/>
              </a:spcBef>
            </a:pPr>
            <a:r>
              <a:rPr lang="fr-FR" sz="1400">
                <a:solidFill>
                  <a:schemeClr val="hlink"/>
                </a:solidFill>
              </a:rPr>
              <a:t>&lt;input type="hidden" name="client" value="default_frontend"&gt;</a:t>
            </a:r>
          </a:p>
          <a:p>
            <a:pPr>
              <a:spcBef>
                <a:spcPct val="50000"/>
              </a:spcBef>
            </a:pPr>
            <a:r>
              <a:rPr lang="fr-FR" sz="1400">
                <a:solidFill>
                  <a:schemeClr val="hlink"/>
                </a:solidFill>
              </a:rPr>
              <a:t>&lt;input type="hidden" name="output" value="xml_no_dtd"&gt;</a:t>
            </a:r>
          </a:p>
          <a:p>
            <a:pPr>
              <a:spcBef>
                <a:spcPct val="50000"/>
              </a:spcBef>
            </a:pPr>
            <a:r>
              <a:rPr lang="fr-FR" sz="1400">
                <a:solidFill>
                  <a:schemeClr val="hlink"/>
                </a:solidFill>
              </a:rPr>
              <a:t>&lt;input type="hidden" name="proxystylesheet" value="default_frontend"&gt;</a:t>
            </a:r>
          </a:p>
          <a:p>
            <a:pPr>
              <a:spcBef>
                <a:spcPct val="50000"/>
              </a:spcBef>
            </a:pPr>
            <a:r>
              <a:rPr lang="fr-FR" sz="1400">
                <a:solidFill>
                  <a:schemeClr val="hlink"/>
                </a:solidFill>
              </a:rPr>
              <a:t>&lt;/form&gt; 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fr-FR"/>
              <a:t> URL vers le GSA</a:t>
            </a:r>
          </a:p>
          <a:p>
            <a:pPr>
              <a:spcBef>
                <a:spcPct val="50000"/>
              </a:spcBef>
            </a:pPr>
            <a:r>
              <a:rPr lang="fr-FR">
                <a:solidFill>
                  <a:schemeClr val="hlink"/>
                </a:solidFill>
              </a:rPr>
              <a:t>http://search.mycompany.com/search?q=query+string &amp;</a:t>
            </a:r>
            <a:r>
              <a:rPr lang="fr-FR">
                <a:solidFill>
                  <a:srgbClr val="FF0000"/>
                </a:solidFill>
              </a:rPr>
              <a:t>site=default_collection</a:t>
            </a:r>
            <a:r>
              <a:rPr lang="fr-FR">
                <a:solidFill>
                  <a:schemeClr val="hlink"/>
                </a:solidFill>
              </a:rPr>
              <a:t> &amp;</a:t>
            </a:r>
            <a:r>
              <a:rPr lang="fr-FR">
                <a:solidFill>
                  <a:srgbClr val="FF0000"/>
                </a:solidFill>
              </a:rPr>
              <a:t>client=default_frontend</a:t>
            </a:r>
            <a:r>
              <a:rPr lang="fr-FR">
                <a:solidFill>
                  <a:schemeClr val="hlink"/>
                </a:solidFill>
              </a:rPr>
              <a:t> &amp;output=xml_no_dtd &amp;proxystylesheet=default_frontend</a:t>
            </a:r>
            <a:r>
              <a:rPr lang="fr-FR"/>
              <a:t> 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fr-FR"/>
              <a:t> HTTP GET</a:t>
            </a:r>
          </a:p>
          <a:p>
            <a:pPr>
              <a:spcBef>
                <a:spcPct val="50000"/>
              </a:spcBef>
            </a:pPr>
            <a:r>
              <a:rPr lang="fr-FR">
                <a:solidFill>
                  <a:schemeClr val="hlink"/>
                </a:solidFill>
              </a:rPr>
              <a:t>GET /search?q=query+string&amp;site=default_collection &amp;client=default_frontend &amp;output=xml_no_dtd &amp;proxystylesheet=default_frontendHTTP/1.0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800100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Principe de fonctionnement</a:t>
            </a:r>
          </a:p>
        </p:txBody>
      </p:sp>
      <p:sp>
        <p:nvSpPr>
          <p:cNvPr id="28674" name="Sous-titre 2"/>
          <p:cNvSpPr>
            <a:spLocks noGrp="1"/>
          </p:cNvSpPr>
          <p:nvPr>
            <p:ph type="subTitle" idx="4294967295"/>
          </p:nvPr>
        </p:nvSpPr>
        <p:spPr>
          <a:xfrm>
            <a:off x="1524000" y="1673225"/>
            <a:ext cx="7620000" cy="4183063"/>
          </a:xfrm>
        </p:spPr>
        <p:txBody>
          <a:bodyPr/>
          <a:lstStyle/>
          <a:p>
            <a:pPr lvl="3" eaLnBrk="1" hangingPunct="1"/>
            <a:endParaRPr lang="fr-FR" sz="2400" smtClean="0"/>
          </a:p>
          <a:p>
            <a:pPr lvl="3" eaLnBrk="1" hangingPunct="1"/>
            <a:endParaRPr lang="fr-FR" sz="2400" smtClean="0"/>
          </a:p>
          <a:p>
            <a:pPr marL="342900" indent="-342900" eaLnBrk="1" hangingPunct="1"/>
            <a:endParaRPr lang="fr-FR" sz="2400" smtClean="0"/>
          </a:p>
        </p:txBody>
      </p:sp>
      <p:pic>
        <p:nvPicPr>
          <p:cNvPr id="28675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B360C584-801D-417F-BFCA-D72B67B0034B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8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28678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70138" y="1055688"/>
            <a:ext cx="6167437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801688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Principe de fonctionnement</a:t>
            </a:r>
          </a:p>
        </p:txBody>
      </p:sp>
      <p:pic>
        <p:nvPicPr>
          <p:cNvPr id="30722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927F46CE-AFC6-4931-8C5B-EC583B884585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9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3072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89050" y="1282700"/>
            <a:ext cx="8772525" cy="482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801688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Le déploiement du GSA</a:t>
            </a:r>
          </a:p>
        </p:txBody>
      </p:sp>
      <p:sp>
        <p:nvSpPr>
          <p:cNvPr id="32770" name="Sous-titre 2"/>
          <p:cNvSpPr>
            <a:spLocks noGrp="1"/>
          </p:cNvSpPr>
          <p:nvPr>
            <p:ph type="subTitle" idx="4294967295"/>
          </p:nvPr>
        </p:nvSpPr>
        <p:spPr>
          <a:xfrm>
            <a:off x="1524000" y="1673225"/>
            <a:ext cx="9144000" cy="4303713"/>
          </a:xfrm>
        </p:spPr>
        <p:txBody>
          <a:bodyPr/>
          <a:lstStyle/>
          <a:p>
            <a:pPr marL="742950" lvl="1" indent="-285750" eaLnBrk="1" hangingPunct="1">
              <a:buFont typeface="Arial" charset="0"/>
              <a:buNone/>
            </a:pPr>
            <a:r>
              <a:rPr lang="fr-FR" sz="2800" smtClean="0"/>
              <a:t>Haute disponibilité, tolérance de panne et répartition de charge</a:t>
            </a:r>
          </a:p>
          <a:p>
            <a:pPr marL="742950" lvl="1" indent="-285750" eaLnBrk="1" hangingPunct="1">
              <a:buFont typeface="Arial" charset="0"/>
              <a:buNone/>
            </a:pPr>
            <a:endParaRPr lang="fr-FR" sz="2800" smtClean="0"/>
          </a:p>
          <a:p>
            <a:pPr marL="742950" lvl="1" indent="-285750" eaLnBrk="1" hangingPunct="1">
              <a:buFont typeface="Arial" charset="0"/>
              <a:buNone/>
            </a:pPr>
            <a:r>
              <a:rPr lang="fr-FR" sz="2800" smtClean="0"/>
              <a:t>3 types d’architecture</a:t>
            </a:r>
          </a:p>
          <a:p>
            <a:pPr lvl="2" eaLnBrk="1" hangingPunct="1"/>
            <a:r>
              <a:rPr lang="fr-FR" sz="2400" smtClean="0"/>
              <a:t>GSAn mirroring</a:t>
            </a:r>
          </a:p>
          <a:p>
            <a:pPr lvl="2" eaLnBrk="1" hangingPunct="1"/>
            <a:r>
              <a:rPr lang="fr-FR" sz="2400" smtClean="0"/>
              <a:t>GSA unification</a:t>
            </a:r>
          </a:p>
          <a:p>
            <a:pPr lvl="2" eaLnBrk="1" hangingPunct="1"/>
            <a:r>
              <a:rPr lang="fr-FR" sz="2400" smtClean="0"/>
              <a:t>GSAn distributed crawling and serving</a:t>
            </a:r>
          </a:p>
          <a:p>
            <a:pPr marL="342900" indent="-342900" eaLnBrk="1" hangingPunct="1"/>
            <a:endParaRPr lang="fr-FR" sz="2400" smtClean="0"/>
          </a:p>
        </p:txBody>
      </p:sp>
      <p:pic>
        <p:nvPicPr>
          <p:cNvPr id="32771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891CCADB-D0DF-4130-AE05-C5B881CAF795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10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836613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Mirroring</a:t>
            </a:r>
          </a:p>
        </p:txBody>
      </p:sp>
      <p:pic>
        <p:nvPicPr>
          <p:cNvPr id="34818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92963027-7B12-4BD2-BAE4-8B50F948AA7F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11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3482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13150" y="1068388"/>
            <a:ext cx="7820025" cy="465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2" name="Text Box 8"/>
          <p:cNvSpPr txBox="1">
            <a:spLocks noChangeArrowheads="1"/>
          </p:cNvSpPr>
          <p:nvPr/>
        </p:nvSpPr>
        <p:spPr bwMode="auto">
          <a:xfrm>
            <a:off x="409575" y="1539875"/>
            <a:ext cx="3500438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-"/>
            </a:pPr>
            <a:r>
              <a:rPr lang="fr-FR" sz="2000"/>
              <a:t>Réplication index entre GSA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fr-FR" sz="2000"/>
              <a:t> Actif/Actif, Actif/Passif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fr-FR" sz="2000"/>
              <a:t> Crawl/index sur GSA primaire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fr-FR" sz="2000"/>
              <a:t> Administration sur GSA primaire</a:t>
            </a:r>
          </a:p>
          <a:p>
            <a:pPr>
              <a:spcBef>
                <a:spcPct val="50000"/>
              </a:spcBef>
              <a:buFontTx/>
              <a:buChar char="-"/>
            </a:pPr>
            <a:endParaRPr lang="fr-FR" sz="2000"/>
          </a:p>
          <a:p>
            <a:pPr>
              <a:spcBef>
                <a:spcPct val="50000"/>
              </a:spcBef>
              <a:buFontTx/>
              <a:buChar char="-"/>
            </a:pP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849313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Unification</a:t>
            </a:r>
          </a:p>
        </p:txBody>
      </p:sp>
      <p:pic>
        <p:nvPicPr>
          <p:cNvPr id="36866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2BB489CB-8B2F-407F-81B5-1FE46BCBB98F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12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36869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09975" y="1095375"/>
            <a:ext cx="8054975" cy="470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0" name="Text Box 7"/>
          <p:cNvSpPr txBox="1">
            <a:spLocks noChangeArrowheads="1"/>
          </p:cNvSpPr>
          <p:nvPr/>
        </p:nvSpPr>
        <p:spPr bwMode="auto">
          <a:xfrm>
            <a:off x="757238" y="1250950"/>
            <a:ext cx="2863850" cy="390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-"/>
            </a:pPr>
            <a:r>
              <a:rPr lang="fr-FR" sz="2000"/>
              <a:t> Etend les capacité du GSA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fr-FR" sz="2000"/>
              <a:t>Permet de localiser GSA sur différents sites géographiques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fr-FR" sz="2000"/>
              <a:t> 1 GSA primaire, 1 ou plusieurs GSA secondaires</a:t>
            </a:r>
          </a:p>
          <a:p>
            <a:pPr>
              <a:spcBef>
                <a:spcPct val="50000"/>
              </a:spcBef>
            </a:pPr>
            <a:r>
              <a:rPr lang="fr-FR" sz="2000"/>
              <a:t>- GSA doivent avoir le même niveau de logiciel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849313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Distribuée</a:t>
            </a:r>
          </a:p>
        </p:txBody>
      </p:sp>
      <p:pic>
        <p:nvPicPr>
          <p:cNvPr id="38914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892F61FE-357A-4E49-859C-3EA9D6208177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13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38917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40238" y="1177925"/>
            <a:ext cx="7107237" cy="472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8" name="Text Box 8"/>
          <p:cNvSpPr txBox="1">
            <a:spLocks noChangeArrowheads="1"/>
          </p:cNvSpPr>
          <p:nvPr/>
        </p:nvSpPr>
        <p:spPr bwMode="auto">
          <a:xfrm>
            <a:off x="588963" y="1479550"/>
            <a:ext cx="3297237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-"/>
            </a:pPr>
            <a:r>
              <a:rPr lang="fr-FR" sz="2000"/>
              <a:t> Etend les capacités du GSA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fr-FR" sz="2000"/>
              <a:t> Configuration sur master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fr-FR" sz="2000"/>
              <a:t> GSA doivent être de même model et même logiciels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fr-FR" sz="2000"/>
              <a:t> Nécessite une bande passante élevée</a:t>
            </a:r>
          </a:p>
          <a:p>
            <a:pPr>
              <a:spcBef>
                <a:spcPct val="50000"/>
              </a:spcBef>
              <a:buFontTx/>
              <a:buChar char="-"/>
            </a:pPr>
            <a:endParaRPr lang="fr-FR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873125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Principales fonctionnalités</a:t>
            </a:r>
          </a:p>
        </p:txBody>
      </p:sp>
      <p:sp>
        <p:nvSpPr>
          <p:cNvPr id="40962" name="Sous-titre 2"/>
          <p:cNvSpPr>
            <a:spLocks noGrp="1"/>
          </p:cNvSpPr>
          <p:nvPr>
            <p:ph type="subTitle" idx="4294967295"/>
          </p:nvPr>
        </p:nvSpPr>
        <p:spPr>
          <a:xfrm>
            <a:off x="1524000" y="1120775"/>
            <a:ext cx="9144000" cy="4303713"/>
          </a:xfrm>
        </p:spPr>
        <p:txBody>
          <a:bodyPr/>
          <a:lstStyle/>
          <a:p>
            <a:pPr marL="742950" lvl="1" indent="-285750" eaLnBrk="1" hangingPunct="1">
              <a:buFont typeface="Arial" charset="0"/>
              <a:buNone/>
            </a:pPr>
            <a:r>
              <a:rPr lang="fr-FR" sz="2800" smtClean="0"/>
              <a:t>Fonctionnalités offertes à l’utilisateur final</a:t>
            </a:r>
          </a:p>
          <a:p>
            <a:pPr marL="742950" lvl="1" indent="-285750" eaLnBrk="1" hangingPunct="1"/>
            <a:endParaRPr lang="fr-FR" sz="2800" smtClean="0"/>
          </a:p>
          <a:p>
            <a:pPr lvl="2" eaLnBrk="1" hangingPunct="1"/>
            <a:r>
              <a:rPr lang="fr-FR" sz="2400" smtClean="0"/>
              <a:t>Suggestion de requête </a:t>
            </a:r>
          </a:p>
          <a:p>
            <a:pPr lvl="2" eaLnBrk="1" hangingPunct="1"/>
            <a:r>
              <a:rPr lang="fr-FR" sz="2400" smtClean="0"/>
              <a:t>Recherche communautaires</a:t>
            </a:r>
          </a:p>
          <a:p>
            <a:pPr lvl="2" eaLnBrk="1" hangingPunct="1"/>
            <a:r>
              <a:rPr lang="fr-FR" sz="2400" smtClean="0"/>
              <a:t>Recherche personnalisée (adapter résultats en fonction du groupe/service)</a:t>
            </a:r>
          </a:p>
          <a:p>
            <a:pPr lvl="2" eaLnBrk="1" hangingPunct="1"/>
            <a:r>
              <a:rPr lang="fr-FR" sz="2400" smtClean="0"/>
              <a:t>Requête associée (définir synonyme) </a:t>
            </a:r>
          </a:p>
          <a:p>
            <a:pPr lvl="2" eaLnBrk="1" hangingPunct="1"/>
            <a:r>
              <a:rPr lang="fr-FR" sz="2400" smtClean="0"/>
              <a:t>Résumé dynamique de page (extrait de la page)</a:t>
            </a:r>
          </a:p>
          <a:p>
            <a:pPr lvl="2" eaLnBrk="1" hangingPunct="1"/>
            <a:r>
              <a:rPr lang="fr-FR" sz="2400" smtClean="0"/>
              <a:t>Mise en cache des pages </a:t>
            </a:r>
          </a:p>
          <a:p>
            <a:pPr lvl="2" eaLnBrk="1" hangingPunct="1"/>
            <a:r>
              <a:rPr lang="fr-FR" sz="2400" smtClean="0"/>
              <a:t>Recherche par période, plage de nombres, booléenne avancée</a:t>
            </a:r>
          </a:p>
          <a:p>
            <a:pPr marL="342900" indent="-342900" eaLnBrk="1" hangingPunct="1"/>
            <a:endParaRPr lang="fr-FR" sz="2400" smtClean="0"/>
          </a:p>
        </p:txBody>
      </p:sp>
      <p:pic>
        <p:nvPicPr>
          <p:cNvPr id="40963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299C0136-C826-4A44-976D-CD4608996834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14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812800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Principales fonctionnalités</a:t>
            </a:r>
          </a:p>
        </p:txBody>
      </p:sp>
      <p:sp>
        <p:nvSpPr>
          <p:cNvPr id="43010" name="Sous-titre 2"/>
          <p:cNvSpPr>
            <a:spLocks noGrp="1"/>
          </p:cNvSpPr>
          <p:nvPr>
            <p:ph type="subTitle" idx="4294967295"/>
          </p:nvPr>
        </p:nvSpPr>
        <p:spPr>
          <a:xfrm>
            <a:off x="1512888" y="1062038"/>
            <a:ext cx="9144000" cy="4578350"/>
          </a:xfrm>
        </p:spPr>
        <p:txBody>
          <a:bodyPr/>
          <a:lstStyle/>
          <a:p>
            <a:pPr marL="742950" lvl="1" indent="-285750" eaLnBrk="1" hangingPunct="1">
              <a:buFont typeface="Arial" charset="0"/>
              <a:buNone/>
            </a:pPr>
            <a:r>
              <a:rPr lang="fr-FR" sz="2800" smtClean="0"/>
              <a:t>Administration</a:t>
            </a:r>
          </a:p>
          <a:p>
            <a:pPr marL="742950" lvl="1" indent="-285750" eaLnBrk="1" hangingPunct="1">
              <a:buFont typeface="Arial" charset="0"/>
              <a:buNone/>
            </a:pPr>
            <a:endParaRPr lang="fr-FR" sz="2800" smtClean="0"/>
          </a:p>
          <a:p>
            <a:pPr lvl="2" eaLnBrk="1" hangingPunct="1"/>
            <a:r>
              <a:rPr lang="fr-FR" sz="2400" smtClean="0"/>
              <a:t>Console d’administration Web</a:t>
            </a:r>
          </a:p>
          <a:p>
            <a:pPr lvl="2" eaLnBrk="1" hangingPunct="1"/>
            <a:r>
              <a:rPr lang="fr-FR" sz="2400" smtClean="0"/>
              <a:t>Contrôle SNMP (état du système, stat d’exploration)</a:t>
            </a:r>
          </a:p>
          <a:p>
            <a:pPr lvl="2" eaLnBrk="1" hangingPunct="1"/>
            <a:r>
              <a:rPr lang="fr-FR" sz="2400" smtClean="0"/>
              <a:t>Intégration de Google Analytics pour les sites web publique</a:t>
            </a:r>
          </a:p>
          <a:p>
            <a:pPr lvl="2" eaLnBrk="1" hangingPunct="1"/>
            <a:r>
              <a:rPr lang="fr-FR" sz="2400" smtClean="0"/>
              <a:t>Interface personnalisée (feuilles de style XSLT, assistant de conception de modèle)</a:t>
            </a:r>
          </a:p>
          <a:p>
            <a:pPr lvl="2" eaLnBrk="1" hangingPunct="1"/>
            <a:r>
              <a:rPr lang="fr-FR" sz="2400" smtClean="0"/>
              <a:t>Authentification (LDAP, NTLM, Kerberos…)</a:t>
            </a:r>
          </a:p>
          <a:p>
            <a:pPr lvl="2" eaLnBrk="1" hangingPunct="1"/>
            <a:r>
              <a:rPr lang="fr-FR" sz="2400" smtClean="0"/>
              <a:t>Connecteurs de contenu (interface SPI)</a:t>
            </a:r>
          </a:p>
          <a:p>
            <a:pPr marL="342900" indent="-342900" eaLnBrk="1" hangingPunct="1"/>
            <a:endParaRPr lang="fr-FR" sz="2400" smtClean="0"/>
          </a:p>
        </p:txBody>
      </p:sp>
      <p:pic>
        <p:nvPicPr>
          <p:cNvPr id="43011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5FAA82AA-DB09-4BCA-9512-4DB604BDCDB9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15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825500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45058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46AF1EED-5169-4B04-B441-719E2A624A35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16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4506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00375" y="1085850"/>
            <a:ext cx="5648325" cy="518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144463"/>
            <a:ext cx="8434388" cy="608012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47106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4F9DE836-2180-4283-B96D-E9B3BEF5DF07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17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47109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82675" y="774700"/>
            <a:ext cx="10037763" cy="529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752475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49154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F2AC45AC-C119-4111-97BE-5664CB481D58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18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49157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68500" y="2224088"/>
            <a:ext cx="8256588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741363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51202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8C6D9507-2D17-412B-B713-7CA20C3B331A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19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5120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35113" y="1014413"/>
            <a:ext cx="9123362" cy="482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717550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53250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05922419-825B-4DB3-8A23-46CBE912D6E7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20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53253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3850" y="1471613"/>
            <a:ext cx="11545888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777875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55298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3A1C4AA-98DE-4C88-A3CC-45C1BD357A81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21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55301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4025" y="1276350"/>
            <a:ext cx="11285538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re 1"/>
          <p:cNvSpPr>
            <a:spLocks noGrp="1"/>
          </p:cNvSpPr>
          <p:nvPr>
            <p:ph type="ctrTitle" idx="4294967295"/>
          </p:nvPr>
        </p:nvSpPr>
        <p:spPr>
          <a:xfrm>
            <a:off x="1595438" y="180975"/>
            <a:ext cx="9144000" cy="633413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57346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8B848793-14B3-4F92-88E0-68928ED679C4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22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57349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98525" y="927100"/>
            <a:ext cx="10963275" cy="518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704850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59394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9FBF7DE5-CEA1-4738-B7BD-AFB230DB948F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23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59397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97000" y="942975"/>
            <a:ext cx="9399588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692150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61442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346A4E1-68B4-496E-AF61-F4CF3A846EB4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24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6144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54063" y="1524000"/>
            <a:ext cx="10685462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r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681038"/>
          </a:xfrm>
        </p:spPr>
        <p:txBody>
          <a:bodyPr/>
          <a:lstStyle/>
          <a:p>
            <a:pPr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63490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-1128713" y="6375400"/>
            <a:ext cx="4114801" cy="365125"/>
          </a:xfrm>
        </p:spPr>
        <p:txBody>
          <a:bodyPr/>
          <a:lstStyle/>
          <a:p>
            <a:pPr>
              <a:defRPr/>
            </a:pPr>
            <a:r>
              <a:rPr lang="fr-FR" sz="1400" dirty="0"/>
              <a:t>Stéphane LY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493390-0263-4751-87CD-DA596CB42549}" type="slidenum">
              <a:rPr lang="fr-FR"/>
              <a:pPr>
                <a:defRPr/>
              </a:pPr>
              <a:t>25</a:t>
            </a:fld>
            <a:endParaRPr lang="fr-FR"/>
          </a:p>
        </p:txBody>
      </p:sp>
      <p:pic>
        <p:nvPicPr>
          <p:cNvPr id="63493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4813" y="720725"/>
            <a:ext cx="11323637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re 1"/>
          <p:cNvSpPr>
            <a:spLocks noGrp="1"/>
          </p:cNvSpPr>
          <p:nvPr>
            <p:ph type="ctrTitle" idx="4294967295"/>
          </p:nvPr>
        </p:nvSpPr>
        <p:spPr>
          <a:xfrm>
            <a:off x="1536700" y="144463"/>
            <a:ext cx="9144000" cy="681037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65538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E848E6C-4182-4309-90F3-318A6C788C01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26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65541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96988" y="798513"/>
            <a:ext cx="9599612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681038"/>
          </a:xfrm>
        </p:spPr>
        <p:txBody>
          <a:bodyPr anchor="b"/>
          <a:lstStyle/>
          <a:p>
            <a:pPr algn="ctr" eaLnBrk="1" hangingPunct="1"/>
            <a:r>
              <a:rPr lang="fr-FR" sz="4000" smtClean="0"/>
              <a:t>Principe de fonctionnement</a:t>
            </a:r>
          </a:p>
        </p:txBody>
      </p:sp>
      <p:pic>
        <p:nvPicPr>
          <p:cNvPr id="67586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DD3958B2-1485-4797-9759-9D24A84C5CCE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27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67589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09688" y="134938"/>
            <a:ext cx="8499475" cy="584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re 1"/>
          <p:cNvSpPr>
            <a:spLocks noGrp="1"/>
          </p:cNvSpPr>
          <p:nvPr>
            <p:ph type="ctrTitle" idx="4294967295"/>
          </p:nvPr>
        </p:nvSpPr>
        <p:spPr>
          <a:xfrm>
            <a:off x="1511300" y="144463"/>
            <a:ext cx="9144000" cy="681037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69634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2E997FA9-510A-4E2F-B8A8-9BFEEA428D91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28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69637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54150" y="2109788"/>
            <a:ext cx="9285288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169863"/>
            <a:ext cx="9144000" cy="681037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71682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7022AED8-979D-4A81-8004-489DCBBB9B3E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29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7168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11288" y="1676400"/>
            <a:ext cx="9371012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re 1"/>
          <p:cNvSpPr>
            <a:spLocks noGrp="1"/>
          </p:cNvSpPr>
          <p:nvPr>
            <p:ph type="ctrTitle" idx="4294967295"/>
          </p:nvPr>
        </p:nvSpPr>
        <p:spPr>
          <a:xfrm>
            <a:off x="1500188" y="144463"/>
            <a:ext cx="9144000" cy="681037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73730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AA71EF29-4D07-4597-A03E-61099409D763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30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73733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5763" y="1476375"/>
            <a:ext cx="11422062" cy="390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681038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75778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081BEBB1-D83B-4FCC-82DC-A909528B0733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31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7578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96938" y="688975"/>
            <a:ext cx="9136062" cy="542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re 1"/>
          <p:cNvSpPr>
            <a:spLocks noGrp="1"/>
          </p:cNvSpPr>
          <p:nvPr>
            <p:ph type="ctrTitle" idx="4294967295"/>
          </p:nvPr>
        </p:nvSpPr>
        <p:spPr>
          <a:xfrm>
            <a:off x="1500188" y="144463"/>
            <a:ext cx="9144000" cy="681037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77826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31D96696-63DC-424C-942B-ABD3EF4825D4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32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77829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0688" y="1666875"/>
            <a:ext cx="11352212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itre 1"/>
          <p:cNvSpPr>
            <a:spLocks noGrp="1"/>
          </p:cNvSpPr>
          <p:nvPr>
            <p:ph type="ctrTitle" idx="4294967295"/>
          </p:nvPr>
        </p:nvSpPr>
        <p:spPr>
          <a:xfrm>
            <a:off x="1444625" y="106363"/>
            <a:ext cx="9144000" cy="681037"/>
          </a:xfrm>
        </p:spPr>
        <p:txBody>
          <a:bodyPr anchor="b"/>
          <a:lstStyle/>
          <a:p>
            <a:pPr algn="ctr" eaLnBrk="1" hangingPunct="1"/>
            <a:r>
              <a:rPr lang="fr-FR" sz="4800" smtClean="0"/>
              <a:t>Mise en œuvre chez GMF</a:t>
            </a:r>
          </a:p>
        </p:txBody>
      </p:sp>
      <p:pic>
        <p:nvPicPr>
          <p:cNvPr id="79874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78661CAE-3C33-4769-8C6A-30781E0BE666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33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79877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9725" y="1157288"/>
            <a:ext cx="11514138" cy="454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860425"/>
          </a:xfrm>
        </p:spPr>
        <p:txBody>
          <a:bodyPr anchor="b"/>
          <a:lstStyle/>
          <a:p>
            <a:pPr algn="ctr" eaLnBrk="1" hangingPunct="1"/>
            <a:r>
              <a:rPr lang="fr-FR" sz="5400" smtClean="0"/>
              <a:t>Conclusion</a:t>
            </a:r>
          </a:p>
        </p:txBody>
      </p:sp>
      <p:sp>
        <p:nvSpPr>
          <p:cNvPr id="81922" name="Sous-titre 2"/>
          <p:cNvSpPr>
            <a:spLocks noGrp="1"/>
          </p:cNvSpPr>
          <p:nvPr>
            <p:ph type="subTitle" idx="4294967295"/>
          </p:nvPr>
        </p:nvSpPr>
        <p:spPr>
          <a:xfrm>
            <a:off x="1524000" y="1673225"/>
            <a:ext cx="9144000" cy="4303713"/>
          </a:xfrm>
        </p:spPr>
        <p:txBody>
          <a:bodyPr/>
          <a:lstStyle/>
          <a:p>
            <a:pPr marL="342900" indent="-342900" eaLnBrk="1" hangingPunct="1"/>
            <a:r>
              <a:rPr lang="fr-FR" smtClean="0"/>
              <a:t>GSA solution « clé en main », mise en œuvre rapide et simple</a:t>
            </a:r>
          </a:p>
          <a:p>
            <a:pPr marL="342900" indent="-342900" eaLnBrk="1" hangingPunct="1"/>
            <a:r>
              <a:rPr lang="fr-FR" smtClean="0"/>
              <a:t>Technologie et savoir faire Google </a:t>
            </a:r>
          </a:p>
          <a:p>
            <a:pPr marL="342900" indent="-342900" eaLnBrk="1" hangingPunct="1"/>
            <a:r>
              <a:rPr lang="fr-FR" smtClean="0"/>
              <a:t>Solution évolutive (scalabilité…)</a:t>
            </a:r>
          </a:p>
          <a:p>
            <a:pPr marL="342900" indent="-342900" eaLnBrk="1" hangingPunct="1"/>
            <a:r>
              <a:rPr lang="fr-FR" smtClean="0"/>
              <a:t>ROI intéressant</a:t>
            </a:r>
          </a:p>
          <a:p>
            <a:pPr marL="342900" indent="-342900" eaLnBrk="1" hangingPunct="1"/>
            <a:endParaRPr lang="fr-FR" smtClean="0"/>
          </a:p>
          <a:p>
            <a:pPr marL="342900" indent="-342900" eaLnBrk="1" hangingPunct="1"/>
            <a:r>
              <a:rPr lang="fr-FR" smtClean="0"/>
              <a:t>Coût élevé pour les petites entreprises</a:t>
            </a:r>
          </a:p>
          <a:p>
            <a:pPr marL="342900" indent="-342900" eaLnBrk="1" hangingPunct="1">
              <a:buFont typeface="Arial" charset="0"/>
              <a:buNone/>
            </a:pPr>
            <a:endParaRPr lang="fr-FR" smtClean="0"/>
          </a:p>
        </p:txBody>
      </p:sp>
      <p:pic>
        <p:nvPicPr>
          <p:cNvPr id="81923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56B8CF31-7932-4108-9585-F8D7D58EA549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34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0"/>
            <a:ext cx="9144000" cy="860425"/>
          </a:xfrm>
        </p:spPr>
        <p:txBody>
          <a:bodyPr anchor="b"/>
          <a:lstStyle/>
          <a:p>
            <a:pPr algn="ctr" eaLnBrk="1" hangingPunct="1"/>
            <a:r>
              <a:rPr lang="fr-FR" sz="5400" smtClean="0"/>
              <a:t>Google Search Appliance</a:t>
            </a:r>
          </a:p>
        </p:txBody>
      </p:sp>
      <p:sp>
        <p:nvSpPr>
          <p:cNvPr id="83970" name="Sous-titre 2"/>
          <p:cNvSpPr>
            <a:spLocks noGrp="1"/>
          </p:cNvSpPr>
          <p:nvPr>
            <p:ph type="subTitle" idx="4294967295"/>
          </p:nvPr>
        </p:nvSpPr>
        <p:spPr>
          <a:xfrm>
            <a:off x="4246563" y="2441575"/>
            <a:ext cx="8262937" cy="1154113"/>
          </a:xfrm>
        </p:spPr>
        <p:txBody>
          <a:bodyPr/>
          <a:lstStyle/>
          <a:p>
            <a:pPr marL="342900" indent="-342900" algn="ctr" eaLnBrk="1" hangingPunct="1">
              <a:buFont typeface="Arial" charset="0"/>
              <a:buNone/>
            </a:pPr>
            <a:r>
              <a:rPr lang="fr-FR" sz="4400" smtClean="0"/>
              <a:t>Merci pour votre attention !</a:t>
            </a:r>
          </a:p>
          <a:p>
            <a:pPr marL="342900" indent="-342900" eaLnBrk="1" hangingPunct="1">
              <a:buFont typeface="Arial" charset="0"/>
              <a:buNone/>
            </a:pPr>
            <a:endParaRPr lang="fr-FR" smtClean="0"/>
          </a:p>
        </p:txBody>
      </p:sp>
      <p:pic>
        <p:nvPicPr>
          <p:cNvPr id="83971" name="Imag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9475" y="5976938"/>
            <a:ext cx="22479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 txBox="1">
            <a:spLocks noGrp="1"/>
          </p:cNvSpPr>
          <p:nvPr/>
        </p:nvSpPr>
        <p:spPr>
          <a:xfrm>
            <a:off x="-1128713" y="6375400"/>
            <a:ext cx="4114801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solidFill>
                  <a:schemeClr val="tx1">
                    <a:tint val="75000"/>
                  </a:schemeClr>
                </a:solidFill>
                <a:latin typeface="+mn-lt"/>
              </a:rPr>
              <a:t>Stéphane LY</a:t>
            </a:r>
          </a:p>
        </p:txBody>
      </p:sp>
      <p:sp>
        <p:nvSpPr>
          <p:cNvPr id="4" name="Espace réservé du numéro de diapositive 3"/>
          <p:cNvSpPr txBox="1"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3A72FAB7-C52F-447B-81B5-60743CE25F8C}" type="slidenum">
              <a:rPr lang="fr-FR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35</a:t>
            </a:fld>
            <a:endParaRPr lang="fr-FR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839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825500"/>
            <a:ext cx="4913313" cy="553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xmlns:a="http://schemas.openxmlformats.org/drawingml/2006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xmlns:a="http://schemas.openxmlformats.org/drawingml/2006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4019</TotalTime>
  <Words>920</Words>
  <Application>Microsoft Office PowerPoint</Application>
  <PresentationFormat>Personnalisé</PresentationFormat>
  <Paragraphs>229</Paragraphs>
  <Slides>35</Slides>
  <Notes>35</Notes>
  <HiddenSlides>0</HiddenSlides>
  <MMClips>0</MMClips>
  <ScaleCrop>false</ScaleCrop>
  <HeadingPairs>
    <vt:vector size="4" baseType="variant"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6" baseType="lpstr">
      <vt:lpstr>Thème Office</vt:lpstr>
      <vt:lpstr>Google Search Appliance</vt:lpstr>
      <vt:lpstr>Plan de la présentation</vt:lpstr>
      <vt:lpstr>Introduction</vt:lpstr>
      <vt:lpstr>Introduction</vt:lpstr>
      <vt:lpstr>Les solutions de Google</vt:lpstr>
      <vt:lpstr>Principe de fonctionnement</vt:lpstr>
      <vt:lpstr>Principe de fonctionnement</vt:lpstr>
      <vt:lpstr>Principe de fonctionnement</vt:lpstr>
      <vt:lpstr>Principe de fonctionnement</vt:lpstr>
      <vt:lpstr>Le déploiement du GSA</vt:lpstr>
      <vt:lpstr>Mirroring</vt:lpstr>
      <vt:lpstr>Unification</vt:lpstr>
      <vt:lpstr>Distribuée</vt:lpstr>
      <vt:lpstr>Principales fonctionnalités</vt:lpstr>
      <vt:lpstr>Principales fonctionnalités</vt:lpstr>
      <vt:lpstr>Mise en œuvre chez GMF</vt:lpstr>
      <vt:lpstr>Mise en œuvre chez GMF</vt:lpstr>
      <vt:lpstr>Mise en œuvre chez GMF</vt:lpstr>
      <vt:lpstr>Mise en œuvre chez GMF</vt:lpstr>
      <vt:lpstr>Mise en œuvre chez GMF</vt:lpstr>
      <vt:lpstr>Mise en œuvre chez GMF</vt:lpstr>
      <vt:lpstr>Mise en œuvre chez GMF</vt:lpstr>
      <vt:lpstr>Mise en œuvre chez GMF</vt:lpstr>
      <vt:lpstr>Mise en œuvre chez GMF</vt:lpstr>
      <vt:lpstr>Mise en œuvre chez GMF</vt:lpstr>
      <vt:lpstr>Mise en œuvre chez GMF</vt:lpstr>
      <vt:lpstr>Principe de fonctionnement</vt:lpstr>
      <vt:lpstr>Mise en œuvre chez GMF</vt:lpstr>
      <vt:lpstr>Mise en œuvre chez GMF</vt:lpstr>
      <vt:lpstr>Mise en œuvre chez GMF</vt:lpstr>
      <vt:lpstr>Mise en œuvre chez GMF</vt:lpstr>
      <vt:lpstr>Mise en œuvre chez GMF</vt:lpstr>
      <vt:lpstr>Mise en œuvre chez GMF</vt:lpstr>
      <vt:lpstr>Conclusion</vt:lpstr>
      <vt:lpstr>Google Search Appliance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</dc:creator>
  <cp:lastModifiedBy>philippe</cp:lastModifiedBy>
  <cp:revision>714</cp:revision>
  <dcterms:created xsi:type="dcterms:W3CDTF">2014-02-03T09:50:41Z</dcterms:created>
  <dcterms:modified xsi:type="dcterms:W3CDTF">2014-02-03T09:51:08Z</dcterms:modified>
</cp:coreProperties>
</file>
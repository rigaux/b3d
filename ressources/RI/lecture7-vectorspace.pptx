
<file path=[Content_Types].xml><?xml version="1.0" encoding="utf-8"?>
<Types xmlns="http://schemas.openxmlformats.org/package/2006/content-types"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slides/slide38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embeddings/Microsoft_Equation3.bin" ContentType="application/vnd.openxmlformats-officedocument.oleObject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jpeg" ContentType="image/jpeg"/>
  <Override PartName="/docProps/app.xml" ContentType="application/vnd.openxmlformats-officedocument.extended-properties+xml"/>
  <Override PartName="/ppt/slides/slide46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42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39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.xml" ContentType="application/vnd.openxmlformats-officedocument.presentationml.slide+xml"/>
  <Override PartName="/ppt/embeddings/Microsoft_Equation4.bin" ContentType="application/vnd.openxmlformats-officedocument.oleObject"/>
  <Override PartName="/ppt/theme/theme3.xml" ContentType="application/vnd.openxmlformats-officedocument.theme+xml"/>
  <Override PartName="/ppt/slideLayouts/slideLayout2.xml" ContentType="application/vnd.openxmlformats-officedocument.presentationml.slideLayout+xml"/>
  <Default Extension="png" ContentType="image/png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47.xml" ContentType="application/vnd.openxmlformats-officedocument.presentationml.slide+xml"/>
  <Override PartName="/ppt/slides/slide43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36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embeddings/Microsoft_Equation1.bin" ContentType="application/vnd.openxmlformats-officedocument.oleObject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29.xml" ContentType="application/vnd.openxmlformats-officedocument.presentationml.slide+xml"/>
  <Default Extension="wmf" ContentType="image/x-wmf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embeddings/Microsoft_Equation2.bin" ContentType="application/vnd.openxmlformats-officedocument.oleObject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r:id="rId1"/>
  </p:sldMasterIdLst>
  <p:notesMasterIdLst>
    <p:notesMasterId r:id="rId50"/>
  </p:notesMasterIdLst>
  <p:handoutMasterIdLst>
    <p:handoutMasterId r:id="rId51"/>
  </p:handoutMasterIdLst>
  <p:sldIdLst>
    <p:sldId id="258" r:id="rId2"/>
    <p:sldId id="30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Lucida Sans" pitchFamily="34" charset="0"/>
        <a:ea typeface="Arial Unicode MS" pitchFamily="34" charset="-128"/>
        <a:cs typeface="Arial Unicode MS" pitchFamily="34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handouts6" clrMode="bw" frameSlides="1"/>
  <p:clrMru>
    <a:srgbClr val="B2B2B2"/>
    <a:srgbClr val="FF9966"/>
    <a:srgbClr val="F4F3EB"/>
    <a:srgbClr val="F0EEEB"/>
    <a:srgbClr val="00A000"/>
    <a:srgbClr val="A40508"/>
    <a:srgbClr val="A50021"/>
    <a:srgbClr val="006600"/>
  </p:clrMru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SorterView">
  <p:normalViewPr showOutlineIcons="0" snapVertSplitter="1" vertBarState="minimized" horzBarState="maximized">
    <p:restoredLeft sz="10551" autoAdjust="0"/>
    <p:restoredTop sz="94660"/>
  </p:normalViewPr>
  <p:slideViewPr>
    <p:cSldViewPr>
      <p:cViewPr varScale="1">
        <p:scale>
          <a:sx n="134" d="100"/>
          <a:sy n="134" d="100"/>
        </p:scale>
        <p:origin x="-182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65536" y="134578176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interSettings" Target="printerSettings/printerSettings1.bin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fld id="{524DD6B1-7F0B-4A74-A686-48F44F06A4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51790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9B52384-065C-4051-A1FD-329B0B69B4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14985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3" y="1981200"/>
            <a:ext cx="30130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>
                <a:solidFill>
                  <a:srgbClr val="FBFCFF"/>
                </a:solidFill>
                <a:latin typeface="Calibri" charset="0"/>
                <a:ea typeface="Arial Unicode MS" charset="0"/>
                <a:cs typeface="Arial Unicode MS" charset="0"/>
              </a:rPr>
              <a:t>Introduction to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139CB7"/>
          </a:solidFill>
          <a:ln w="9525">
            <a:solidFill>
              <a:srgbClr val="406E84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3" y="2590800"/>
            <a:ext cx="5646737" cy="83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139CB7"/>
                </a:solidFill>
                <a:latin typeface="Calibri" charset="0"/>
                <a:ea typeface="Arial Unicode MS" charset="0"/>
                <a:cs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36220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C5D33C2-3C43-41E1-A701-63DFD07B23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95880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57DFDD-D8AE-47BF-B9CB-219AC7B1A3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2045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434B8-6DBB-46EF-8FEA-3B6085FDCB3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8230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79FCF6-E9C6-4F90-8968-62816ABA11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5103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D666C-5034-47B6-B653-FB9865D1E3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6106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E1040D-1D83-428B-B9DD-210A2073A4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9771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EB4B13-854B-4AB9-BE98-F25C55A5057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7097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258AC1-A4E0-4268-844B-769B15C758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1725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3A0546-51C6-431F-AF1E-361FD9ACB5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9118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024FD-77B4-4706-962C-767A83D04C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4887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DBA2C-974E-4FC3-9F37-0CB9FD84E5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9002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9D4288B-D56D-4F11-8184-107025E89DF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3733800" cy="274638"/>
          </a:xfrm>
          <a:prstGeom prst="rect">
            <a:avLst/>
          </a:prstGeom>
          <a:solidFill>
            <a:srgbClr val="0E4851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1600" i="1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Introduction to Information Retrieval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33800" y="0"/>
            <a:ext cx="3886200" cy="274638"/>
          </a:xfrm>
          <a:prstGeom prst="rect">
            <a:avLst/>
          </a:prstGeom>
          <a:solidFill>
            <a:srgbClr val="0E4851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160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620000" y="0"/>
            <a:ext cx="1524000" cy="274638"/>
          </a:xfrm>
          <a:prstGeom prst="rect">
            <a:avLst/>
          </a:prstGeom>
          <a:solidFill>
            <a:srgbClr val="139CB7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160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437085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Clr>
          <a:srgbClr val="357E69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918BA3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2F6E7E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233337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886200"/>
            <a:ext cx="7010400" cy="2362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CS276</a:t>
            </a:r>
            <a:br>
              <a:rPr lang="en-US" smtClean="0">
                <a:ea typeface="ＭＳ Ｐゴシック" pitchFamily="34" charset="-128"/>
              </a:rPr>
            </a:br>
            <a:r>
              <a:rPr lang="en-US" smtClean="0">
                <a:ea typeface="ＭＳ Ｐゴシック" pitchFamily="34" charset="-128"/>
                <a:cs typeface="Times New Roman" pitchFamily="18" charset="0"/>
              </a:rPr>
              <a:t>Information Retrieval and Web Search</a:t>
            </a:r>
          </a:p>
          <a:p>
            <a:pPr eaLnBrk="1" hangingPunct="1"/>
            <a:r>
              <a:rPr lang="en-US" smtClean="0">
                <a:ea typeface="ＭＳ Ｐゴシック" pitchFamily="34" charset="-128"/>
                <a:cs typeface="Times New Roman" pitchFamily="18" charset="0"/>
              </a:rPr>
              <a:t>Pandu Nayak and Prabhakar Raghavan</a:t>
            </a:r>
          </a:p>
          <a:p>
            <a:pPr eaLnBrk="1" hangingPunct="1"/>
            <a:r>
              <a:rPr lang="en-US" smtClean="0">
                <a:ea typeface="ＭＳ Ｐゴシック" pitchFamily="34" charset="-128"/>
              </a:rPr>
              <a:t>Lecture 7: Scoring and results assembly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Lecture 6 – I introduced a bug</a:t>
            </a:r>
          </a:p>
        </p:txBody>
      </p:sp>
      <p:sp>
        <p:nvSpPr>
          <p:cNvPr id="1029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53000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In my anxiety to avoid taking the log of zero, I rewrote</a:t>
            </a:r>
          </a:p>
          <a:p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as </a:t>
            </a:r>
          </a:p>
          <a:p>
            <a:pPr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103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fld id="{EF4518A9-AD95-44A4-BCA4-7CA3E9A70B79}" type="slidenum">
              <a:rPr lang="en-US" sz="1200">
                <a:solidFill>
                  <a:srgbClr val="898989"/>
                </a:solidFill>
                <a:latin typeface="Calibri" pitchFamily="34" charset="0"/>
              </a:rPr>
              <a:pPr eaLnBrk="1" hangingPunct="1"/>
              <a:t>2</a:t>
            </a:fld>
            <a:endParaRPr 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479550" y="2819400"/>
          <a:ext cx="5129213" cy="838200"/>
        </p:xfrm>
        <a:graphic>
          <a:graphicData uri="http://schemas.openxmlformats.org/presentationml/2006/ole">
            <p:oleObj spid="_x0000_s1032" name="Equation" r:id="rId3" imgW="2032000" imgH="457200" progId="Equation.3">
              <p:embed/>
            </p:oleObj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1320800" y="4343400"/>
          <a:ext cx="5384800" cy="838200"/>
        </p:xfrm>
        <a:graphic>
          <a:graphicData uri="http://schemas.openxmlformats.org/presentationml/2006/ole">
            <p:oleObj spid="_x0000_s1033" name="Equation" r:id="rId4" imgW="2133600" imgH="457200" progId="Equation.3">
              <p:embed/>
            </p:oleObj>
          </a:graphicData>
        </a:graphic>
      </p:graphicFrame>
      <p:sp>
        <p:nvSpPr>
          <p:cNvPr id="1031" name="TextBox 8"/>
          <p:cNvSpPr txBox="1">
            <a:spLocks noChangeArrowheads="1"/>
          </p:cNvSpPr>
          <p:nvPr/>
        </p:nvSpPr>
        <p:spPr bwMode="auto">
          <a:xfrm>
            <a:off x="152400" y="5791200"/>
            <a:ext cx="8931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In fact this was unnecessary, since the zero case is treated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</a:rPr>
              <a:t>specially above; net the FIRST version above is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Recap: tf-idf weighting</a:t>
            </a:r>
          </a:p>
        </p:txBody>
      </p:sp>
      <p:sp>
        <p:nvSpPr>
          <p:cNvPr id="2052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458200" cy="48768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The tf-idf weight of a term is the product of its tf weight and its idf weight.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  <a:p>
            <a:pPr eaLnBrk="1" hangingPunct="1"/>
            <a:r>
              <a:rPr lang="en-US" smtClean="0">
                <a:ea typeface="ＭＳ Ｐゴシック" pitchFamily="34" charset="-128"/>
              </a:rPr>
              <a:t>Best known weighting scheme in information retrieval</a:t>
            </a:r>
          </a:p>
          <a:p>
            <a:pPr eaLnBrk="1" hangingPunct="1"/>
            <a:r>
              <a:rPr lang="en-US" smtClean="0">
                <a:ea typeface="ＭＳ Ｐゴシック" pitchFamily="34" charset="-128"/>
              </a:rPr>
              <a:t>Increases with the number of occurrences within a document</a:t>
            </a:r>
          </a:p>
          <a:p>
            <a:pPr eaLnBrk="1" hangingPunct="1"/>
            <a:r>
              <a:rPr lang="en-US" smtClean="0">
                <a:ea typeface="ＭＳ Ｐゴシック" pitchFamily="34" charset="-128"/>
              </a:rPr>
              <a:t>Increases with the rarity of the term in the collection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123950" y="2743200"/>
          <a:ext cx="6670675" cy="766763"/>
        </p:xfrm>
        <a:graphic>
          <a:graphicData uri="http://schemas.openxmlformats.org/presentationml/2006/ole">
            <p:oleObj spid="_x0000_s2054" name="Equation" r:id="rId3" imgW="2209800" imgH="254000" progId="Equation.3">
              <p:embed/>
            </p:oleObj>
          </a:graphicData>
        </a:graphic>
      </p:graphicFrame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7159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Ch.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Recap: Queries as vectors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u="sng" smtClean="0">
                <a:solidFill>
                  <a:srgbClr val="0000FF"/>
                </a:solidFill>
                <a:ea typeface="ＭＳ Ｐゴシック" pitchFamily="34" charset="-128"/>
              </a:rPr>
              <a:t>Key idea 1:</a:t>
            </a:r>
            <a:r>
              <a:rPr lang="en-US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Do the same for queries: represent them as vectors in the space</a:t>
            </a:r>
          </a:p>
          <a:p>
            <a:pPr eaLnBrk="1" hangingPunct="1"/>
            <a:r>
              <a:rPr lang="en-US" u="sng" smtClean="0">
                <a:solidFill>
                  <a:srgbClr val="0000FF"/>
                </a:solidFill>
                <a:ea typeface="ＭＳ Ｐゴシック" pitchFamily="34" charset="-128"/>
              </a:rPr>
              <a:t>Key idea 2:</a:t>
            </a:r>
            <a:r>
              <a:rPr lang="en-US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Rank documents according to their proximity to the query in this space</a:t>
            </a:r>
          </a:p>
          <a:p>
            <a:pPr eaLnBrk="1" hangingPunct="1"/>
            <a:r>
              <a:rPr lang="en-US" smtClean="0">
                <a:ea typeface="ＭＳ Ｐゴシック" pitchFamily="34" charset="-128"/>
              </a:rPr>
              <a:t>proximity = similarity of vectors</a:t>
            </a:r>
          </a:p>
        </p:txBody>
      </p:sp>
      <p:sp>
        <p:nvSpPr>
          <p:cNvPr id="1229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7159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Ch.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Recap: cosine(query,document)</a:t>
            </a:r>
          </a:p>
        </p:txBody>
      </p:sp>
      <p:graphicFrame>
        <p:nvGraphicFramePr>
          <p:cNvPr id="3074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1012825" y="2317750"/>
          <a:ext cx="7216775" cy="1492250"/>
        </p:xfrm>
        <a:graphic>
          <a:graphicData uri="http://schemas.openxmlformats.org/presentationml/2006/ole">
            <p:oleObj spid="_x0000_s3088" name="Equation" r:id="rId3" imgW="2946400" imgH="609600" progId="Equation.3">
              <p:embed/>
            </p:oleObj>
          </a:graphicData>
        </a:graphic>
      </p:graphicFrame>
      <p:sp>
        <p:nvSpPr>
          <p:cNvPr id="5" name="Line Callout 1 4"/>
          <p:cNvSpPr>
            <a:spLocks/>
          </p:cNvSpPr>
          <p:nvPr/>
        </p:nvSpPr>
        <p:spPr bwMode="auto">
          <a:xfrm>
            <a:off x="1600200" y="1676400"/>
            <a:ext cx="1984375" cy="461963"/>
          </a:xfrm>
          <a:prstGeom prst="borderCallout1">
            <a:avLst>
              <a:gd name="adj1" fmla="val 104463"/>
              <a:gd name="adj2" fmla="val 51190"/>
              <a:gd name="adj3" fmla="val 204176"/>
              <a:gd name="adj4" fmla="val 74931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Dot product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114800" y="1676400"/>
            <a:ext cx="1981200" cy="762000"/>
            <a:chOff x="4114800" y="1676400"/>
            <a:chExt cx="1981200" cy="762000"/>
          </a:xfrm>
        </p:grpSpPr>
        <p:sp>
          <p:nvSpPr>
            <p:cNvPr id="3086" name="Line Callout 2 5"/>
            <p:cNvSpPr>
              <a:spLocks/>
            </p:cNvSpPr>
            <p:nvPr/>
          </p:nvSpPr>
          <p:spPr bwMode="auto">
            <a:xfrm>
              <a:off x="4114800" y="1676400"/>
              <a:ext cx="1981200" cy="457200"/>
            </a:xfrm>
            <a:prstGeom prst="borderCallout2">
              <a:avLst>
                <a:gd name="adj1" fmla="val 97319"/>
                <a:gd name="adj2" fmla="val 8153"/>
                <a:gd name="adj3" fmla="val 159227"/>
                <a:gd name="adj4" fmla="val 7509"/>
                <a:gd name="adj5" fmla="val 172023"/>
                <a:gd name="adj6" fmla="val 3884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Unit vectors</a:t>
              </a:r>
            </a:p>
          </p:txBody>
        </p:sp>
        <p:cxnSp>
          <p:nvCxnSpPr>
            <p:cNvPr id="3087" name="Straight Connector 7"/>
            <p:cNvCxnSpPr>
              <a:cxnSpLocks noChangeShapeType="1"/>
            </p:cNvCxnSpPr>
            <p:nvPr/>
          </p:nvCxnSpPr>
          <p:spPr bwMode="auto">
            <a:xfrm rot="5400000">
              <a:off x="4572794" y="2286000"/>
              <a:ext cx="304006" cy="7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</a:extLst>
          </p:spPr>
        </p:cxnSp>
      </p:grpSp>
      <p:sp>
        <p:nvSpPr>
          <p:cNvPr id="3078" name="TextBox 10"/>
          <p:cNvSpPr txBox="1">
            <a:spLocks noChangeArrowheads="1"/>
          </p:cNvSpPr>
          <p:nvPr/>
        </p:nvSpPr>
        <p:spPr bwMode="auto">
          <a:xfrm>
            <a:off x="304800" y="5494338"/>
            <a:ext cx="8610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/>
              <a:t>cos(</a:t>
            </a:r>
            <a:r>
              <a:rPr lang="en-US" i="1"/>
              <a:t>q,d</a:t>
            </a:r>
            <a:r>
              <a:rPr lang="en-US"/>
              <a:t>) is the cosine similarity of </a:t>
            </a:r>
            <a:r>
              <a:rPr lang="en-US" i="1"/>
              <a:t>q</a:t>
            </a:r>
            <a:r>
              <a:rPr lang="en-US"/>
              <a:t> and </a:t>
            </a:r>
            <a:r>
              <a:rPr lang="en-US" i="1"/>
              <a:t>d</a:t>
            </a:r>
            <a:r>
              <a:rPr lang="en-US"/>
              <a:t> … or,</a:t>
            </a:r>
          </a:p>
          <a:p>
            <a:pPr eaLnBrk="1" hangingPunct="1"/>
            <a:r>
              <a:rPr lang="en-US"/>
              <a:t>equivalently, the cosine of the angle between </a:t>
            </a:r>
            <a:r>
              <a:rPr lang="en-US" i="1"/>
              <a:t>q</a:t>
            </a:r>
            <a:r>
              <a:rPr lang="en-US"/>
              <a:t> and </a:t>
            </a:r>
            <a:r>
              <a:rPr lang="en-US" i="1"/>
              <a:t>d</a:t>
            </a:r>
            <a:r>
              <a:rPr lang="en-US"/>
              <a:t>.</a:t>
            </a:r>
          </a:p>
        </p:txBody>
      </p:sp>
      <p:cxnSp>
        <p:nvCxnSpPr>
          <p:cNvPr id="3079" name="Straight Arrow Connector 11"/>
          <p:cNvCxnSpPr>
            <a:cxnSpLocks noChangeShapeType="1"/>
          </p:cNvCxnSpPr>
          <p:nvPr/>
        </p:nvCxnSpPr>
        <p:spPr bwMode="auto">
          <a:xfrm>
            <a:off x="5486400" y="5561013"/>
            <a:ext cx="22860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3080" name="Straight Arrow Connector 12"/>
          <p:cNvCxnSpPr>
            <a:cxnSpLocks noChangeShapeType="1"/>
          </p:cNvCxnSpPr>
          <p:nvPr/>
        </p:nvCxnSpPr>
        <p:spPr bwMode="auto">
          <a:xfrm>
            <a:off x="6400800" y="5486400"/>
            <a:ext cx="228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3081" name="Straight Arrow Connector 13"/>
          <p:cNvCxnSpPr>
            <a:cxnSpLocks noChangeShapeType="1"/>
          </p:cNvCxnSpPr>
          <p:nvPr/>
        </p:nvCxnSpPr>
        <p:spPr bwMode="auto">
          <a:xfrm>
            <a:off x="7239000" y="5942013"/>
            <a:ext cx="22860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3082" name="Straight Arrow Connector 14"/>
          <p:cNvCxnSpPr>
            <a:cxnSpLocks noChangeShapeType="1"/>
          </p:cNvCxnSpPr>
          <p:nvPr/>
        </p:nvCxnSpPr>
        <p:spPr bwMode="auto">
          <a:xfrm>
            <a:off x="8077200" y="5865813"/>
            <a:ext cx="22860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3083" name="Straight Arrow Connector 15"/>
          <p:cNvCxnSpPr>
            <a:cxnSpLocks noChangeShapeType="1"/>
          </p:cNvCxnSpPr>
          <p:nvPr/>
        </p:nvCxnSpPr>
        <p:spPr bwMode="auto">
          <a:xfrm>
            <a:off x="1295400" y="5486400"/>
            <a:ext cx="228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3084" name="Straight Arrow Connector 16"/>
          <p:cNvCxnSpPr>
            <a:cxnSpLocks noChangeShapeType="1"/>
          </p:cNvCxnSpPr>
          <p:nvPr/>
        </p:nvCxnSpPr>
        <p:spPr bwMode="auto">
          <a:xfrm>
            <a:off x="990600" y="5562600"/>
            <a:ext cx="228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sp>
        <p:nvSpPr>
          <p:cNvPr id="3085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7159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Ch.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This lecture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>
                <a:ea typeface="宋体" pitchFamily="2" charset="-122"/>
              </a:rPr>
              <a:t>Speeding up vector space ranking</a:t>
            </a:r>
          </a:p>
          <a:p>
            <a:pPr eaLnBrk="1" hangingPunct="1"/>
            <a:r>
              <a:rPr lang="en-US" altLang="zh-CN" sz="3600" smtClean="0">
                <a:solidFill>
                  <a:srgbClr val="C00000"/>
                </a:solidFill>
                <a:ea typeface="宋体" pitchFamily="2" charset="-122"/>
              </a:rPr>
              <a:t>Putting together a complete search system</a:t>
            </a:r>
          </a:p>
          <a:p>
            <a:pPr lvl="1" eaLnBrk="1" hangingPunct="1"/>
            <a:r>
              <a:rPr lang="en-US" altLang="zh-CN" sz="3400" smtClean="0">
                <a:ea typeface="宋体" pitchFamily="2" charset="-122"/>
              </a:rPr>
              <a:t>Will require learning about  a number of miscellaneous topics and heuristics</a:t>
            </a:r>
          </a:p>
        </p:txBody>
      </p:sp>
      <p:sp>
        <p:nvSpPr>
          <p:cNvPr id="1331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7159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Ch.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6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9906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Computing cosine scores</a:t>
            </a:r>
          </a:p>
        </p:txBody>
      </p:sp>
      <p:pic>
        <p:nvPicPr>
          <p:cNvPr id="14339" name="Content Placeholder 8" descr="cosinescore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>
          <a:xfrm>
            <a:off x="457200" y="1573213"/>
            <a:ext cx="8153400" cy="5187950"/>
          </a:xfrm>
        </p:spPr>
      </p:pic>
      <p:sp>
        <p:nvSpPr>
          <p:cNvPr id="1434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6.3.3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Efficient cosine ranking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000" smtClean="0">
                <a:ea typeface="宋体" pitchFamily="2" charset="-122"/>
              </a:rPr>
              <a:t>Find the </a:t>
            </a:r>
            <a:r>
              <a:rPr lang="en-US" altLang="zh-CN" sz="3000" i="1" smtClean="0">
                <a:ea typeface="宋体" pitchFamily="2" charset="-122"/>
              </a:rPr>
              <a:t>K</a:t>
            </a:r>
            <a:r>
              <a:rPr lang="en-US" altLang="zh-CN" sz="3000" smtClean="0">
                <a:ea typeface="宋体" pitchFamily="2" charset="-122"/>
              </a:rPr>
              <a:t> docs in the collection “nearest” to the query </a:t>
            </a:r>
            <a:r>
              <a:rPr lang="en-US" altLang="zh-CN" sz="3000" smtClean="0">
                <a:ea typeface="宋体" pitchFamily="2" charset="-122"/>
                <a:sym typeface="Symbol" pitchFamily="18" charset="2"/>
              </a:rPr>
              <a:t> </a:t>
            </a:r>
            <a:r>
              <a:rPr lang="en-US" altLang="zh-CN" sz="3000" i="1" smtClean="0">
                <a:ea typeface="宋体" pitchFamily="2" charset="-122"/>
                <a:sym typeface="Symbol" pitchFamily="18" charset="2"/>
              </a:rPr>
              <a:t>K </a:t>
            </a:r>
            <a:r>
              <a:rPr lang="en-US" altLang="zh-CN" sz="3000" smtClean="0">
                <a:ea typeface="宋体" pitchFamily="2" charset="-122"/>
                <a:sym typeface="Symbol" pitchFamily="18" charset="2"/>
              </a:rPr>
              <a:t>largest query-doc cosines.</a:t>
            </a:r>
            <a:endParaRPr lang="en-US" altLang="zh-CN" sz="3000" smtClean="0">
              <a:ea typeface="宋体" pitchFamily="2" charset="-122"/>
            </a:endParaRPr>
          </a:p>
          <a:p>
            <a:pPr eaLnBrk="1" hangingPunct="1"/>
            <a:r>
              <a:rPr lang="en-US" altLang="zh-CN" sz="3000" smtClean="0">
                <a:ea typeface="宋体" pitchFamily="2" charset="-122"/>
              </a:rPr>
              <a:t>Efficient ranking:</a:t>
            </a:r>
          </a:p>
          <a:p>
            <a:pPr lvl="1" eaLnBrk="1" hangingPunct="1"/>
            <a:r>
              <a:rPr lang="en-US" altLang="zh-CN" sz="2800" smtClean="0">
                <a:ea typeface="宋体" pitchFamily="2" charset="-122"/>
              </a:rPr>
              <a:t>Computing a single cosine efficiently.</a:t>
            </a:r>
          </a:p>
          <a:p>
            <a:pPr lvl="1" eaLnBrk="1" hangingPunct="1"/>
            <a:r>
              <a:rPr lang="en-US" altLang="zh-CN" sz="2800" smtClean="0">
                <a:ea typeface="宋体" pitchFamily="2" charset="-122"/>
              </a:rPr>
              <a:t>Choosing the </a:t>
            </a:r>
            <a:r>
              <a:rPr lang="en-US" altLang="zh-CN" sz="2800" i="1" smtClean="0">
                <a:ea typeface="宋体" pitchFamily="2" charset="-122"/>
              </a:rPr>
              <a:t>K </a:t>
            </a:r>
            <a:r>
              <a:rPr lang="en-US" altLang="zh-CN" sz="2800" smtClean="0">
                <a:ea typeface="宋体" pitchFamily="2" charset="-122"/>
              </a:rPr>
              <a:t>largest cosine values efficiently.</a:t>
            </a:r>
          </a:p>
          <a:p>
            <a:pPr lvl="2" eaLnBrk="1" hangingPunct="1"/>
            <a:r>
              <a:rPr lang="en-US" altLang="zh-CN" sz="2400" smtClean="0">
                <a:ea typeface="宋体" pitchFamily="2" charset="-122"/>
              </a:rPr>
              <a:t>Can we do this without computing all </a:t>
            </a:r>
            <a:r>
              <a:rPr lang="en-US" altLang="zh-CN" sz="2400" i="1" smtClean="0">
                <a:ea typeface="宋体" pitchFamily="2" charset="-122"/>
              </a:rPr>
              <a:t>N</a:t>
            </a:r>
            <a:r>
              <a:rPr lang="en-US" altLang="zh-CN" sz="2400" smtClean="0">
                <a:ea typeface="宋体" pitchFamily="2" charset="-122"/>
              </a:rPr>
              <a:t> cosines?</a:t>
            </a:r>
            <a:endParaRPr lang="en-US" altLang="zh-CN" i="1" smtClean="0">
              <a:ea typeface="宋体" pitchFamily="2" charset="-122"/>
            </a:endParaRPr>
          </a:p>
        </p:txBody>
      </p:sp>
      <p:sp>
        <p:nvSpPr>
          <p:cNvPr id="1536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Efficient cosine ranking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What we’re doing in effect: solving the </a:t>
            </a:r>
            <a:r>
              <a:rPr lang="en-US" altLang="zh-CN" i="1" smtClean="0">
                <a:ea typeface="宋体" pitchFamily="2" charset="-122"/>
              </a:rPr>
              <a:t>K</a:t>
            </a:r>
            <a:r>
              <a:rPr lang="en-US" altLang="zh-CN" smtClean="0">
                <a:ea typeface="宋体" pitchFamily="2" charset="-122"/>
              </a:rPr>
              <a:t>-nearest neighbor problem for a query vector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In general, we do not know how to do this  efficiently for high-dimensional spaces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But it is solvable for short queries, and standard indexes support this well</a:t>
            </a:r>
          </a:p>
        </p:txBody>
      </p:sp>
      <p:sp>
        <p:nvSpPr>
          <p:cNvPr id="16388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Special case – unweighted queries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No weighting on query terms</a:t>
            </a:r>
          </a:p>
          <a:p>
            <a:pPr lvl="1"/>
            <a:r>
              <a:rPr lang="en-US" sz="2800" smtClean="0">
                <a:ea typeface="ＭＳ Ｐゴシック" pitchFamily="34" charset="-128"/>
              </a:rPr>
              <a:t>Assume each query term occurs only once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Then for ranking, don’t need to normalize query vector</a:t>
            </a:r>
          </a:p>
          <a:p>
            <a:pPr lvl="1"/>
            <a:r>
              <a:rPr lang="en-US" sz="2800" smtClean="0">
                <a:ea typeface="ＭＳ Ｐゴシック" pitchFamily="34" charset="-128"/>
              </a:rPr>
              <a:t>Slight simplification of algorithm from Lecture 6</a:t>
            </a:r>
          </a:p>
        </p:txBody>
      </p:sp>
      <p:sp>
        <p:nvSpPr>
          <p:cNvPr id="1741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Computing the </a:t>
            </a:r>
            <a:r>
              <a:rPr lang="en-US" altLang="zh-CN" i="1" smtClean="0">
                <a:ea typeface="宋体" pitchFamily="2" charset="-122"/>
              </a:rPr>
              <a:t>K</a:t>
            </a:r>
            <a:r>
              <a:rPr lang="en-US" altLang="zh-CN" smtClean="0">
                <a:ea typeface="宋体" pitchFamily="2" charset="-122"/>
              </a:rPr>
              <a:t> largest cosines: selection vs. sorting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Typically we want to retrieve the top </a:t>
            </a:r>
            <a:r>
              <a:rPr lang="en-US" altLang="zh-CN" i="1" smtClean="0">
                <a:ea typeface="宋体" pitchFamily="2" charset="-122"/>
              </a:rPr>
              <a:t>K</a:t>
            </a:r>
            <a:r>
              <a:rPr lang="en-US" altLang="zh-CN" smtClean="0">
                <a:ea typeface="宋体" pitchFamily="2" charset="-122"/>
              </a:rPr>
              <a:t> docs (in the cosine ranking for the query)</a:t>
            </a:r>
          </a:p>
          <a:p>
            <a:pPr lvl="1" eaLnBrk="1" hangingPunct="1"/>
            <a:r>
              <a:rPr lang="en-US" altLang="zh-CN" sz="2800" smtClean="0">
                <a:ea typeface="宋体" pitchFamily="2" charset="-122"/>
              </a:rPr>
              <a:t>not to totally order all docs in the collection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Can we pick off docs with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K</a:t>
            </a:r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 highest cosines?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Let </a:t>
            </a:r>
            <a:r>
              <a:rPr lang="en-US" altLang="zh-CN" i="1" smtClean="0">
                <a:ea typeface="宋体" pitchFamily="2" charset="-122"/>
              </a:rPr>
              <a:t>J</a:t>
            </a:r>
            <a:r>
              <a:rPr lang="en-US" altLang="zh-CN" smtClean="0">
                <a:ea typeface="宋体" pitchFamily="2" charset="-122"/>
              </a:rPr>
              <a:t> = number of docs with nonzero cosines</a:t>
            </a:r>
          </a:p>
          <a:p>
            <a:pPr lvl="1" eaLnBrk="1" hangingPunct="1"/>
            <a:r>
              <a:rPr lang="en-US" altLang="zh-CN" sz="2800" smtClean="0">
                <a:ea typeface="宋体" pitchFamily="2" charset="-122"/>
              </a:rPr>
              <a:t>We seek the </a:t>
            </a:r>
            <a:r>
              <a:rPr lang="en-US" altLang="zh-CN" sz="2800" i="1" smtClean="0">
                <a:ea typeface="宋体" pitchFamily="2" charset="-122"/>
              </a:rPr>
              <a:t>K</a:t>
            </a:r>
            <a:r>
              <a:rPr lang="en-US" altLang="zh-CN" sz="2800" smtClean="0">
                <a:ea typeface="宋体" pitchFamily="2" charset="-122"/>
              </a:rPr>
              <a:t> best of these </a:t>
            </a:r>
            <a:r>
              <a:rPr lang="en-US" altLang="zh-CN" sz="2800" i="1" smtClean="0">
                <a:ea typeface="宋体" pitchFamily="2" charset="-122"/>
              </a:rPr>
              <a:t>J</a:t>
            </a:r>
            <a:endParaRPr lang="en-US" altLang="zh-CN" sz="2800" smtClean="0">
              <a:ea typeface="宋体" pitchFamily="2" charset="-122"/>
            </a:endParaRPr>
          </a:p>
        </p:txBody>
      </p:sp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Use heap for selecting top </a:t>
            </a:r>
            <a:r>
              <a:rPr lang="en-US" altLang="zh-CN" i="1" smtClean="0">
                <a:ea typeface="宋体" pitchFamily="2" charset="-122"/>
              </a:rPr>
              <a:t>K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Binary tree in which each node’s value &gt; the values of children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Takes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2J</a:t>
            </a:r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 operations to construct, then each of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K </a:t>
            </a:r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“winners” read off in 2log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J</a:t>
            </a:r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 steps.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For </a:t>
            </a:r>
            <a:r>
              <a:rPr lang="en-US" altLang="zh-CN" i="1" smtClean="0">
                <a:ea typeface="宋体" pitchFamily="2" charset="-122"/>
              </a:rPr>
              <a:t>J</a:t>
            </a:r>
            <a:r>
              <a:rPr lang="en-US" altLang="zh-CN" smtClean="0">
                <a:ea typeface="宋体" pitchFamily="2" charset="-122"/>
              </a:rPr>
              <a:t>=1M, </a:t>
            </a:r>
            <a:r>
              <a:rPr lang="en-US" altLang="zh-CN" i="1" smtClean="0">
                <a:ea typeface="宋体" pitchFamily="2" charset="-122"/>
              </a:rPr>
              <a:t>K</a:t>
            </a:r>
            <a:r>
              <a:rPr lang="en-US" altLang="zh-CN" smtClean="0">
                <a:ea typeface="宋体" pitchFamily="2" charset="-122"/>
              </a:rPr>
              <a:t>=100, this is about 10% of the cost of sorting.</a:t>
            </a: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5867400" y="44196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1</a:t>
            </a: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5410200" y="49530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.9</a:t>
            </a:r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6400800" y="49530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.3</a:t>
            </a:r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5715000" y="55626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.8</a:t>
            </a:r>
          </a:p>
        </p:txBody>
      </p:sp>
      <p:cxnSp>
        <p:nvCxnSpPr>
          <p:cNvPr id="19464" name="AutoShape 8"/>
          <p:cNvCxnSpPr>
            <a:cxnSpLocks noChangeShapeType="1"/>
            <a:stCxn id="19460" idx="3"/>
            <a:endCxn id="19461" idx="0"/>
          </p:cNvCxnSpPr>
          <p:nvPr/>
        </p:nvCxnSpPr>
        <p:spPr bwMode="auto">
          <a:xfrm flipH="1">
            <a:off x="5638800" y="4745038"/>
            <a:ext cx="295275" cy="20796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19465" name="AutoShape 9"/>
          <p:cNvCxnSpPr>
            <a:cxnSpLocks noChangeShapeType="1"/>
            <a:stCxn id="19460" idx="5"/>
            <a:endCxn id="19462" idx="0"/>
          </p:cNvCxnSpPr>
          <p:nvPr/>
        </p:nvCxnSpPr>
        <p:spPr bwMode="auto">
          <a:xfrm>
            <a:off x="6257925" y="4745038"/>
            <a:ext cx="371475" cy="20796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4953000" y="55626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.3</a:t>
            </a:r>
          </a:p>
        </p:txBody>
      </p:sp>
      <p:cxnSp>
        <p:nvCxnSpPr>
          <p:cNvPr id="19467" name="AutoShape 11"/>
          <p:cNvCxnSpPr>
            <a:cxnSpLocks noChangeShapeType="1"/>
            <a:stCxn id="19461" idx="3"/>
            <a:endCxn id="19466" idx="0"/>
          </p:cNvCxnSpPr>
          <p:nvPr/>
        </p:nvCxnSpPr>
        <p:spPr bwMode="auto">
          <a:xfrm flipH="1">
            <a:off x="5181600" y="5278438"/>
            <a:ext cx="295275" cy="28416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19468" name="AutoShape 12"/>
          <p:cNvCxnSpPr>
            <a:cxnSpLocks noChangeShapeType="1"/>
            <a:stCxn id="19461" idx="5"/>
            <a:endCxn id="19463" idx="0"/>
          </p:cNvCxnSpPr>
          <p:nvPr/>
        </p:nvCxnSpPr>
        <p:spPr bwMode="auto">
          <a:xfrm>
            <a:off x="5800725" y="5278438"/>
            <a:ext cx="142875" cy="28416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sp>
        <p:nvSpPr>
          <p:cNvPr id="19469" name="Oval 13"/>
          <p:cNvSpPr>
            <a:spLocks noChangeArrowheads="1"/>
          </p:cNvSpPr>
          <p:nvPr/>
        </p:nvSpPr>
        <p:spPr bwMode="auto">
          <a:xfrm>
            <a:off x="5715000" y="62484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.1</a:t>
            </a:r>
          </a:p>
        </p:txBody>
      </p:sp>
      <p:sp>
        <p:nvSpPr>
          <p:cNvPr id="19470" name="Oval 14"/>
          <p:cNvSpPr>
            <a:spLocks noChangeArrowheads="1"/>
          </p:cNvSpPr>
          <p:nvPr/>
        </p:nvSpPr>
        <p:spPr bwMode="auto">
          <a:xfrm>
            <a:off x="6400800" y="5562600"/>
            <a:ext cx="457200" cy="381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.1</a:t>
            </a:r>
          </a:p>
        </p:txBody>
      </p:sp>
      <p:cxnSp>
        <p:nvCxnSpPr>
          <p:cNvPr id="19471" name="AutoShape 15"/>
          <p:cNvCxnSpPr>
            <a:cxnSpLocks noChangeShapeType="1"/>
            <a:stCxn id="19463" idx="4"/>
            <a:endCxn id="19469" idx="0"/>
          </p:cNvCxnSpPr>
          <p:nvPr/>
        </p:nvCxnSpPr>
        <p:spPr bwMode="auto">
          <a:xfrm>
            <a:off x="5943600" y="59436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19472" name="AutoShape 16"/>
          <p:cNvCxnSpPr>
            <a:cxnSpLocks noChangeShapeType="1"/>
            <a:stCxn id="19462" idx="4"/>
            <a:endCxn id="19470" idx="0"/>
          </p:cNvCxnSpPr>
          <p:nvPr/>
        </p:nvCxnSpPr>
        <p:spPr bwMode="auto">
          <a:xfrm>
            <a:off x="6629400" y="5334000"/>
            <a:ext cx="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sp>
        <p:nvSpPr>
          <p:cNvPr id="19473" name="Freeform 17"/>
          <p:cNvSpPr>
            <a:spLocks/>
          </p:cNvSpPr>
          <p:nvPr/>
        </p:nvSpPr>
        <p:spPr bwMode="auto">
          <a:xfrm>
            <a:off x="4800600" y="4254500"/>
            <a:ext cx="1892300" cy="1892300"/>
          </a:xfrm>
          <a:custGeom>
            <a:avLst/>
            <a:gdLst>
              <a:gd name="T0" fmla="*/ 0 w 1192"/>
              <a:gd name="T1" fmla="*/ 2147483647 h 1192"/>
              <a:gd name="T2" fmla="*/ 2147483647 w 1192"/>
              <a:gd name="T3" fmla="*/ 2147483647 h 1192"/>
              <a:gd name="T4" fmla="*/ 2147483647 w 1192"/>
              <a:gd name="T5" fmla="*/ 2147483647 h 1192"/>
              <a:gd name="T6" fmla="*/ 2147483647 w 1192"/>
              <a:gd name="T7" fmla="*/ 2147483647 h 1192"/>
              <a:gd name="T8" fmla="*/ 2147483647 w 1192"/>
              <a:gd name="T9" fmla="*/ 2147483647 h 1192"/>
              <a:gd name="T10" fmla="*/ 2147483647 w 1192"/>
              <a:gd name="T11" fmla="*/ 2147483647 h 1192"/>
              <a:gd name="T12" fmla="*/ 2147483647 w 1192"/>
              <a:gd name="T13" fmla="*/ 2147483647 h 11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92"/>
              <a:gd name="T22" fmla="*/ 0 h 1192"/>
              <a:gd name="T23" fmla="*/ 1192 w 1192"/>
              <a:gd name="T24" fmla="*/ 1192 h 11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92" h="1192">
                <a:moveTo>
                  <a:pt x="0" y="152"/>
                </a:moveTo>
                <a:cubicBezTo>
                  <a:pt x="12" y="116"/>
                  <a:pt x="24" y="80"/>
                  <a:pt x="96" y="200"/>
                </a:cubicBezTo>
                <a:cubicBezTo>
                  <a:pt x="168" y="320"/>
                  <a:pt x="312" y="712"/>
                  <a:pt x="432" y="872"/>
                </a:cubicBezTo>
                <a:cubicBezTo>
                  <a:pt x="552" y="1032"/>
                  <a:pt x="736" y="1192"/>
                  <a:pt x="816" y="1160"/>
                </a:cubicBezTo>
                <a:cubicBezTo>
                  <a:pt x="896" y="1128"/>
                  <a:pt x="856" y="856"/>
                  <a:pt x="912" y="680"/>
                </a:cubicBezTo>
                <a:cubicBezTo>
                  <a:pt x="968" y="504"/>
                  <a:pt x="1112" y="208"/>
                  <a:pt x="1152" y="104"/>
                </a:cubicBezTo>
                <a:cubicBezTo>
                  <a:pt x="1192" y="0"/>
                  <a:pt x="1152" y="64"/>
                  <a:pt x="1152" y="56"/>
                </a:cubicBezTo>
              </a:path>
            </a:pathLst>
          </a:custGeom>
          <a:noFill/>
          <a:ln w="25400">
            <a:solidFill>
              <a:schemeClr val="fol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Bottlenecks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Primary computational bottleneck in scoring: </a:t>
            </a:r>
            <a:r>
              <a:rPr lang="en-US" altLang="zh-CN" u="sng" smtClean="0">
                <a:ea typeface="宋体" pitchFamily="2" charset="-122"/>
              </a:rPr>
              <a:t>cosine computation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Can we avoid all this computation?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Yes, but may sometimes get it wrong</a:t>
            </a:r>
          </a:p>
          <a:p>
            <a:pPr lvl="1" eaLnBrk="1" hangingPunct="1"/>
            <a:r>
              <a:rPr lang="en-US" altLang="zh-CN" sz="2800" smtClean="0">
                <a:ea typeface="宋体" pitchFamily="2" charset="-122"/>
              </a:rPr>
              <a:t>a doc </a:t>
            </a:r>
            <a:r>
              <a:rPr lang="en-US" altLang="zh-CN" sz="2800" i="1" smtClean="0">
                <a:ea typeface="宋体" pitchFamily="2" charset="-122"/>
              </a:rPr>
              <a:t>not</a:t>
            </a:r>
            <a:r>
              <a:rPr lang="en-US" altLang="zh-CN" sz="2800" smtClean="0">
                <a:ea typeface="宋体" pitchFamily="2" charset="-122"/>
              </a:rPr>
              <a:t> in the top </a:t>
            </a:r>
            <a:r>
              <a:rPr lang="en-US" altLang="zh-CN" sz="2800" i="1" smtClean="0">
                <a:ea typeface="宋体" pitchFamily="2" charset="-122"/>
              </a:rPr>
              <a:t>K</a:t>
            </a:r>
            <a:r>
              <a:rPr lang="en-US" altLang="zh-CN" sz="2800" smtClean="0">
                <a:ea typeface="宋体" pitchFamily="2" charset="-122"/>
              </a:rPr>
              <a:t> may creep into the list of </a:t>
            </a:r>
            <a:r>
              <a:rPr lang="en-US" altLang="zh-CN" sz="2800" i="1" smtClean="0">
                <a:ea typeface="宋体" pitchFamily="2" charset="-122"/>
              </a:rPr>
              <a:t>K</a:t>
            </a:r>
            <a:r>
              <a:rPr lang="en-US" altLang="zh-CN" sz="2800" smtClean="0">
                <a:ea typeface="宋体" pitchFamily="2" charset="-122"/>
              </a:rPr>
              <a:t> output docs</a:t>
            </a:r>
          </a:p>
          <a:p>
            <a:pPr lvl="1" eaLnBrk="1" hangingPunct="1"/>
            <a:r>
              <a:rPr lang="en-US" altLang="zh-CN" sz="2800" smtClean="0">
                <a:ea typeface="宋体" pitchFamily="2" charset="-122"/>
              </a:rPr>
              <a:t>Is this such a bad thing?</a:t>
            </a:r>
          </a:p>
        </p:txBody>
      </p:sp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Cosine similarity is only a proxy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User has a task and a query formulation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Cosine matches docs to query</a:t>
            </a:r>
          </a:p>
          <a:p>
            <a:r>
              <a:rPr lang="en-US" smtClean="0">
                <a:ea typeface="ＭＳ Ｐゴシック" pitchFamily="34" charset="-128"/>
              </a:rPr>
              <a:t>Thus cosine is anyway a proxy for user happiness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If we get a list of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docs “close” to the top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by cosine measure, should be ok</a:t>
            </a: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Generic approach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Find a set </a:t>
            </a:r>
            <a:r>
              <a:rPr lang="en-US" i="1" smtClean="0">
                <a:ea typeface="ＭＳ Ｐゴシック" pitchFamily="34" charset="-128"/>
              </a:rPr>
              <a:t>A </a:t>
            </a:r>
            <a:r>
              <a:rPr lang="en-US" smtClean="0">
                <a:ea typeface="ＭＳ Ｐゴシック" pitchFamily="34" charset="-128"/>
              </a:rPr>
              <a:t> of </a:t>
            </a:r>
            <a:r>
              <a:rPr lang="en-US" i="1" smtClean="0">
                <a:ea typeface="ＭＳ Ｐゴシック" pitchFamily="34" charset="-128"/>
              </a:rPr>
              <a:t>contenders</a:t>
            </a:r>
            <a:r>
              <a:rPr lang="en-US" smtClean="0">
                <a:ea typeface="ＭＳ Ｐゴシック" pitchFamily="34" charset="-128"/>
              </a:rPr>
              <a:t>, with </a:t>
            </a:r>
            <a:r>
              <a:rPr lang="en-US" i="1" smtClean="0">
                <a:ea typeface="ＭＳ Ｐゴシック" pitchFamily="34" charset="-128"/>
              </a:rPr>
              <a:t>K &lt; |A| </a:t>
            </a:r>
            <a:r>
              <a:rPr lang="en-US" i="1" smtClean="0">
                <a:ea typeface="ＭＳ Ｐゴシック" pitchFamily="34" charset="-128"/>
                <a:sym typeface="Symbol" pitchFamily="18" charset="2"/>
              </a:rPr>
              <a:t>&lt;&lt; N</a:t>
            </a:r>
          </a:p>
          <a:p>
            <a:pPr lvl="1"/>
            <a:r>
              <a:rPr lang="en-US" sz="2600" i="1" smtClean="0">
                <a:ea typeface="ＭＳ Ｐゴシック" pitchFamily="34" charset="-128"/>
              </a:rPr>
              <a:t>A </a:t>
            </a:r>
            <a:r>
              <a:rPr lang="en-US" sz="2600" smtClean="0">
                <a:ea typeface="ＭＳ Ｐゴシック" pitchFamily="34" charset="-128"/>
              </a:rPr>
              <a:t>does not necessarily contain the top </a:t>
            </a:r>
            <a:r>
              <a:rPr lang="en-US" sz="2600" i="1" smtClean="0">
                <a:ea typeface="ＭＳ Ｐゴシック" pitchFamily="34" charset="-128"/>
              </a:rPr>
              <a:t>K, </a:t>
            </a:r>
            <a:r>
              <a:rPr lang="en-US" sz="2600" smtClean="0">
                <a:ea typeface="ＭＳ Ｐゴシック" pitchFamily="34" charset="-128"/>
              </a:rPr>
              <a:t>but has many docs from among the top </a:t>
            </a:r>
            <a:r>
              <a:rPr lang="en-US" sz="2600" i="1" smtClean="0">
                <a:ea typeface="ＭＳ Ｐゴシック" pitchFamily="34" charset="-128"/>
              </a:rPr>
              <a:t>K</a:t>
            </a:r>
          </a:p>
          <a:p>
            <a:pPr lvl="1"/>
            <a:r>
              <a:rPr lang="en-US" sz="2600" smtClean="0">
                <a:ea typeface="ＭＳ Ｐゴシック" pitchFamily="34" charset="-128"/>
              </a:rPr>
              <a:t>Return the top </a:t>
            </a:r>
            <a:r>
              <a:rPr lang="en-US" sz="2600" i="1" smtClean="0">
                <a:ea typeface="ＭＳ Ｐゴシック" pitchFamily="34" charset="-128"/>
              </a:rPr>
              <a:t>K </a:t>
            </a:r>
            <a:r>
              <a:rPr lang="en-US" sz="2600" smtClean="0">
                <a:ea typeface="ＭＳ Ｐゴシック" pitchFamily="34" charset="-128"/>
              </a:rPr>
              <a:t>docs in </a:t>
            </a:r>
            <a:r>
              <a:rPr lang="en-US" sz="2600" i="1" smtClean="0">
                <a:ea typeface="ＭＳ Ｐゴシック" pitchFamily="34" charset="-128"/>
              </a:rPr>
              <a:t>A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Think of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A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as </a:t>
            </a:r>
            <a:r>
              <a:rPr lang="en-US" u="sng" smtClean="0">
                <a:solidFill>
                  <a:srgbClr val="C00000"/>
                </a:solidFill>
                <a:ea typeface="ＭＳ Ｐゴシック" pitchFamily="34" charset="-128"/>
              </a:rPr>
              <a:t>pruning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non-contenders</a:t>
            </a:r>
          </a:p>
          <a:p>
            <a:r>
              <a:rPr lang="en-US" smtClean="0">
                <a:ea typeface="ＭＳ Ｐゴシック" pitchFamily="34" charset="-128"/>
              </a:rPr>
              <a:t>The same approach is also used for other (non-cosine) scoring functions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Will look at several schemes following this approach</a:t>
            </a: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Index elimination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Basic algorithm cosine computation algorithm only considers docs containing at least one query term</a:t>
            </a:r>
          </a:p>
          <a:p>
            <a:r>
              <a:rPr lang="en-US" smtClean="0">
                <a:ea typeface="ＭＳ Ｐゴシック" pitchFamily="34" charset="-128"/>
              </a:rPr>
              <a:t>Take this further: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Only consider high-idf query terms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Only consider docs containing many query terms</a:t>
            </a:r>
          </a:p>
        </p:txBody>
      </p:sp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High-idf query terms only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For a query such as </a:t>
            </a:r>
            <a:r>
              <a:rPr lang="en-US" i="1" smtClean="0">
                <a:ea typeface="ＭＳ Ｐゴシック" pitchFamily="34" charset="-128"/>
              </a:rPr>
              <a:t>catcher in the rye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Only accumulate scores from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catcher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and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rye</a:t>
            </a:r>
          </a:p>
          <a:p>
            <a:r>
              <a:rPr lang="en-US" smtClean="0">
                <a:ea typeface="ＭＳ Ｐゴシック" pitchFamily="34" charset="-128"/>
              </a:rPr>
              <a:t>Intuition: </a:t>
            </a:r>
            <a:r>
              <a:rPr lang="en-US" b="1" i="1" smtClean="0">
                <a:ea typeface="ＭＳ Ｐゴシック" pitchFamily="34" charset="-128"/>
              </a:rPr>
              <a:t>in</a:t>
            </a:r>
            <a:r>
              <a:rPr lang="en-US" i="1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and </a:t>
            </a:r>
            <a:r>
              <a:rPr lang="en-US" b="1" i="1" smtClean="0">
                <a:ea typeface="ＭＳ Ｐゴシック" pitchFamily="34" charset="-128"/>
              </a:rPr>
              <a:t>the</a:t>
            </a:r>
            <a:r>
              <a:rPr lang="en-US" i="1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contribute little to the scores and so </a:t>
            </a:r>
            <a:r>
              <a:rPr lang="en-US" u="sng" smtClean="0">
                <a:ea typeface="ＭＳ Ｐゴシック" pitchFamily="34" charset="-128"/>
              </a:rPr>
              <a:t>don’t alter rank-ordering much</a:t>
            </a:r>
          </a:p>
          <a:p>
            <a:r>
              <a:rPr lang="en-US" smtClean="0">
                <a:ea typeface="ＭＳ Ｐゴシック" pitchFamily="34" charset="-128"/>
              </a:rPr>
              <a:t>Benefit: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Postings of low-idf terms have many docs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  <a:sym typeface="Symbol" pitchFamily="18" charset="2"/>
              </a:rPr>
              <a:t>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these (many) docs get eliminated from set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A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of contenders</a:t>
            </a:r>
            <a:endParaRPr lang="en-US" i="1" smtClean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Docs containing many query terms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Any doc with at least one query term is a candidate for the top </a:t>
            </a:r>
            <a:r>
              <a:rPr lang="en-US" i="1" smtClean="0">
                <a:ea typeface="ＭＳ Ｐゴシック" pitchFamily="34" charset="-128"/>
              </a:rPr>
              <a:t>K</a:t>
            </a:r>
            <a:r>
              <a:rPr lang="en-US" smtClean="0">
                <a:ea typeface="ＭＳ Ｐゴシック" pitchFamily="34" charset="-128"/>
              </a:rPr>
              <a:t> output list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For multi-term queries, only compute scores for docs containing several of the query terms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Say, at least 3 out of 4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Imposes a “soft conjunction” on queries seen on web search engines (early Google)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Easy to implement in postings traversal</a:t>
            </a:r>
          </a:p>
        </p:txBody>
      </p:sp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3 of 4 query terms</a:t>
            </a: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381000" y="2733675"/>
            <a:ext cx="11763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b="1" i="1"/>
              <a:t>Brutus</a:t>
            </a:r>
          </a:p>
        </p:txBody>
      </p:sp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381000" y="3267075"/>
            <a:ext cx="128587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b="1" i="1"/>
              <a:t>Caesar</a:t>
            </a:r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381000" y="3800475"/>
            <a:ext cx="174942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b="1" i="1"/>
              <a:t>Calpurnia</a:t>
            </a:r>
          </a:p>
        </p:txBody>
      </p:sp>
      <p:sp>
        <p:nvSpPr>
          <p:cNvPr id="26630" name="AutoShape 7"/>
          <p:cNvSpPr>
            <a:spLocks noChangeArrowheads="1"/>
          </p:cNvSpPr>
          <p:nvPr/>
        </p:nvSpPr>
        <p:spPr bwMode="auto">
          <a:xfrm>
            <a:off x="2057400" y="2809875"/>
            <a:ext cx="11430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1" name="AutoShape 8"/>
          <p:cNvSpPr>
            <a:spLocks noChangeArrowheads="1"/>
          </p:cNvSpPr>
          <p:nvPr/>
        </p:nvSpPr>
        <p:spPr bwMode="auto">
          <a:xfrm>
            <a:off x="2057400" y="3343275"/>
            <a:ext cx="11430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6632" name="Group 26"/>
          <p:cNvGrpSpPr>
            <a:grpSpLocks/>
          </p:cNvGrpSpPr>
          <p:nvPr/>
        </p:nvGrpSpPr>
        <p:grpSpPr bwMode="auto">
          <a:xfrm>
            <a:off x="3276600" y="3876675"/>
            <a:ext cx="4876800" cy="304800"/>
            <a:chOff x="2064" y="2448"/>
            <a:chExt cx="3072" cy="192"/>
          </a:xfrm>
        </p:grpSpPr>
        <p:sp>
          <p:nvSpPr>
            <p:cNvPr id="26692" name="Rectangle 27"/>
            <p:cNvSpPr>
              <a:spLocks noChangeArrowheads="1"/>
            </p:cNvSpPr>
            <p:nvPr/>
          </p:nvSpPr>
          <p:spPr bwMode="auto">
            <a:xfrm>
              <a:off x="2064" y="2448"/>
              <a:ext cx="3072" cy="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93" name="Rectangle 28"/>
            <p:cNvSpPr>
              <a:spLocks noChangeArrowheads="1"/>
            </p:cNvSpPr>
            <p:nvPr/>
          </p:nvSpPr>
          <p:spPr bwMode="auto">
            <a:xfrm>
              <a:off x="2448" y="2448"/>
              <a:ext cx="230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94" name="Rectangle 29"/>
            <p:cNvSpPr>
              <a:spLocks noChangeArrowheads="1"/>
            </p:cNvSpPr>
            <p:nvPr/>
          </p:nvSpPr>
          <p:spPr bwMode="auto">
            <a:xfrm>
              <a:off x="2832" y="2448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95" name="Rectangle 30"/>
            <p:cNvSpPr>
              <a:spLocks noChangeArrowheads="1"/>
            </p:cNvSpPr>
            <p:nvPr/>
          </p:nvSpPr>
          <p:spPr bwMode="auto">
            <a:xfrm>
              <a:off x="3216" y="2448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96" name="Line 31"/>
            <p:cNvSpPr>
              <a:spLocks noChangeShapeType="1"/>
            </p:cNvSpPr>
            <p:nvPr/>
          </p:nvSpPr>
          <p:spPr bwMode="auto">
            <a:xfrm>
              <a:off x="3600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26633" name="Group 51"/>
          <p:cNvGrpSpPr>
            <a:grpSpLocks/>
          </p:cNvGrpSpPr>
          <p:nvPr/>
        </p:nvGrpSpPr>
        <p:grpSpPr bwMode="auto">
          <a:xfrm>
            <a:off x="3276600" y="3267075"/>
            <a:ext cx="4943475" cy="457200"/>
            <a:chOff x="2064" y="2688"/>
            <a:chExt cx="3114" cy="288"/>
          </a:xfrm>
        </p:grpSpPr>
        <p:grpSp>
          <p:nvGrpSpPr>
            <p:cNvPr id="26678" name="Group 20"/>
            <p:cNvGrpSpPr>
              <a:grpSpLocks/>
            </p:cNvGrpSpPr>
            <p:nvPr/>
          </p:nvGrpSpPr>
          <p:grpSpPr bwMode="auto">
            <a:xfrm>
              <a:off x="2064" y="2736"/>
              <a:ext cx="3072" cy="192"/>
              <a:chOff x="2064" y="2448"/>
              <a:chExt cx="3072" cy="192"/>
            </a:xfrm>
          </p:grpSpPr>
          <p:sp>
            <p:nvSpPr>
              <p:cNvPr id="26687" name="Rectangle 21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88" name="Rectangle 22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89" name="Rectangle 23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90" name="Rectangle 24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91" name="Line 25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6679" name="Text Box 32"/>
            <p:cNvSpPr txBox="1">
              <a:spLocks noChangeArrowheads="1"/>
            </p:cNvSpPr>
            <p:nvPr/>
          </p:nvSpPr>
          <p:spPr bwMode="auto">
            <a:xfrm>
              <a:off x="2150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</a:t>
              </a:r>
            </a:p>
          </p:txBody>
        </p:sp>
        <p:sp>
          <p:nvSpPr>
            <p:cNvPr id="26680" name="Text Box 33"/>
            <p:cNvSpPr txBox="1">
              <a:spLocks noChangeArrowheads="1"/>
            </p:cNvSpPr>
            <p:nvPr/>
          </p:nvSpPr>
          <p:spPr bwMode="auto">
            <a:xfrm>
              <a:off x="2582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2</a:t>
              </a:r>
            </a:p>
          </p:txBody>
        </p:sp>
        <p:sp>
          <p:nvSpPr>
            <p:cNvPr id="26681" name="Text Box 34"/>
            <p:cNvSpPr txBox="1">
              <a:spLocks noChangeArrowheads="1"/>
            </p:cNvSpPr>
            <p:nvPr/>
          </p:nvSpPr>
          <p:spPr bwMode="auto">
            <a:xfrm>
              <a:off x="2945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3</a:t>
              </a:r>
            </a:p>
          </p:txBody>
        </p:sp>
        <p:sp>
          <p:nvSpPr>
            <p:cNvPr id="26682" name="Text Box 35"/>
            <p:cNvSpPr txBox="1">
              <a:spLocks noChangeArrowheads="1"/>
            </p:cNvSpPr>
            <p:nvPr/>
          </p:nvSpPr>
          <p:spPr bwMode="auto">
            <a:xfrm>
              <a:off x="3312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5</a:t>
              </a:r>
            </a:p>
          </p:txBody>
        </p:sp>
        <p:sp>
          <p:nvSpPr>
            <p:cNvPr id="26683" name="Text Box 36"/>
            <p:cNvSpPr txBox="1">
              <a:spLocks noChangeArrowheads="1"/>
            </p:cNvSpPr>
            <p:nvPr/>
          </p:nvSpPr>
          <p:spPr bwMode="auto">
            <a:xfrm>
              <a:off x="3665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8</a:t>
              </a:r>
            </a:p>
          </p:txBody>
        </p:sp>
        <p:sp>
          <p:nvSpPr>
            <p:cNvPr id="26684" name="Text Box 37"/>
            <p:cNvSpPr txBox="1">
              <a:spLocks noChangeArrowheads="1"/>
            </p:cNvSpPr>
            <p:nvPr/>
          </p:nvSpPr>
          <p:spPr bwMode="auto">
            <a:xfrm>
              <a:off x="4049" y="2688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13</a:t>
              </a:r>
            </a:p>
          </p:txBody>
        </p:sp>
        <p:sp>
          <p:nvSpPr>
            <p:cNvPr id="26685" name="Text Box 38"/>
            <p:cNvSpPr txBox="1">
              <a:spLocks noChangeArrowheads="1"/>
            </p:cNvSpPr>
            <p:nvPr/>
          </p:nvSpPr>
          <p:spPr bwMode="auto">
            <a:xfrm>
              <a:off x="4464" y="2688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21</a:t>
              </a:r>
            </a:p>
          </p:txBody>
        </p:sp>
        <p:sp>
          <p:nvSpPr>
            <p:cNvPr id="26686" name="Text Box 39"/>
            <p:cNvSpPr txBox="1">
              <a:spLocks noChangeArrowheads="1"/>
            </p:cNvSpPr>
            <p:nvPr/>
          </p:nvSpPr>
          <p:spPr bwMode="auto">
            <a:xfrm>
              <a:off x="4848" y="2688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34</a:t>
              </a:r>
            </a:p>
          </p:txBody>
        </p:sp>
      </p:grpSp>
      <p:grpSp>
        <p:nvGrpSpPr>
          <p:cNvPr id="26634" name="Group 52"/>
          <p:cNvGrpSpPr>
            <a:grpSpLocks/>
          </p:cNvGrpSpPr>
          <p:nvPr/>
        </p:nvGrpSpPr>
        <p:grpSpPr bwMode="auto">
          <a:xfrm>
            <a:off x="3276600" y="2733675"/>
            <a:ext cx="4876800" cy="457200"/>
            <a:chOff x="2064" y="2400"/>
            <a:chExt cx="3072" cy="288"/>
          </a:xfrm>
        </p:grpSpPr>
        <p:grpSp>
          <p:nvGrpSpPr>
            <p:cNvPr id="26664" name="Group 19"/>
            <p:cNvGrpSpPr>
              <a:grpSpLocks/>
            </p:cNvGrpSpPr>
            <p:nvPr/>
          </p:nvGrpSpPr>
          <p:grpSpPr bwMode="auto">
            <a:xfrm>
              <a:off x="2064" y="2448"/>
              <a:ext cx="3072" cy="192"/>
              <a:chOff x="2064" y="2448"/>
              <a:chExt cx="3072" cy="192"/>
            </a:xfrm>
          </p:grpSpPr>
          <p:sp>
            <p:nvSpPr>
              <p:cNvPr id="26673" name="Rectangle 11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74" name="Rectangle 1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75" name="Rectangle 15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76" name="Rectangle 16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77" name="Line 18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6665" name="Text Box 40"/>
            <p:cNvSpPr txBox="1">
              <a:spLocks noChangeArrowheads="1"/>
            </p:cNvSpPr>
            <p:nvPr/>
          </p:nvSpPr>
          <p:spPr bwMode="auto">
            <a:xfrm>
              <a:off x="2160" y="240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2</a:t>
              </a:r>
            </a:p>
          </p:txBody>
        </p:sp>
        <p:sp>
          <p:nvSpPr>
            <p:cNvPr id="26666" name="Text Box 41"/>
            <p:cNvSpPr txBox="1">
              <a:spLocks noChangeArrowheads="1"/>
            </p:cNvSpPr>
            <p:nvPr/>
          </p:nvSpPr>
          <p:spPr bwMode="auto">
            <a:xfrm>
              <a:off x="2513" y="240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4</a:t>
              </a:r>
            </a:p>
          </p:txBody>
        </p:sp>
        <p:sp>
          <p:nvSpPr>
            <p:cNvPr id="26667" name="Text Box 42"/>
            <p:cNvSpPr txBox="1">
              <a:spLocks noChangeArrowheads="1"/>
            </p:cNvSpPr>
            <p:nvPr/>
          </p:nvSpPr>
          <p:spPr bwMode="auto">
            <a:xfrm>
              <a:off x="2928" y="240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8</a:t>
              </a:r>
            </a:p>
          </p:txBody>
        </p:sp>
        <p:sp>
          <p:nvSpPr>
            <p:cNvPr id="26668" name="Text Box 43"/>
            <p:cNvSpPr txBox="1">
              <a:spLocks noChangeArrowheads="1"/>
            </p:cNvSpPr>
            <p:nvPr/>
          </p:nvSpPr>
          <p:spPr bwMode="auto">
            <a:xfrm>
              <a:off x="3264" y="240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16</a:t>
              </a:r>
            </a:p>
          </p:txBody>
        </p:sp>
        <p:sp>
          <p:nvSpPr>
            <p:cNvPr id="26669" name="Text Box 44"/>
            <p:cNvSpPr txBox="1">
              <a:spLocks noChangeArrowheads="1"/>
            </p:cNvSpPr>
            <p:nvPr/>
          </p:nvSpPr>
          <p:spPr bwMode="auto">
            <a:xfrm>
              <a:off x="3665" y="240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32</a:t>
              </a:r>
            </a:p>
          </p:txBody>
        </p:sp>
        <p:sp>
          <p:nvSpPr>
            <p:cNvPr id="26670" name="Text Box 45"/>
            <p:cNvSpPr txBox="1">
              <a:spLocks noChangeArrowheads="1"/>
            </p:cNvSpPr>
            <p:nvPr/>
          </p:nvSpPr>
          <p:spPr bwMode="auto">
            <a:xfrm>
              <a:off x="4049" y="240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64</a:t>
              </a:r>
            </a:p>
          </p:txBody>
        </p:sp>
        <p:sp>
          <p:nvSpPr>
            <p:cNvPr id="26671" name="Text Box 46"/>
            <p:cNvSpPr txBox="1">
              <a:spLocks noChangeArrowheads="1"/>
            </p:cNvSpPr>
            <p:nvPr/>
          </p:nvSpPr>
          <p:spPr bwMode="auto">
            <a:xfrm>
              <a:off x="4320" y="2400"/>
              <a:ext cx="4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128</a:t>
              </a:r>
            </a:p>
          </p:txBody>
        </p:sp>
        <p:sp>
          <p:nvSpPr>
            <p:cNvPr id="26672" name="Text Box 47"/>
            <p:cNvSpPr txBox="1">
              <a:spLocks noChangeArrowheads="1"/>
            </p:cNvSpPr>
            <p:nvPr/>
          </p:nvSpPr>
          <p:spPr bwMode="auto">
            <a:xfrm>
              <a:off x="4747" y="240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26635" name="Text Box 48"/>
          <p:cNvSpPr txBox="1">
            <a:spLocks noChangeArrowheads="1"/>
          </p:cNvSpPr>
          <p:nvPr/>
        </p:nvSpPr>
        <p:spPr bwMode="auto">
          <a:xfrm>
            <a:off x="3276600" y="3800475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/>
              <a:t>13</a:t>
            </a:r>
          </a:p>
        </p:txBody>
      </p:sp>
      <p:sp>
        <p:nvSpPr>
          <p:cNvPr id="26636" name="AutoShape 49"/>
          <p:cNvSpPr>
            <a:spLocks noChangeArrowheads="1"/>
          </p:cNvSpPr>
          <p:nvPr/>
        </p:nvSpPr>
        <p:spPr bwMode="auto">
          <a:xfrm>
            <a:off x="2057400" y="3876675"/>
            <a:ext cx="11430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7" name="Text Box 50"/>
          <p:cNvSpPr txBox="1">
            <a:spLocks noChangeArrowheads="1"/>
          </p:cNvSpPr>
          <p:nvPr/>
        </p:nvSpPr>
        <p:spPr bwMode="auto">
          <a:xfrm>
            <a:off x="3895725" y="3800475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/>
              <a:t>16</a:t>
            </a:r>
          </a:p>
        </p:txBody>
      </p:sp>
      <p:sp>
        <p:nvSpPr>
          <p:cNvPr id="26638" name="Text Box 4"/>
          <p:cNvSpPr txBox="1">
            <a:spLocks noChangeArrowheads="1"/>
          </p:cNvSpPr>
          <p:nvPr/>
        </p:nvSpPr>
        <p:spPr bwMode="auto">
          <a:xfrm>
            <a:off x="381000" y="2133600"/>
            <a:ext cx="1309688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b="1" i="1"/>
              <a:t>Antony</a:t>
            </a:r>
          </a:p>
        </p:txBody>
      </p:sp>
      <p:sp>
        <p:nvSpPr>
          <p:cNvPr id="26639" name="AutoShape 7"/>
          <p:cNvSpPr>
            <a:spLocks noChangeArrowheads="1"/>
          </p:cNvSpPr>
          <p:nvPr/>
        </p:nvSpPr>
        <p:spPr bwMode="auto">
          <a:xfrm>
            <a:off x="2057400" y="2209800"/>
            <a:ext cx="11430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6640" name="Group 52"/>
          <p:cNvGrpSpPr>
            <a:grpSpLocks/>
          </p:cNvGrpSpPr>
          <p:nvPr/>
        </p:nvGrpSpPr>
        <p:grpSpPr bwMode="auto">
          <a:xfrm>
            <a:off x="3276600" y="2133600"/>
            <a:ext cx="4876800" cy="461963"/>
            <a:chOff x="2064" y="2400"/>
            <a:chExt cx="3072" cy="291"/>
          </a:xfrm>
        </p:grpSpPr>
        <p:grpSp>
          <p:nvGrpSpPr>
            <p:cNvPr id="26650" name="Group 19"/>
            <p:cNvGrpSpPr>
              <a:grpSpLocks/>
            </p:cNvGrpSpPr>
            <p:nvPr/>
          </p:nvGrpSpPr>
          <p:grpSpPr bwMode="auto">
            <a:xfrm>
              <a:off x="2064" y="2448"/>
              <a:ext cx="3072" cy="192"/>
              <a:chOff x="2064" y="2448"/>
              <a:chExt cx="3072" cy="192"/>
            </a:xfrm>
          </p:grpSpPr>
          <p:sp>
            <p:nvSpPr>
              <p:cNvPr id="26659" name="Rectangle 11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60" name="Rectangle 1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61" name="Rectangle 15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62" name="Rectangle 16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63" name="Line 18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6651" name="Text Box 40"/>
            <p:cNvSpPr txBox="1">
              <a:spLocks noChangeArrowheads="1"/>
            </p:cNvSpPr>
            <p:nvPr/>
          </p:nvSpPr>
          <p:spPr bwMode="auto">
            <a:xfrm>
              <a:off x="2160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3</a:t>
              </a:r>
            </a:p>
          </p:txBody>
        </p:sp>
        <p:sp>
          <p:nvSpPr>
            <p:cNvPr id="26652" name="Text Box 41"/>
            <p:cNvSpPr txBox="1">
              <a:spLocks noChangeArrowheads="1"/>
            </p:cNvSpPr>
            <p:nvPr/>
          </p:nvSpPr>
          <p:spPr bwMode="auto">
            <a:xfrm>
              <a:off x="2513" y="240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4</a:t>
              </a:r>
            </a:p>
          </p:txBody>
        </p:sp>
        <p:sp>
          <p:nvSpPr>
            <p:cNvPr id="26653" name="Text Box 42"/>
            <p:cNvSpPr txBox="1">
              <a:spLocks noChangeArrowheads="1"/>
            </p:cNvSpPr>
            <p:nvPr/>
          </p:nvSpPr>
          <p:spPr bwMode="auto">
            <a:xfrm>
              <a:off x="2928" y="240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8</a:t>
              </a:r>
            </a:p>
          </p:txBody>
        </p:sp>
        <p:sp>
          <p:nvSpPr>
            <p:cNvPr id="26654" name="Text Box 43"/>
            <p:cNvSpPr txBox="1">
              <a:spLocks noChangeArrowheads="1"/>
            </p:cNvSpPr>
            <p:nvPr/>
          </p:nvSpPr>
          <p:spPr bwMode="auto">
            <a:xfrm>
              <a:off x="3264" y="240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16</a:t>
              </a:r>
            </a:p>
          </p:txBody>
        </p:sp>
        <p:sp>
          <p:nvSpPr>
            <p:cNvPr id="26655" name="Text Box 44"/>
            <p:cNvSpPr txBox="1">
              <a:spLocks noChangeArrowheads="1"/>
            </p:cNvSpPr>
            <p:nvPr/>
          </p:nvSpPr>
          <p:spPr bwMode="auto">
            <a:xfrm>
              <a:off x="3665" y="240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32</a:t>
              </a:r>
            </a:p>
          </p:txBody>
        </p:sp>
        <p:sp>
          <p:nvSpPr>
            <p:cNvPr id="26656" name="Text Box 45"/>
            <p:cNvSpPr txBox="1">
              <a:spLocks noChangeArrowheads="1"/>
            </p:cNvSpPr>
            <p:nvPr/>
          </p:nvSpPr>
          <p:spPr bwMode="auto">
            <a:xfrm>
              <a:off x="4049" y="240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64</a:t>
              </a:r>
            </a:p>
          </p:txBody>
        </p:sp>
        <p:sp>
          <p:nvSpPr>
            <p:cNvPr id="26657" name="Text Box 46"/>
            <p:cNvSpPr txBox="1">
              <a:spLocks noChangeArrowheads="1"/>
            </p:cNvSpPr>
            <p:nvPr/>
          </p:nvSpPr>
          <p:spPr bwMode="auto">
            <a:xfrm>
              <a:off x="4320" y="2400"/>
              <a:ext cx="4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128</a:t>
              </a:r>
            </a:p>
          </p:txBody>
        </p:sp>
        <p:sp>
          <p:nvSpPr>
            <p:cNvPr id="26658" name="Text Box 47"/>
            <p:cNvSpPr txBox="1">
              <a:spLocks noChangeArrowheads="1"/>
            </p:cNvSpPr>
            <p:nvPr/>
          </p:nvSpPr>
          <p:spPr bwMode="auto">
            <a:xfrm>
              <a:off x="4747" y="240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26641" name="Text Box 50"/>
          <p:cNvSpPr txBox="1">
            <a:spLocks noChangeArrowheads="1"/>
          </p:cNvSpPr>
          <p:nvPr/>
        </p:nvSpPr>
        <p:spPr bwMode="auto">
          <a:xfrm>
            <a:off x="4532313" y="3810000"/>
            <a:ext cx="57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/>
              <a:t>32</a:t>
            </a:r>
          </a:p>
        </p:txBody>
      </p:sp>
      <p:grpSp>
        <p:nvGrpSpPr>
          <p:cNvPr id="9" name="Group 85"/>
          <p:cNvGrpSpPr>
            <a:grpSpLocks/>
          </p:cNvGrpSpPr>
          <p:nvPr/>
        </p:nvGrpSpPr>
        <p:grpSpPr bwMode="auto">
          <a:xfrm>
            <a:off x="4495800" y="2209800"/>
            <a:ext cx="1828800" cy="1447800"/>
            <a:chOff x="4495800" y="3276600"/>
            <a:chExt cx="1828800" cy="1447800"/>
          </a:xfrm>
        </p:grpSpPr>
        <p:sp>
          <p:nvSpPr>
            <p:cNvPr id="26647" name="Rectangle 82"/>
            <p:cNvSpPr>
              <a:spLocks noChangeArrowheads="1"/>
            </p:cNvSpPr>
            <p:nvPr/>
          </p:nvSpPr>
          <p:spPr bwMode="auto">
            <a:xfrm>
              <a:off x="4495800" y="3276600"/>
              <a:ext cx="609600" cy="304800"/>
            </a:xfrm>
            <a:prstGeom prst="rect">
              <a:avLst/>
            </a:prstGeom>
            <a:solidFill>
              <a:schemeClr val="accent1">
                <a:alpha val="12157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Rectangle 83"/>
            <p:cNvSpPr>
              <a:spLocks noChangeArrowheads="1"/>
            </p:cNvSpPr>
            <p:nvPr/>
          </p:nvSpPr>
          <p:spPr bwMode="auto">
            <a:xfrm>
              <a:off x="4495800" y="3886200"/>
              <a:ext cx="609600" cy="304800"/>
            </a:xfrm>
            <a:prstGeom prst="rect">
              <a:avLst/>
            </a:prstGeom>
            <a:solidFill>
              <a:schemeClr val="accent1">
                <a:alpha val="12157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Rectangle 84"/>
            <p:cNvSpPr>
              <a:spLocks noChangeArrowheads="1"/>
            </p:cNvSpPr>
            <p:nvPr/>
          </p:nvSpPr>
          <p:spPr bwMode="auto">
            <a:xfrm>
              <a:off x="5715000" y="4419600"/>
              <a:ext cx="609600" cy="304800"/>
            </a:xfrm>
            <a:prstGeom prst="rect">
              <a:avLst/>
            </a:prstGeom>
            <a:solidFill>
              <a:schemeClr val="accent1">
                <a:alpha val="12157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90"/>
          <p:cNvGrpSpPr/>
          <p:nvPr/>
        </p:nvGrpSpPr>
        <p:grpSpPr>
          <a:xfrm>
            <a:off x="3886200" y="2209800"/>
            <a:ext cx="1828800" cy="1981200"/>
            <a:chOff x="3886200" y="3276600"/>
            <a:chExt cx="1828800" cy="1981200"/>
          </a:xfrm>
          <a:solidFill>
            <a:schemeClr val="accent1">
              <a:alpha val="12000"/>
            </a:schemeClr>
          </a:solidFill>
        </p:grpSpPr>
        <p:sp>
          <p:nvSpPr>
            <p:cNvPr id="88" name="Rectangle 87"/>
            <p:cNvSpPr/>
            <p:nvPr/>
          </p:nvSpPr>
          <p:spPr bwMode="auto">
            <a:xfrm>
              <a:off x="5105400" y="3276600"/>
              <a:ext cx="609600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+mn-ea"/>
                <a:cs typeface="Arial Unicode MS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5105400" y="3886200"/>
              <a:ext cx="609600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+mn-ea"/>
                <a:cs typeface="Arial Unicode MS" charset="0"/>
              </a:endParaRP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3886200" y="4953000"/>
              <a:ext cx="609600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+mn-ea"/>
                <a:cs typeface="Arial Unicode MS" charset="0"/>
              </a:endParaRPr>
            </a:p>
          </p:txBody>
        </p:sp>
      </p:grpSp>
      <p:grpSp>
        <p:nvGrpSpPr>
          <p:cNvPr id="11" name="Group 91"/>
          <p:cNvGrpSpPr/>
          <p:nvPr/>
        </p:nvGrpSpPr>
        <p:grpSpPr>
          <a:xfrm>
            <a:off x="4495800" y="2209800"/>
            <a:ext cx="1828800" cy="1981200"/>
            <a:chOff x="3886200" y="3276600"/>
            <a:chExt cx="1828800" cy="1981200"/>
          </a:xfrm>
          <a:solidFill>
            <a:schemeClr val="accent1">
              <a:alpha val="12000"/>
            </a:schemeClr>
          </a:solidFill>
        </p:grpSpPr>
        <p:sp>
          <p:nvSpPr>
            <p:cNvPr id="93" name="Rectangle 92"/>
            <p:cNvSpPr/>
            <p:nvPr/>
          </p:nvSpPr>
          <p:spPr bwMode="auto">
            <a:xfrm>
              <a:off x="5105400" y="3276600"/>
              <a:ext cx="609600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+mn-ea"/>
                <a:cs typeface="Arial Unicode MS" charset="0"/>
              </a:endParaRPr>
            </a:p>
          </p:txBody>
        </p:sp>
        <p:sp>
          <p:nvSpPr>
            <p:cNvPr id="94" name="Rectangle 93"/>
            <p:cNvSpPr/>
            <p:nvPr/>
          </p:nvSpPr>
          <p:spPr bwMode="auto">
            <a:xfrm>
              <a:off x="5105400" y="3886200"/>
              <a:ext cx="609600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+mn-ea"/>
                <a:cs typeface="Arial Unicode MS" charset="0"/>
              </a:endParaRP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3886200" y="4953000"/>
              <a:ext cx="609600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+mn-ea"/>
                <a:cs typeface="Arial Unicode MS" charset="0"/>
              </a:endParaRPr>
            </a:p>
          </p:txBody>
        </p:sp>
      </p:grpSp>
      <p:sp>
        <p:nvSpPr>
          <p:cNvPr id="96" name="TextBox 95"/>
          <p:cNvSpPr txBox="1">
            <a:spLocks noChangeArrowheads="1"/>
          </p:cNvSpPr>
          <p:nvPr/>
        </p:nvSpPr>
        <p:spPr bwMode="auto">
          <a:xfrm>
            <a:off x="762000" y="5105400"/>
            <a:ext cx="803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2800">
                <a:solidFill>
                  <a:srgbClr val="C00000"/>
                </a:solidFill>
              </a:rPr>
              <a:t>Scores only computed for docs 8, 16 and 32.</a:t>
            </a:r>
          </a:p>
        </p:txBody>
      </p:sp>
      <p:sp>
        <p:nvSpPr>
          <p:cNvPr id="2664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Champion lists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Precompute for each dictionary term </a:t>
            </a:r>
            <a:r>
              <a:rPr lang="en-US" i="1" smtClean="0">
                <a:ea typeface="ＭＳ Ｐゴシック" pitchFamily="34" charset="-128"/>
              </a:rPr>
              <a:t>t,</a:t>
            </a:r>
            <a:r>
              <a:rPr lang="en-US" smtClean="0">
                <a:ea typeface="ＭＳ Ｐゴシック" pitchFamily="34" charset="-128"/>
              </a:rPr>
              <a:t> the </a:t>
            </a:r>
            <a:r>
              <a:rPr lang="en-US" i="1" smtClean="0">
                <a:ea typeface="ＭＳ Ｐゴシック" pitchFamily="34" charset="-128"/>
              </a:rPr>
              <a:t>r</a:t>
            </a:r>
            <a:r>
              <a:rPr lang="en-US" smtClean="0">
                <a:ea typeface="ＭＳ Ｐゴシック" pitchFamily="34" charset="-128"/>
              </a:rPr>
              <a:t> docs of highest weight in </a:t>
            </a:r>
            <a:r>
              <a:rPr lang="en-US" i="1" smtClean="0">
                <a:ea typeface="ＭＳ Ｐゴシック" pitchFamily="34" charset="-128"/>
              </a:rPr>
              <a:t>t’</a:t>
            </a:r>
            <a:r>
              <a:rPr lang="en-US" smtClean="0">
                <a:ea typeface="ＭＳ Ｐゴシック" pitchFamily="34" charset="-128"/>
              </a:rPr>
              <a:t>s postings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Call this the </a:t>
            </a:r>
            <a:r>
              <a:rPr lang="en-US" u="sng" smtClean="0">
                <a:ea typeface="ＭＳ Ｐゴシック" pitchFamily="34" charset="-128"/>
              </a:rPr>
              <a:t>champion list</a:t>
            </a:r>
            <a:r>
              <a:rPr lang="en-US" smtClean="0">
                <a:ea typeface="ＭＳ Ｐゴシック" pitchFamily="34" charset="-128"/>
              </a:rPr>
              <a:t> for </a:t>
            </a:r>
            <a:r>
              <a:rPr lang="en-US" i="1" smtClean="0">
                <a:ea typeface="ＭＳ Ｐゴシック" pitchFamily="34" charset="-128"/>
              </a:rPr>
              <a:t>t</a:t>
            </a:r>
            <a:endParaRPr lang="en-US" smtClean="0">
              <a:ea typeface="ＭＳ Ｐゴシック" pitchFamily="34" charset="-128"/>
            </a:endParaRPr>
          </a:p>
          <a:p>
            <a:pPr lvl="1"/>
            <a:r>
              <a:rPr lang="en-US" smtClean="0">
                <a:ea typeface="ＭＳ Ｐゴシック" pitchFamily="34" charset="-128"/>
              </a:rPr>
              <a:t>(aka </a:t>
            </a:r>
            <a:r>
              <a:rPr lang="en-US" u="sng" smtClean="0">
                <a:ea typeface="ＭＳ Ｐゴシック" pitchFamily="34" charset="-128"/>
              </a:rPr>
              <a:t>fancy list</a:t>
            </a:r>
            <a:r>
              <a:rPr lang="en-US" smtClean="0">
                <a:ea typeface="ＭＳ Ｐゴシック" pitchFamily="34" charset="-128"/>
              </a:rPr>
              <a:t> or </a:t>
            </a:r>
            <a:r>
              <a:rPr lang="en-US" u="sng" smtClean="0">
                <a:ea typeface="ＭＳ Ｐゴシック" pitchFamily="34" charset="-128"/>
              </a:rPr>
              <a:t>top docs</a:t>
            </a:r>
            <a:r>
              <a:rPr lang="en-US" smtClean="0">
                <a:ea typeface="ＭＳ Ｐゴシック" pitchFamily="34" charset="-128"/>
              </a:rPr>
              <a:t> for </a:t>
            </a:r>
            <a:r>
              <a:rPr lang="en-US" i="1" smtClean="0">
                <a:ea typeface="ＭＳ Ｐゴシック" pitchFamily="34" charset="-128"/>
              </a:rPr>
              <a:t>t</a:t>
            </a:r>
            <a:r>
              <a:rPr lang="en-US" smtClean="0">
                <a:ea typeface="ＭＳ Ｐゴシック" pitchFamily="34" charset="-128"/>
              </a:rPr>
              <a:t>)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Note that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has to be chosen at index build time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Thus, it’s possible that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&lt;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</a:t>
            </a:r>
          </a:p>
          <a:p>
            <a:r>
              <a:rPr lang="en-US" smtClean="0">
                <a:ea typeface="ＭＳ Ｐゴシック" pitchFamily="34" charset="-128"/>
              </a:rPr>
              <a:t>At query time, only compute scores for docs in the champion list of some query term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Pick the </a:t>
            </a:r>
            <a:r>
              <a:rPr lang="en-US" i="1" smtClean="0">
                <a:ea typeface="ＭＳ Ｐゴシック" pitchFamily="34" charset="-128"/>
              </a:rPr>
              <a:t>K</a:t>
            </a:r>
            <a:r>
              <a:rPr lang="en-US" smtClean="0">
                <a:ea typeface="ＭＳ Ｐゴシック" pitchFamily="34" charset="-128"/>
              </a:rPr>
              <a:t> top-scoring docs from amongst these</a:t>
            </a:r>
          </a:p>
        </p:txBody>
      </p:sp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Exercises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How do Champion Lists relate to Index Elimination? Can they be used together?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How can Champion Lists be implemented in an inverted index?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Note that the champion list has nothing to do with small docIDs</a:t>
            </a:r>
          </a:p>
        </p:txBody>
      </p:sp>
      <p:sp>
        <p:nvSpPr>
          <p:cNvPr id="2867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124200" y="5181600"/>
            <a:ext cx="5810250" cy="1219200"/>
            <a:chOff x="3124200" y="5181600"/>
            <a:chExt cx="5810869" cy="1219199"/>
          </a:xfrm>
        </p:grpSpPr>
        <p:sp>
          <p:nvSpPr>
            <p:cNvPr id="5" name="TextBox 4"/>
            <p:cNvSpPr txBox="1"/>
            <p:nvPr/>
          </p:nvSpPr>
          <p:spPr>
            <a:xfrm>
              <a:off x="6934606" y="5181600"/>
              <a:ext cx="2000463" cy="461963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/>
                <a:t>Quantitative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 bwMode="auto">
            <a:xfrm rot="10800000" flipV="1">
              <a:off x="5334235" y="5410200"/>
              <a:ext cx="1600370" cy="1524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9" name="Straight Arrow Connector 8"/>
            <p:cNvCxnSpPr>
              <a:stCxn id="5" idx="1"/>
            </p:cNvCxnSpPr>
            <p:nvPr/>
          </p:nvCxnSpPr>
          <p:spPr bwMode="auto">
            <a:xfrm rot="10800000" flipV="1">
              <a:off x="6020108" y="5411788"/>
              <a:ext cx="914497" cy="37941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Straight Arrow Connector 10"/>
            <p:cNvCxnSpPr>
              <a:stCxn id="5" idx="1"/>
            </p:cNvCxnSpPr>
            <p:nvPr/>
          </p:nvCxnSpPr>
          <p:spPr bwMode="auto">
            <a:xfrm rot="10800000" flipV="1">
              <a:off x="3124200" y="5411788"/>
              <a:ext cx="3810406" cy="98901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Static quality scores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We want top-ranking documents to be both </a:t>
            </a:r>
            <a:r>
              <a:rPr lang="en-US" i="1" smtClean="0">
                <a:ea typeface="ＭＳ Ｐゴシック" pitchFamily="34" charset="-128"/>
              </a:rPr>
              <a:t>relevant </a:t>
            </a:r>
            <a:r>
              <a:rPr lang="en-US" smtClean="0">
                <a:ea typeface="ＭＳ Ｐゴシック" pitchFamily="34" charset="-128"/>
              </a:rPr>
              <a:t>and </a:t>
            </a:r>
            <a:r>
              <a:rPr lang="en-US" i="1" smtClean="0">
                <a:ea typeface="ＭＳ Ｐゴシック" pitchFamily="34" charset="-128"/>
              </a:rPr>
              <a:t>authoritative</a:t>
            </a:r>
          </a:p>
          <a:p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Relevance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is being modeled by cosine scores</a:t>
            </a:r>
          </a:p>
          <a:p>
            <a:r>
              <a:rPr lang="en-US" i="1" smtClean="0">
                <a:ea typeface="ＭＳ Ｐゴシック" pitchFamily="34" charset="-128"/>
              </a:rPr>
              <a:t>Authority </a:t>
            </a:r>
            <a:r>
              <a:rPr lang="en-US" smtClean="0">
                <a:ea typeface="ＭＳ Ｐゴシック" pitchFamily="34" charset="-128"/>
              </a:rPr>
              <a:t>is typically a query-independent property of a document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Examples of authority signals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Wikipedia among websites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Articles in certain newspapers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A paper with many citations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Many bitly’s, diggs or del.icio.us marks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(Pagerank)</a:t>
            </a:r>
          </a:p>
        </p:txBody>
      </p:sp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Modeling authority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Assign to each document a </a:t>
            </a:r>
            <a:r>
              <a:rPr lang="en-US" i="1" smtClean="0">
                <a:ea typeface="ＭＳ Ｐゴシック" pitchFamily="34" charset="-128"/>
              </a:rPr>
              <a:t>query-independent</a:t>
            </a:r>
            <a:r>
              <a:rPr lang="en-US" smtClean="0">
                <a:ea typeface="ＭＳ Ｐゴシック" pitchFamily="34" charset="-128"/>
              </a:rPr>
              <a:t> </a:t>
            </a:r>
            <a:r>
              <a:rPr lang="en-US" u="sng" smtClean="0">
                <a:ea typeface="ＭＳ Ｐゴシック" pitchFamily="34" charset="-128"/>
              </a:rPr>
              <a:t>quality score</a:t>
            </a:r>
            <a:r>
              <a:rPr lang="en-US" smtClean="0">
                <a:ea typeface="ＭＳ Ｐゴシック" pitchFamily="34" charset="-128"/>
              </a:rPr>
              <a:t> in [0,1] to each document </a:t>
            </a:r>
            <a:r>
              <a:rPr lang="en-US" i="1" smtClean="0">
                <a:ea typeface="ＭＳ Ｐゴシック" pitchFamily="34" charset="-128"/>
              </a:rPr>
              <a:t>d</a:t>
            </a:r>
            <a:endParaRPr lang="en-US" smtClean="0">
              <a:ea typeface="ＭＳ Ｐゴシック" pitchFamily="34" charset="-128"/>
            </a:endParaRPr>
          </a:p>
          <a:p>
            <a:pPr lvl="1"/>
            <a:r>
              <a:rPr lang="en-US" smtClean="0">
                <a:ea typeface="ＭＳ Ｐゴシック" pitchFamily="34" charset="-128"/>
              </a:rPr>
              <a:t>Denote this by </a:t>
            </a:r>
            <a:r>
              <a:rPr lang="en-US" i="1" smtClean="0">
                <a:ea typeface="ＭＳ Ｐゴシック" pitchFamily="34" charset="-128"/>
              </a:rPr>
              <a:t>g(d)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Thus, a quantity like the number of citations is scaled into [0,1]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Exercise: suggest a formula for this.</a:t>
            </a:r>
          </a:p>
        </p:txBody>
      </p:sp>
      <p:sp>
        <p:nvSpPr>
          <p:cNvPr id="3072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Net score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Consider a simple total score combining cosine relevance and authority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net-score(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q,d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) =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g(d) +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cosine(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q,d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)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Can use some other linear combination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Indeed, any function of the two “signals” of user happiness – more later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Now we seek the top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docs by </a:t>
            </a:r>
            <a:r>
              <a:rPr lang="en-US" u="sng" smtClean="0">
                <a:solidFill>
                  <a:srgbClr val="C00000"/>
                </a:solidFill>
                <a:ea typeface="ＭＳ Ｐゴシック" pitchFamily="34" charset="-128"/>
              </a:rPr>
              <a:t>net score</a:t>
            </a:r>
          </a:p>
        </p:txBody>
      </p:sp>
      <p:sp>
        <p:nvSpPr>
          <p:cNvPr id="31748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Top </a:t>
            </a:r>
            <a:r>
              <a:rPr lang="en-US" i="1" smtClean="0">
                <a:ea typeface="ＭＳ Ｐゴシック" pitchFamily="34" charset="-128"/>
              </a:rPr>
              <a:t>K </a:t>
            </a:r>
            <a:r>
              <a:rPr lang="en-US" smtClean="0">
                <a:ea typeface="ＭＳ Ｐゴシック" pitchFamily="34" charset="-128"/>
              </a:rPr>
              <a:t>by net score – fast methods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First idea: Order all postings by </a:t>
            </a:r>
            <a:r>
              <a:rPr lang="en-US" i="1" smtClean="0">
                <a:ea typeface="ＭＳ Ｐゴシック" pitchFamily="34" charset="-128"/>
              </a:rPr>
              <a:t>g(d)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Key: this is a common ordering for all postings</a:t>
            </a:r>
          </a:p>
          <a:p>
            <a:r>
              <a:rPr lang="en-US" smtClean="0">
                <a:ea typeface="ＭＳ Ｐゴシック" pitchFamily="34" charset="-128"/>
              </a:rPr>
              <a:t>Thus, can concurrently traverse query terms’ postings for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Postings intersection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Cosine score computation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Exercise: write pseudocode for cosine score computation if postings are ordered by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g(d)</a:t>
            </a:r>
            <a:endParaRPr lang="en-US" smtClean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Why order postings by </a:t>
            </a:r>
            <a:r>
              <a:rPr lang="en-US" i="1" smtClean="0">
                <a:ea typeface="ＭＳ Ｐゴシック" pitchFamily="34" charset="-128"/>
              </a:rPr>
              <a:t>g(d)?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Under </a:t>
            </a:r>
            <a:r>
              <a:rPr lang="en-US" i="1" smtClean="0">
                <a:ea typeface="ＭＳ Ｐゴシック" pitchFamily="34" charset="-128"/>
              </a:rPr>
              <a:t>g(d)-</a:t>
            </a:r>
            <a:r>
              <a:rPr lang="en-US" smtClean="0">
                <a:ea typeface="ＭＳ Ｐゴシック" pitchFamily="34" charset="-128"/>
              </a:rPr>
              <a:t>ordering, top-scoring docs likely to appear early in postings traversal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In time-bound applications (say, we have to return whatever search results we can in 50 ms), this allows us to stop postings traversal early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Short of computing scores for all docs in postings</a:t>
            </a:r>
          </a:p>
        </p:txBody>
      </p:sp>
      <p:sp>
        <p:nvSpPr>
          <p:cNvPr id="3379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Champion lists in </a:t>
            </a:r>
            <a:r>
              <a:rPr lang="en-US" i="1" smtClean="0">
                <a:ea typeface="ＭＳ Ｐゴシック" pitchFamily="34" charset="-128"/>
              </a:rPr>
              <a:t>g(d)-</a:t>
            </a:r>
            <a:r>
              <a:rPr lang="en-US" smtClean="0">
                <a:ea typeface="ＭＳ Ｐゴシック" pitchFamily="34" charset="-128"/>
              </a:rPr>
              <a:t>ordering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Can combine champion lists with </a:t>
            </a:r>
            <a:r>
              <a:rPr lang="en-US" i="1" smtClean="0">
                <a:ea typeface="ＭＳ Ｐゴシック" pitchFamily="34" charset="-128"/>
              </a:rPr>
              <a:t>g(d)-</a:t>
            </a:r>
            <a:r>
              <a:rPr lang="en-US" smtClean="0">
                <a:ea typeface="ＭＳ Ｐゴシック" pitchFamily="34" charset="-128"/>
              </a:rPr>
              <a:t>ordering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Maintain for each term a champion list of the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docs with highest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g(d) +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tf-idf</a:t>
            </a:r>
            <a:r>
              <a:rPr lang="en-US" i="1" baseline="-25000" smtClean="0">
                <a:solidFill>
                  <a:srgbClr val="C00000"/>
                </a:solidFill>
                <a:ea typeface="ＭＳ Ｐゴシック" pitchFamily="34" charset="-128"/>
              </a:rPr>
              <a:t>td</a:t>
            </a:r>
          </a:p>
          <a:p>
            <a:r>
              <a:rPr lang="en-US" smtClean="0">
                <a:ea typeface="ＭＳ Ｐゴシック" pitchFamily="34" charset="-128"/>
              </a:rPr>
              <a:t>Seek top-</a:t>
            </a:r>
            <a:r>
              <a:rPr lang="en-US" i="1" smtClean="0">
                <a:ea typeface="ＭＳ Ｐゴシック" pitchFamily="34" charset="-128"/>
              </a:rPr>
              <a:t>K</a:t>
            </a:r>
            <a:r>
              <a:rPr lang="en-US" smtClean="0">
                <a:ea typeface="ＭＳ Ｐゴシック" pitchFamily="34" charset="-128"/>
              </a:rPr>
              <a:t> results from only the docs in these champion lists</a:t>
            </a:r>
            <a:endParaRPr lang="en-US" i="1" baseline="-25000" smtClean="0">
              <a:ea typeface="ＭＳ Ｐゴシック" pitchFamily="34" charset="-128"/>
            </a:endParaRPr>
          </a:p>
        </p:txBody>
      </p:sp>
      <p:sp>
        <p:nvSpPr>
          <p:cNvPr id="3482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High and low lists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For each term, we maintain two postings lists called </a:t>
            </a:r>
            <a:r>
              <a:rPr lang="en-US" i="1" smtClean="0">
                <a:ea typeface="ＭＳ Ｐゴシック" pitchFamily="34" charset="-128"/>
              </a:rPr>
              <a:t>high </a:t>
            </a:r>
            <a:r>
              <a:rPr lang="en-US" smtClean="0">
                <a:ea typeface="ＭＳ Ｐゴシック" pitchFamily="34" charset="-128"/>
              </a:rPr>
              <a:t>and </a:t>
            </a:r>
            <a:r>
              <a:rPr lang="en-US" i="1" smtClean="0">
                <a:ea typeface="ＭＳ Ｐゴシック" pitchFamily="34" charset="-128"/>
              </a:rPr>
              <a:t>low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Think of </a:t>
            </a:r>
            <a:r>
              <a:rPr lang="en-US" i="1" smtClean="0">
                <a:ea typeface="ＭＳ Ｐゴシック" pitchFamily="34" charset="-128"/>
              </a:rPr>
              <a:t>high</a:t>
            </a:r>
            <a:r>
              <a:rPr lang="en-US" smtClean="0">
                <a:ea typeface="ＭＳ Ｐゴシック" pitchFamily="34" charset="-128"/>
              </a:rPr>
              <a:t> as the champion list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When traversing postings on a query, only traverse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high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lists first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If we get more than </a:t>
            </a:r>
            <a:r>
              <a:rPr lang="en-US" i="1" smtClean="0">
                <a:ea typeface="ＭＳ Ｐゴシック" pitchFamily="34" charset="-128"/>
              </a:rPr>
              <a:t>K</a:t>
            </a:r>
            <a:r>
              <a:rPr lang="en-US" smtClean="0">
                <a:ea typeface="ＭＳ Ｐゴシック" pitchFamily="34" charset="-128"/>
              </a:rPr>
              <a:t> docs, select the top </a:t>
            </a:r>
            <a:r>
              <a:rPr lang="en-US" i="1" smtClean="0">
                <a:ea typeface="ＭＳ Ｐゴシック" pitchFamily="34" charset="-128"/>
              </a:rPr>
              <a:t>K </a:t>
            </a:r>
            <a:r>
              <a:rPr lang="en-US" smtClean="0">
                <a:ea typeface="ＭＳ Ｐゴシック" pitchFamily="34" charset="-128"/>
              </a:rPr>
              <a:t>and stop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Else proceed to get docs from the </a:t>
            </a:r>
            <a:r>
              <a:rPr lang="en-US" i="1" smtClean="0">
                <a:ea typeface="ＭＳ Ｐゴシック" pitchFamily="34" charset="-128"/>
              </a:rPr>
              <a:t>low</a:t>
            </a:r>
            <a:r>
              <a:rPr lang="en-US" smtClean="0">
                <a:ea typeface="ＭＳ Ｐゴシック" pitchFamily="34" charset="-128"/>
              </a:rPr>
              <a:t> lists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Can be used even for simple cosine scores, without global quality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g(d)</a:t>
            </a:r>
          </a:p>
          <a:p>
            <a:r>
              <a:rPr lang="en-US" smtClean="0">
                <a:ea typeface="ＭＳ Ｐゴシック" pitchFamily="34" charset="-128"/>
              </a:rPr>
              <a:t>A means for segmenting index into two </a:t>
            </a:r>
            <a:r>
              <a:rPr lang="en-US" u="sng" smtClean="0">
                <a:ea typeface="ＭＳ Ｐゴシック" pitchFamily="34" charset="-128"/>
              </a:rPr>
              <a:t>tiers</a:t>
            </a:r>
          </a:p>
        </p:txBody>
      </p:sp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>
                <a:ea typeface="宋体" pitchFamily="2" charset="-122"/>
              </a:rPr>
              <a:t>Impact-ordered postings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We only want to compute scores for docs for which </a:t>
            </a:r>
            <a:r>
              <a:rPr lang="en-US" altLang="zh-CN" i="1" smtClean="0">
                <a:ea typeface="宋体" pitchFamily="2" charset="-122"/>
              </a:rPr>
              <a:t>wf</a:t>
            </a:r>
            <a:r>
              <a:rPr lang="en-US" altLang="zh-CN" i="1" baseline="-25000" smtClean="0">
                <a:ea typeface="宋体" pitchFamily="2" charset="-122"/>
              </a:rPr>
              <a:t>t,d</a:t>
            </a:r>
            <a:r>
              <a:rPr lang="en-US" altLang="zh-CN" smtClean="0">
                <a:ea typeface="宋体" pitchFamily="2" charset="-122"/>
              </a:rPr>
              <a:t> is high enough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We sort each postings list by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wf</a:t>
            </a:r>
            <a:r>
              <a:rPr lang="en-US" altLang="zh-CN" i="1" baseline="-25000" smtClean="0">
                <a:solidFill>
                  <a:srgbClr val="C00000"/>
                </a:solidFill>
                <a:ea typeface="宋体" pitchFamily="2" charset="-122"/>
              </a:rPr>
              <a:t>t,d</a:t>
            </a:r>
            <a:endParaRPr lang="en-US" altLang="zh-CN" smtClean="0">
              <a:solidFill>
                <a:srgbClr val="C00000"/>
              </a:solidFill>
              <a:ea typeface="宋体" pitchFamily="2" charset="-122"/>
            </a:endParaRPr>
          </a:p>
          <a:p>
            <a:pPr eaLnBrk="1" hangingPunct="1"/>
            <a:r>
              <a:rPr lang="en-US" altLang="zh-CN" u="sng" smtClean="0">
                <a:ea typeface="宋体" pitchFamily="2" charset="-122"/>
              </a:rPr>
              <a:t>Now: not all postings in a common order!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How do we compute scores in order to pick off top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K?</a:t>
            </a:r>
          </a:p>
          <a:p>
            <a:pPr lvl="1" eaLnBrk="1" hangingPunct="1"/>
            <a:r>
              <a:rPr lang="en-US" altLang="zh-CN" smtClean="0">
                <a:ea typeface="宋体" pitchFamily="2" charset="-122"/>
              </a:rPr>
              <a:t>Two ideas follow</a:t>
            </a:r>
          </a:p>
        </p:txBody>
      </p:sp>
      <p:sp>
        <p:nvSpPr>
          <p:cNvPr id="36868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1. Early termination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When traversing </a:t>
            </a:r>
            <a:r>
              <a:rPr lang="en-US" i="1" smtClean="0">
                <a:ea typeface="ＭＳ Ｐゴシック" pitchFamily="34" charset="-128"/>
              </a:rPr>
              <a:t>t’</a:t>
            </a:r>
            <a:r>
              <a:rPr lang="en-US" smtClean="0">
                <a:ea typeface="ＭＳ Ｐゴシック" pitchFamily="34" charset="-128"/>
              </a:rPr>
              <a:t>s postings, stop early after either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a fixed number of </a:t>
            </a:r>
            <a:r>
              <a:rPr lang="en-US" i="1" smtClean="0">
                <a:ea typeface="ＭＳ Ｐゴシック" pitchFamily="34" charset="-128"/>
              </a:rPr>
              <a:t>r</a:t>
            </a:r>
            <a:r>
              <a:rPr lang="en-US" smtClean="0">
                <a:ea typeface="ＭＳ Ｐゴシック" pitchFamily="34" charset="-128"/>
              </a:rPr>
              <a:t> </a:t>
            </a:r>
            <a:r>
              <a:rPr lang="en-US" altLang="zh-CN" smtClean="0">
                <a:ea typeface="宋体" pitchFamily="2" charset="-122"/>
              </a:rPr>
              <a:t>docs</a:t>
            </a:r>
            <a:endParaRPr lang="en-US" smtClean="0">
              <a:ea typeface="ＭＳ Ｐゴシック" pitchFamily="34" charset="-128"/>
            </a:endParaRPr>
          </a:p>
          <a:p>
            <a:pPr lvl="1"/>
            <a:r>
              <a:rPr lang="en-US" altLang="zh-CN" i="1" smtClean="0">
                <a:ea typeface="宋体" pitchFamily="2" charset="-122"/>
              </a:rPr>
              <a:t>wf</a:t>
            </a:r>
            <a:r>
              <a:rPr lang="en-US" altLang="zh-CN" i="1" baseline="-25000" smtClean="0">
                <a:ea typeface="宋体" pitchFamily="2" charset="-122"/>
              </a:rPr>
              <a:t>t,d  </a:t>
            </a:r>
            <a:r>
              <a:rPr lang="en-US" altLang="zh-CN" smtClean="0">
                <a:ea typeface="宋体" pitchFamily="2" charset="-122"/>
              </a:rPr>
              <a:t>drops below some threshold</a:t>
            </a:r>
          </a:p>
          <a:p>
            <a:r>
              <a:rPr lang="en-US" smtClean="0">
                <a:solidFill>
                  <a:srgbClr val="C00000"/>
                </a:solidFill>
                <a:ea typeface="宋体" pitchFamily="2" charset="-122"/>
              </a:rPr>
              <a:t>Take the union of the resulting sets of docs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宋体" pitchFamily="2" charset="-122"/>
              </a:rPr>
              <a:t>One from the postings of each query term</a:t>
            </a:r>
          </a:p>
          <a:p>
            <a:r>
              <a:rPr lang="en-US" smtClean="0">
                <a:ea typeface="宋体" pitchFamily="2" charset="-122"/>
              </a:rPr>
              <a:t>Compute only the scores for docs in this union</a:t>
            </a:r>
            <a:endParaRPr lang="en-US" smtClean="0">
              <a:ea typeface="ＭＳ Ｐゴシック" pitchFamily="34" charset="-128"/>
            </a:endParaRPr>
          </a:p>
          <a:p>
            <a:pPr lvl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3789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2. idf-ordered terms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When considering the postings of query terms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Look at them in order of decreasing idf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High idf terms likely to contribute most to score</a:t>
            </a:r>
          </a:p>
          <a:p>
            <a:r>
              <a:rPr lang="en-US" smtClean="0">
                <a:ea typeface="ＭＳ Ｐゴシック" pitchFamily="34" charset="-128"/>
              </a:rPr>
              <a:t>As we update score contribution from each query term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Stop if doc scores relatively unchanged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Can apply to cosine or some other net scores</a:t>
            </a:r>
          </a:p>
        </p:txBody>
      </p:sp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Cluster pruning: preprocessing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500" smtClean="0">
                <a:ea typeface="宋体" pitchFamily="2" charset="-122"/>
              </a:rPr>
              <a:t>Pick </a:t>
            </a:r>
            <a:r>
              <a:rPr lang="en-US" altLang="zh-CN" sz="3500" smtClean="0">
                <a:ea typeface="宋体" pitchFamily="2" charset="-122"/>
                <a:sym typeface="Symbol" pitchFamily="18" charset="2"/>
              </a:rPr>
              <a:t>N </a:t>
            </a:r>
            <a:r>
              <a:rPr lang="en-US" altLang="zh-CN" sz="3500" i="1" smtClean="0">
                <a:ea typeface="宋体" pitchFamily="2" charset="-122"/>
                <a:sym typeface="Symbol" pitchFamily="18" charset="2"/>
              </a:rPr>
              <a:t>docs</a:t>
            </a:r>
            <a:r>
              <a:rPr lang="en-US" altLang="zh-CN" sz="3500" smtClean="0">
                <a:ea typeface="宋体" pitchFamily="2" charset="-122"/>
                <a:sym typeface="Symbol" pitchFamily="18" charset="2"/>
              </a:rPr>
              <a:t> at random: call these </a:t>
            </a:r>
            <a:r>
              <a:rPr lang="en-US" altLang="zh-CN" sz="3500" i="1" smtClean="0">
                <a:ea typeface="宋体" pitchFamily="2" charset="-122"/>
                <a:sym typeface="Symbol" pitchFamily="18" charset="2"/>
              </a:rPr>
              <a:t>leaders</a:t>
            </a:r>
            <a:endParaRPr lang="en-US" altLang="zh-CN" sz="3500" smtClean="0">
              <a:ea typeface="宋体" pitchFamily="2" charset="-122"/>
            </a:endParaRPr>
          </a:p>
          <a:p>
            <a:pPr eaLnBrk="1" hangingPunct="1"/>
            <a:r>
              <a:rPr lang="en-US" altLang="zh-CN" sz="3500" smtClean="0">
                <a:solidFill>
                  <a:srgbClr val="C00000"/>
                </a:solidFill>
                <a:ea typeface="宋体" pitchFamily="2" charset="-122"/>
              </a:rPr>
              <a:t>For every other doc, pre-compute nearest leader</a:t>
            </a:r>
          </a:p>
          <a:p>
            <a:pPr lvl="1" eaLnBrk="1" hangingPunct="1"/>
            <a:r>
              <a:rPr lang="en-US" altLang="zh-CN" sz="3200" smtClean="0">
                <a:ea typeface="宋体" pitchFamily="2" charset="-122"/>
              </a:rPr>
              <a:t>Docs attached to a leader: its </a:t>
            </a:r>
            <a:r>
              <a:rPr lang="en-US" altLang="zh-CN" sz="3200" i="1" smtClean="0">
                <a:ea typeface="宋体" pitchFamily="2" charset="-122"/>
              </a:rPr>
              <a:t>followers;</a:t>
            </a:r>
          </a:p>
          <a:p>
            <a:pPr lvl="1" eaLnBrk="1" hangingPunct="1"/>
            <a:r>
              <a:rPr lang="en-US" altLang="zh-CN" sz="3200" u="sng" smtClean="0">
                <a:ea typeface="宋体" pitchFamily="2" charset="-122"/>
              </a:rPr>
              <a:t>Likely</a:t>
            </a:r>
            <a:r>
              <a:rPr lang="en-US" altLang="zh-CN" sz="3200" smtClean="0">
                <a:ea typeface="宋体" pitchFamily="2" charset="-122"/>
              </a:rPr>
              <a:t>: each leader has ~ </a:t>
            </a:r>
            <a:r>
              <a:rPr lang="en-US" altLang="zh-CN" sz="3200" smtClean="0">
                <a:ea typeface="宋体" pitchFamily="2" charset="-122"/>
                <a:sym typeface="Symbol" pitchFamily="18" charset="2"/>
              </a:rPr>
              <a:t></a:t>
            </a:r>
            <a:r>
              <a:rPr lang="en-US" altLang="zh-CN" sz="3200" i="1" smtClean="0">
                <a:ea typeface="宋体" pitchFamily="2" charset="-122"/>
                <a:sym typeface="Symbol" pitchFamily="18" charset="2"/>
              </a:rPr>
              <a:t>N</a:t>
            </a:r>
            <a:r>
              <a:rPr lang="en-US" altLang="zh-CN" sz="3200" smtClean="0">
                <a:ea typeface="宋体" pitchFamily="2" charset="-122"/>
                <a:sym typeface="Symbol" pitchFamily="18" charset="2"/>
              </a:rPr>
              <a:t> followers.</a:t>
            </a:r>
            <a:endParaRPr lang="en-US" altLang="zh-CN" sz="3200" i="1" smtClean="0">
              <a:ea typeface="宋体" pitchFamily="2" charset="-122"/>
            </a:endParaRPr>
          </a:p>
        </p:txBody>
      </p:sp>
      <p:sp>
        <p:nvSpPr>
          <p:cNvPr id="3994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itchFamily="2" charset="-122"/>
              </a:rPr>
              <a:t> </a:t>
            </a:r>
            <a:r>
              <a:rPr lang="en-US" altLang="zh-CN" smtClean="0">
                <a:ea typeface="宋体" pitchFamily="2" charset="-122"/>
              </a:rPr>
              <a:t>Cluster pruning: query processing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400" smtClean="0">
                <a:ea typeface="宋体" pitchFamily="2" charset="-122"/>
              </a:rPr>
              <a:t>Process a query as follows:</a:t>
            </a:r>
          </a:p>
          <a:p>
            <a:pPr lvl="1" eaLnBrk="1" hangingPunct="1"/>
            <a:r>
              <a:rPr lang="en-US" altLang="zh-CN" sz="3200" smtClean="0">
                <a:ea typeface="宋体" pitchFamily="2" charset="-122"/>
              </a:rPr>
              <a:t>Given query </a:t>
            </a:r>
            <a:r>
              <a:rPr lang="en-US" altLang="zh-CN" sz="3200" i="1" smtClean="0">
                <a:ea typeface="宋体" pitchFamily="2" charset="-122"/>
              </a:rPr>
              <a:t>Q</a:t>
            </a:r>
            <a:r>
              <a:rPr lang="en-US" altLang="zh-CN" sz="3200" smtClean="0">
                <a:ea typeface="宋体" pitchFamily="2" charset="-122"/>
              </a:rPr>
              <a:t>, find its nearest </a:t>
            </a:r>
            <a:r>
              <a:rPr lang="en-US" altLang="zh-CN" sz="3200" i="1" smtClean="0">
                <a:ea typeface="宋体" pitchFamily="2" charset="-122"/>
              </a:rPr>
              <a:t>leader L.</a:t>
            </a:r>
          </a:p>
          <a:p>
            <a:pPr lvl="1" eaLnBrk="1" hangingPunct="1"/>
            <a:r>
              <a:rPr lang="en-US" altLang="zh-CN" sz="3200" smtClean="0">
                <a:ea typeface="宋体" pitchFamily="2" charset="-122"/>
              </a:rPr>
              <a:t>Seek </a:t>
            </a:r>
            <a:r>
              <a:rPr lang="en-US" altLang="zh-CN" sz="3200" i="1" smtClean="0">
                <a:ea typeface="宋体" pitchFamily="2" charset="-122"/>
              </a:rPr>
              <a:t>K</a:t>
            </a:r>
            <a:r>
              <a:rPr lang="en-US" altLang="zh-CN" sz="3200" smtClean="0">
                <a:ea typeface="宋体" pitchFamily="2" charset="-122"/>
              </a:rPr>
              <a:t> nearest docs from among </a:t>
            </a:r>
            <a:r>
              <a:rPr lang="en-US" altLang="zh-CN" sz="3200" i="1" smtClean="0">
                <a:ea typeface="宋体" pitchFamily="2" charset="-122"/>
              </a:rPr>
              <a:t>L</a:t>
            </a:r>
            <a:r>
              <a:rPr lang="en-US" altLang="zh-CN" sz="3200" smtClean="0">
                <a:ea typeface="宋体" pitchFamily="2" charset="-122"/>
              </a:rPr>
              <a:t>’s followers.</a:t>
            </a:r>
          </a:p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  <p:sp>
        <p:nvSpPr>
          <p:cNvPr id="4096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Visualization</a:t>
            </a:r>
          </a:p>
        </p:txBody>
      </p:sp>
      <p:sp>
        <p:nvSpPr>
          <p:cNvPr id="41987" name="Oval 15"/>
          <p:cNvSpPr>
            <a:spLocks noChangeArrowheads="1"/>
          </p:cNvSpPr>
          <p:nvPr/>
        </p:nvSpPr>
        <p:spPr bwMode="auto">
          <a:xfrm>
            <a:off x="2011363" y="3173413"/>
            <a:ext cx="212725" cy="250825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8" name="Oval 16"/>
          <p:cNvSpPr>
            <a:spLocks noChangeArrowheads="1"/>
          </p:cNvSpPr>
          <p:nvPr/>
        </p:nvSpPr>
        <p:spPr bwMode="auto">
          <a:xfrm>
            <a:off x="1806575" y="2684463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9" name="Oval 17"/>
          <p:cNvSpPr>
            <a:spLocks noChangeArrowheads="1"/>
          </p:cNvSpPr>
          <p:nvPr/>
        </p:nvSpPr>
        <p:spPr bwMode="auto">
          <a:xfrm>
            <a:off x="2422525" y="3009900"/>
            <a:ext cx="212725" cy="252413"/>
          </a:xfrm>
          <a:prstGeom prst="ellipse">
            <a:avLst/>
          </a:prstGeom>
          <a:solidFill>
            <a:srgbClr val="9933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0" name="Oval 18"/>
          <p:cNvSpPr>
            <a:spLocks noChangeArrowheads="1"/>
          </p:cNvSpPr>
          <p:nvPr/>
        </p:nvSpPr>
        <p:spPr bwMode="auto">
          <a:xfrm>
            <a:off x="2422525" y="34163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Oval 19"/>
          <p:cNvSpPr>
            <a:spLocks noChangeArrowheads="1"/>
          </p:cNvSpPr>
          <p:nvPr/>
        </p:nvSpPr>
        <p:spPr bwMode="auto">
          <a:xfrm>
            <a:off x="1806575" y="38227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2" name="Oval 20"/>
          <p:cNvSpPr>
            <a:spLocks noChangeArrowheads="1"/>
          </p:cNvSpPr>
          <p:nvPr/>
        </p:nvSpPr>
        <p:spPr bwMode="auto">
          <a:xfrm>
            <a:off x="6743700" y="5367338"/>
            <a:ext cx="212725" cy="252412"/>
          </a:xfrm>
          <a:prstGeom prst="ellipse">
            <a:avLst/>
          </a:prstGeom>
          <a:solidFill>
            <a:srgbClr val="9933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3" name="Oval 21"/>
          <p:cNvSpPr>
            <a:spLocks noChangeArrowheads="1"/>
          </p:cNvSpPr>
          <p:nvPr/>
        </p:nvSpPr>
        <p:spPr bwMode="auto">
          <a:xfrm>
            <a:off x="5715000" y="1954213"/>
            <a:ext cx="212725" cy="250825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4" name="Oval 22"/>
          <p:cNvSpPr>
            <a:spLocks noChangeArrowheads="1"/>
          </p:cNvSpPr>
          <p:nvPr/>
        </p:nvSpPr>
        <p:spPr bwMode="auto">
          <a:xfrm>
            <a:off x="5867400" y="2262188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5" name="Oval 24"/>
          <p:cNvSpPr>
            <a:spLocks noChangeArrowheads="1"/>
          </p:cNvSpPr>
          <p:nvPr/>
        </p:nvSpPr>
        <p:spPr bwMode="auto">
          <a:xfrm>
            <a:off x="6950075" y="5122863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6" name="Oval 25"/>
          <p:cNvSpPr>
            <a:spLocks noChangeArrowheads="1"/>
          </p:cNvSpPr>
          <p:nvPr/>
        </p:nvSpPr>
        <p:spPr bwMode="auto">
          <a:xfrm>
            <a:off x="6743700" y="58547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7" name="Oval 26"/>
          <p:cNvSpPr>
            <a:spLocks noChangeArrowheads="1"/>
          </p:cNvSpPr>
          <p:nvPr/>
        </p:nvSpPr>
        <p:spPr bwMode="auto">
          <a:xfrm>
            <a:off x="7154863" y="5529263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8" name="Oval 27"/>
          <p:cNvSpPr>
            <a:spLocks noChangeArrowheads="1"/>
          </p:cNvSpPr>
          <p:nvPr/>
        </p:nvSpPr>
        <p:spPr bwMode="auto">
          <a:xfrm>
            <a:off x="7154863" y="58547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Oval 28"/>
          <p:cNvSpPr>
            <a:spLocks noChangeArrowheads="1"/>
          </p:cNvSpPr>
          <p:nvPr/>
        </p:nvSpPr>
        <p:spPr bwMode="auto">
          <a:xfrm>
            <a:off x="6469063" y="2360613"/>
            <a:ext cx="212725" cy="250825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Oval 29"/>
          <p:cNvSpPr>
            <a:spLocks noChangeArrowheads="1"/>
          </p:cNvSpPr>
          <p:nvPr/>
        </p:nvSpPr>
        <p:spPr bwMode="auto">
          <a:xfrm>
            <a:off x="6743700" y="21971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1" name="Oval 30"/>
          <p:cNvSpPr>
            <a:spLocks noChangeArrowheads="1"/>
          </p:cNvSpPr>
          <p:nvPr/>
        </p:nvSpPr>
        <p:spPr bwMode="auto">
          <a:xfrm>
            <a:off x="2217738" y="4879975"/>
            <a:ext cx="212725" cy="252413"/>
          </a:xfrm>
          <a:prstGeom prst="ellipse">
            <a:avLst/>
          </a:prstGeom>
          <a:solidFill>
            <a:srgbClr val="9933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2" name="Oval 31"/>
          <p:cNvSpPr>
            <a:spLocks noChangeArrowheads="1"/>
          </p:cNvSpPr>
          <p:nvPr/>
        </p:nvSpPr>
        <p:spPr bwMode="auto">
          <a:xfrm>
            <a:off x="4275138" y="4392613"/>
            <a:ext cx="212725" cy="250825"/>
          </a:xfrm>
          <a:prstGeom prst="ellipse">
            <a:avLst/>
          </a:prstGeom>
          <a:solidFill>
            <a:srgbClr val="9933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3" name="Oval 32"/>
          <p:cNvSpPr>
            <a:spLocks noChangeArrowheads="1"/>
          </p:cNvSpPr>
          <p:nvPr/>
        </p:nvSpPr>
        <p:spPr bwMode="auto">
          <a:xfrm>
            <a:off x="2628900" y="5122863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4" name="Oval 33"/>
          <p:cNvSpPr>
            <a:spLocks noChangeArrowheads="1"/>
          </p:cNvSpPr>
          <p:nvPr/>
        </p:nvSpPr>
        <p:spPr bwMode="auto">
          <a:xfrm>
            <a:off x="2628900" y="4879975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5" name="Oval 34"/>
          <p:cNvSpPr>
            <a:spLocks noChangeArrowheads="1"/>
          </p:cNvSpPr>
          <p:nvPr/>
        </p:nvSpPr>
        <p:spPr bwMode="auto">
          <a:xfrm>
            <a:off x="1806575" y="5122863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6" name="Oval 35"/>
          <p:cNvSpPr>
            <a:spLocks noChangeArrowheads="1"/>
          </p:cNvSpPr>
          <p:nvPr/>
        </p:nvSpPr>
        <p:spPr bwMode="auto">
          <a:xfrm>
            <a:off x="2149475" y="5367338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7" name="Oval 36"/>
          <p:cNvSpPr>
            <a:spLocks noChangeArrowheads="1"/>
          </p:cNvSpPr>
          <p:nvPr/>
        </p:nvSpPr>
        <p:spPr bwMode="auto">
          <a:xfrm>
            <a:off x="4479925" y="4148138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8" name="Oval 37"/>
          <p:cNvSpPr>
            <a:spLocks noChangeArrowheads="1"/>
          </p:cNvSpPr>
          <p:nvPr/>
        </p:nvSpPr>
        <p:spPr bwMode="auto">
          <a:xfrm>
            <a:off x="4686300" y="4554538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9" name="Oval 38"/>
          <p:cNvSpPr>
            <a:spLocks noChangeArrowheads="1"/>
          </p:cNvSpPr>
          <p:nvPr/>
        </p:nvSpPr>
        <p:spPr bwMode="auto">
          <a:xfrm>
            <a:off x="4479925" y="4879975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0" name="Oval 39"/>
          <p:cNvSpPr>
            <a:spLocks noChangeArrowheads="1"/>
          </p:cNvSpPr>
          <p:nvPr/>
        </p:nvSpPr>
        <p:spPr bwMode="auto">
          <a:xfrm>
            <a:off x="4068763" y="46355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1" name="Rectangle 40"/>
          <p:cNvSpPr>
            <a:spLocks noChangeArrowheads="1"/>
          </p:cNvSpPr>
          <p:nvPr/>
        </p:nvSpPr>
        <p:spPr bwMode="auto">
          <a:xfrm>
            <a:off x="5921375" y="3173413"/>
            <a:ext cx="212725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12" name="Oval 41"/>
          <p:cNvSpPr>
            <a:spLocks noChangeArrowheads="1"/>
          </p:cNvSpPr>
          <p:nvPr/>
        </p:nvSpPr>
        <p:spPr bwMode="auto">
          <a:xfrm>
            <a:off x="5715000" y="3173413"/>
            <a:ext cx="212725" cy="250825"/>
          </a:xfrm>
          <a:prstGeom prst="ellipse">
            <a:avLst/>
          </a:prstGeom>
          <a:solidFill>
            <a:srgbClr val="339966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3" name="Oval 42"/>
          <p:cNvSpPr>
            <a:spLocks noChangeArrowheads="1"/>
          </p:cNvSpPr>
          <p:nvPr/>
        </p:nvSpPr>
        <p:spPr bwMode="auto">
          <a:xfrm>
            <a:off x="1600200" y="6342063"/>
            <a:ext cx="212725" cy="252412"/>
          </a:xfrm>
          <a:prstGeom prst="ellipse">
            <a:avLst/>
          </a:prstGeom>
          <a:solidFill>
            <a:srgbClr val="9933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4" name="Oval 43"/>
          <p:cNvSpPr>
            <a:spLocks noChangeArrowheads="1"/>
          </p:cNvSpPr>
          <p:nvPr/>
        </p:nvSpPr>
        <p:spPr bwMode="auto">
          <a:xfrm>
            <a:off x="4892675" y="6342063"/>
            <a:ext cx="212725" cy="252412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5" name="Text Box 4"/>
          <p:cNvSpPr txBox="1">
            <a:spLocks noChangeArrowheads="1"/>
          </p:cNvSpPr>
          <p:nvPr/>
        </p:nvSpPr>
        <p:spPr bwMode="auto">
          <a:xfrm>
            <a:off x="5867400" y="32004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r>
              <a:rPr lang="en-US" altLang="zh-CN">
                <a:latin typeface="Times New Roman" pitchFamily="18" charset="0"/>
                <a:ea typeface="宋体" pitchFamily="2" charset="-122"/>
              </a:rPr>
              <a:t>Query</a:t>
            </a:r>
          </a:p>
        </p:txBody>
      </p:sp>
      <p:cxnSp>
        <p:nvCxnSpPr>
          <p:cNvPr id="42016" name="AutoShape 5"/>
          <p:cNvCxnSpPr>
            <a:cxnSpLocks noChangeShapeType="1"/>
            <a:stCxn id="42015" idx="1"/>
            <a:endCxn id="42015" idx="1"/>
          </p:cNvCxnSpPr>
          <p:nvPr/>
        </p:nvCxnSpPr>
        <p:spPr bwMode="auto">
          <a:xfrm>
            <a:off x="5867400" y="3429000"/>
            <a:ext cx="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sp>
        <p:nvSpPr>
          <p:cNvPr id="42017" name="Text Box 11"/>
          <p:cNvSpPr txBox="1">
            <a:spLocks noChangeArrowheads="1"/>
          </p:cNvSpPr>
          <p:nvPr/>
        </p:nvSpPr>
        <p:spPr bwMode="auto">
          <a:xfrm>
            <a:off x="1752600" y="6248400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r>
              <a:rPr lang="en-US" altLang="zh-CN">
                <a:latin typeface="Times New Roman" pitchFamily="18" charset="0"/>
                <a:ea typeface="宋体" pitchFamily="2" charset="-122"/>
              </a:rPr>
              <a:t>Leader</a:t>
            </a:r>
          </a:p>
        </p:txBody>
      </p:sp>
      <p:sp>
        <p:nvSpPr>
          <p:cNvPr id="42018" name="Text Box 12"/>
          <p:cNvSpPr txBox="1">
            <a:spLocks noChangeArrowheads="1"/>
          </p:cNvSpPr>
          <p:nvPr/>
        </p:nvSpPr>
        <p:spPr bwMode="auto">
          <a:xfrm>
            <a:off x="5029200" y="6248400"/>
            <a:ext cx="1284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r>
              <a:rPr lang="en-US" altLang="zh-CN">
                <a:latin typeface="Times New Roman" pitchFamily="18" charset="0"/>
                <a:ea typeface="宋体" pitchFamily="2" charset="-122"/>
              </a:rPr>
              <a:t>Follower</a:t>
            </a:r>
          </a:p>
        </p:txBody>
      </p:sp>
      <p:sp>
        <p:nvSpPr>
          <p:cNvPr id="42019" name="Oval 13"/>
          <p:cNvSpPr>
            <a:spLocks noChangeArrowheads="1"/>
          </p:cNvSpPr>
          <p:nvPr/>
        </p:nvSpPr>
        <p:spPr bwMode="auto">
          <a:xfrm>
            <a:off x="6248400" y="2286000"/>
            <a:ext cx="76200" cy="76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020" name="AutoShape 45"/>
          <p:cNvCxnSpPr>
            <a:cxnSpLocks noChangeShapeType="1"/>
            <a:stCxn id="42019" idx="5"/>
            <a:endCxn id="41999" idx="1"/>
          </p:cNvCxnSpPr>
          <p:nvPr/>
        </p:nvCxnSpPr>
        <p:spPr bwMode="auto">
          <a:xfrm>
            <a:off x="6313488" y="2351088"/>
            <a:ext cx="187325" cy="3651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42021" name="AutoShape 46"/>
          <p:cNvCxnSpPr>
            <a:cxnSpLocks noChangeShapeType="1"/>
            <a:stCxn id="42019" idx="6"/>
            <a:endCxn id="42000" idx="2"/>
          </p:cNvCxnSpPr>
          <p:nvPr/>
        </p:nvCxnSpPr>
        <p:spPr bwMode="auto">
          <a:xfrm>
            <a:off x="6324600" y="2324100"/>
            <a:ext cx="4095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42022" name="AutoShape 48"/>
          <p:cNvCxnSpPr>
            <a:cxnSpLocks noChangeShapeType="1"/>
            <a:stCxn id="42019" idx="0"/>
          </p:cNvCxnSpPr>
          <p:nvPr/>
        </p:nvCxnSpPr>
        <p:spPr bwMode="auto">
          <a:xfrm>
            <a:off x="6286500" y="2286000"/>
            <a:ext cx="15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42023" name="AutoShape 50"/>
          <p:cNvCxnSpPr>
            <a:cxnSpLocks noChangeShapeType="1"/>
            <a:stCxn id="42019" idx="7"/>
          </p:cNvCxnSpPr>
          <p:nvPr/>
        </p:nvCxnSpPr>
        <p:spPr bwMode="auto">
          <a:xfrm flipH="1" flipV="1">
            <a:off x="6232525" y="2012950"/>
            <a:ext cx="80963" cy="2841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42024" name="AutoShape 51"/>
          <p:cNvCxnSpPr>
            <a:cxnSpLocks noChangeShapeType="1"/>
            <a:stCxn id="42019" idx="1"/>
            <a:endCxn id="41993" idx="6"/>
          </p:cNvCxnSpPr>
          <p:nvPr/>
        </p:nvCxnSpPr>
        <p:spPr bwMode="auto">
          <a:xfrm flipH="1" flipV="1">
            <a:off x="5937250" y="2079625"/>
            <a:ext cx="322263" cy="2174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42025" name="AutoShape 52"/>
          <p:cNvCxnSpPr>
            <a:cxnSpLocks noChangeShapeType="1"/>
            <a:stCxn id="42019" idx="1"/>
            <a:endCxn id="41994" idx="6"/>
          </p:cNvCxnSpPr>
          <p:nvPr/>
        </p:nvCxnSpPr>
        <p:spPr bwMode="auto">
          <a:xfrm flipH="1">
            <a:off x="6089650" y="2297113"/>
            <a:ext cx="169863" cy="920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cxnSp>
        <p:nvCxnSpPr>
          <p:cNvPr id="1355829" name="AutoShape 53"/>
          <p:cNvCxnSpPr>
            <a:cxnSpLocks noChangeShapeType="1"/>
            <a:stCxn id="42012" idx="0"/>
            <a:endCxn id="42019" idx="3"/>
          </p:cNvCxnSpPr>
          <p:nvPr/>
        </p:nvCxnSpPr>
        <p:spPr bwMode="auto">
          <a:xfrm flipV="1">
            <a:off x="5821363" y="2351088"/>
            <a:ext cx="438150" cy="812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noFill/>
              </a14:hiddenFill>
            </a:ext>
          </a:extLst>
        </p:spPr>
      </p:cxnSp>
      <p:sp>
        <p:nvSpPr>
          <p:cNvPr id="1355830" name="Freeform 54"/>
          <p:cNvSpPr>
            <a:spLocks/>
          </p:cNvSpPr>
          <p:nvPr/>
        </p:nvSpPr>
        <p:spPr bwMode="auto">
          <a:xfrm>
            <a:off x="5062538" y="1582738"/>
            <a:ext cx="2787650" cy="1485900"/>
          </a:xfrm>
          <a:custGeom>
            <a:avLst/>
            <a:gdLst>
              <a:gd name="T0" fmla="*/ 2147483647 w 1756"/>
              <a:gd name="T1" fmla="*/ 2147483647 h 936"/>
              <a:gd name="T2" fmla="*/ 2147483647 w 1756"/>
              <a:gd name="T3" fmla="*/ 2147483647 h 936"/>
              <a:gd name="T4" fmla="*/ 2147483647 w 1756"/>
              <a:gd name="T5" fmla="*/ 2147483647 h 936"/>
              <a:gd name="T6" fmla="*/ 2147483647 w 1756"/>
              <a:gd name="T7" fmla="*/ 2147483647 h 936"/>
              <a:gd name="T8" fmla="*/ 2147483647 w 1756"/>
              <a:gd name="T9" fmla="*/ 2147483647 h 936"/>
              <a:gd name="T10" fmla="*/ 2147483647 w 1756"/>
              <a:gd name="T11" fmla="*/ 2147483647 h 936"/>
              <a:gd name="T12" fmla="*/ 2147483647 w 1756"/>
              <a:gd name="T13" fmla="*/ 2147483647 h 936"/>
              <a:gd name="T14" fmla="*/ 2147483647 w 1756"/>
              <a:gd name="T15" fmla="*/ 2147483647 h 936"/>
              <a:gd name="T16" fmla="*/ 2147483647 w 1756"/>
              <a:gd name="T17" fmla="*/ 2147483647 h 936"/>
              <a:gd name="T18" fmla="*/ 2147483647 w 1756"/>
              <a:gd name="T19" fmla="*/ 2147483647 h 936"/>
              <a:gd name="T20" fmla="*/ 2147483647 w 1756"/>
              <a:gd name="T21" fmla="*/ 2147483647 h 936"/>
              <a:gd name="T22" fmla="*/ 2147483647 w 1756"/>
              <a:gd name="T23" fmla="*/ 2147483647 h 936"/>
              <a:gd name="T24" fmla="*/ 2147483647 w 1756"/>
              <a:gd name="T25" fmla="*/ 2147483647 h 936"/>
              <a:gd name="T26" fmla="*/ 2147483647 w 1756"/>
              <a:gd name="T27" fmla="*/ 2147483647 h 936"/>
              <a:gd name="T28" fmla="*/ 2147483647 w 1756"/>
              <a:gd name="T29" fmla="*/ 0 h 936"/>
              <a:gd name="T30" fmla="*/ 2147483647 w 1756"/>
              <a:gd name="T31" fmla="*/ 2147483647 h 936"/>
              <a:gd name="T32" fmla="*/ 2147483647 w 1756"/>
              <a:gd name="T33" fmla="*/ 2147483647 h 936"/>
              <a:gd name="T34" fmla="*/ 2147483647 w 1756"/>
              <a:gd name="T35" fmla="*/ 2147483647 h 936"/>
              <a:gd name="T36" fmla="*/ 2147483647 w 1756"/>
              <a:gd name="T37" fmla="*/ 2147483647 h 936"/>
              <a:gd name="T38" fmla="*/ 2147483647 w 1756"/>
              <a:gd name="T39" fmla="*/ 2147483647 h 936"/>
              <a:gd name="T40" fmla="*/ 2147483647 w 1756"/>
              <a:gd name="T41" fmla="*/ 2147483647 h 9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56"/>
              <a:gd name="T64" fmla="*/ 0 h 936"/>
              <a:gd name="T65" fmla="*/ 1756 w 1756"/>
              <a:gd name="T66" fmla="*/ 936 h 9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56" h="936">
                <a:moveTo>
                  <a:pt x="52" y="267"/>
                </a:moveTo>
                <a:cubicBezTo>
                  <a:pt x="131" y="371"/>
                  <a:pt x="0" y="200"/>
                  <a:pt x="129" y="361"/>
                </a:cubicBezTo>
                <a:cubicBezTo>
                  <a:pt x="185" y="430"/>
                  <a:pt x="219" y="505"/>
                  <a:pt x="293" y="559"/>
                </a:cubicBezTo>
                <a:cubicBezTo>
                  <a:pt x="341" y="594"/>
                  <a:pt x="412" y="601"/>
                  <a:pt x="465" y="628"/>
                </a:cubicBezTo>
                <a:cubicBezTo>
                  <a:pt x="502" y="647"/>
                  <a:pt x="538" y="671"/>
                  <a:pt x="576" y="688"/>
                </a:cubicBezTo>
                <a:cubicBezTo>
                  <a:pt x="629" y="712"/>
                  <a:pt x="687" y="731"/>
                  <a:pt x="740" y="757"/>
                </a:cubicBezTo>
                <a:cubicBezTo>
                  <a:pt x="853" y="814"/>
                  <a:pt x="965" y="884"/>
                  <a:pt x="1092" y="903"/>
                </a:cubicBezTo>
                <a:cubicBezTo>
                  <a:pt x="1188" y="936"/>
                  <a:pt x="1281" y="916"/>
                  <a:pt x="1385" y="912"/>
                </a:cubicBezTo>
                <a:cubicBezTo>
                  <a:pt x="1453" y="906"/>
                  <a:pt x="1508" y="896"/>
                  <a:pt x="1574" y="886"/>
                </a:cubicBezTo>
                <a:cubicBezTo>
                  <a:pt x="1616" y="862"/>
                  <a:pt x="1653" y="850"/>
                  <a:pt x="1686" y="817"/>
                </a:cubicBezTo>
                <a:cubicBezTo>
                  <a:pt x="1697" y="783"/>
                  <a:pt x="1737" y="722"/>
                  <a:pt x="1737" y="722"/>
                </a:cubicBezTo>
                <a:cubicBezTo>
                  <a:pt x="1742" y="702"/>
                  <a:pt x="1756" y="683"/>
                  <a:pt x="1754" y="662"/>
                </a:cubicBezTo>
                <a:cubicBezTo>
                  <a:pt x="1745" y="584"/>
                  <a:pt x="1701" y="519"/>
                  <a:pt x="1677" y="447"/>
                </a:cubicBezTo>
                <a:cubicBezTo>
                  <a:pt x="1654" y="377"/>
                  <a:pt x="1629" y="289"/>
                  <a:pt x="1582" y="232"/>
                </a:cubicBezTo>
                <a:cubicBezTo>
                  <a:pt x="1442" y="65"/>
                  <a:pt x="1160" y="16"/>
                  <a:pt x="955" y="0"/>
                </a:cubicBezTo>
                <a:cubicBezTo>
                  <a:pt x="845" y="5"/>
                  <a:pt x="759" y="14"/>
                  <a:pt x="654" y="26"/>
                </a:cubicBezTo>
                <a:cubicBezTo>
                  <a:pt x="598" y="40"/>
                  <a:pt x="539" y="51"/>
                  <a:pt x="482" y="60"/>
                </a:cubicBezTo>
                <a:cubicBezTo>
                  <a:pt x="409" y="91"/>
                  <a:pt x="328" y="111"/>
                  <a:pt x="250" y="129"/>
                </a:cubicBezTo>
                <a:cubicBezTo>
                  <a:pt x="202" y="152"/>
                  <a:pt x="153" y="180"/>
                  <a:pt x="104" y="198"/>
                </a:cubicBezTo>
                <a:cubicBezTo>
                  <a:pt x="98" y="204"/>
                  <a:pt x="90" y="208"/>
                  <a:pt x="86" y="215"/>
                </a:cubicBezTo>
                <a:cubicBezTo>
                  <a:pt x="72" y="239"/>
                  <a:pt x="86" y="267"/>
                  <a:pt x="52" y="267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prstDash val="lg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8" name="Oval 56"/>
          <p:cNvSpPr>
            <a:spLocks noChangeArrowheads="1"/>
          </p:cNvSpPr>
          <p:nvPr/>
        </p:nvSpPr>
        <p:spPr bwMode="auto">
          <a:xfrm>
            <a:off x="6172200" y="2187575"/>
            <a:ext cx="212725" cy="250825"/>
          </a:xfrm>
          <a:prstGeom prst="ellipse">
            <a:avLst/>
          </a:prstGeom>
          <a:solidFill>
            <a:srgbClr val="9933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9" name="Oval 58"/>
          <p:cNvSpPr>
            <a:spLocks noChangeArrowheads="1"/>
          </p:cNvSpPr>
          <p:nvPr/>
        </p:nvSpPr>
        <p:spPr bwMode="auto">
          <a:xfrm>
            <a:off x="6096000" y="1752600"/>
            <a:ext cx="212725" cy="252413"/>
          </a:xfrm>
          <a:prstGeom prst="ellipse">
            <a:avLst/>
          </a:pr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58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Why use random sampling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Fast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Leaders reflect data distribution</a:t>
            </a:r>
          </a:p>
        </p:txBody>
      </p:sp>
      <p:sp>
        <p:nvSpPr>
          <p:cNvPr id="4301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General variants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Have each follower attached to </a:t>
            </a:r>
            <a:r>
              <a:rPr lang="en-US" altLang="zh-CN" i="1" smtClean="0">
                <a:ea typeface="宋体" pitchFamily="2" charset="-122"/>
              </a:rPr>
              <a:t>b1</a:t>
            </a:r>
            <a:r>
              <a:rPr lang="en-US" altLang="zh-CN" smtClean="0">
                <a:ea typeface="宋体" pitchFamily="2" charset="-122"/>
              </a:rPr>
              <a:t>=3 (say) nearest leaders.</a:t>
            </a: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From query, find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b2</a:t>
            </a:r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=4 (say) nearest leaders and their followers.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Can recurse on leader/follower construction.</a:t>
            </a:r>
          </a:p>
        </p:txBody>
      </p:sp>
      <p:sp>
        <p:nvSpPr>
          <p:cNvPr id="4403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Exercises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To find the nearest leader in step 1, how many cosine computations do we do?</a:t>
            </a:r>
          </a:p>
          <a:p>
            <a:pPr lvl="1" eaLnBrk="1" hangingPunct="1"/>
            <a:r>
              <a:rPr lang="en-US" altLang="zh-CN" smtClean="0">
                <a:ea typeface="宋体" pitchFamily="2" charset="-122"/>
              </a:rPr>
              <a:t>Why did we have </a:t>
            </a:r>
            <a:r>
              <a:rPr lang="en-US" altLang="zh-CN" smtClean="0">
                <a:ea typeface="宋体" pitchFamily="2" charset="-122"/>
                <a:sym typeface="Symbol" pitchFamily="18" charset="2"/>
              </a:rPr>
              <a:t>N in the first place?</a:t>
            </a:r>
            <a:endParaRPr lang="en-US" altLang="zh-CN" smtClean="0">
              <a:ea typeface="宋体" pitchFamily="2" charset="-122"/>
            </a:endParaRPr>
          </a:p>
          <a:p>
            <a:pPr eaLnBrk="1" hangingPunct="1"/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What is the effect of the constants </a:t>
            </a:r>
            <a:r>
              <a:rPr lang="en-US" altLang="zh-CN" i="1" smtClean="0">
                <a:solidFill>
                  <a:srgbClr val="C00000"/>
                </a:solidFill>
                <a:ea typeface="宋体" pitchFamily="2" charset="-122"/>
              </a:rPr>
              <a:t>b1, b2</a:t>
            </a:r>
            <a:r>
              <a:rPr lang="en-US" altLang="zh-CN" smtClean="0">
                <a:solidFill>
                  <a:srgbClr val="C00000"/>
                </a:solidFill>
                <a:ea typeface="宋体" pitchFamily="2" charset="-122"/>
              </a:rPr>
              <a:t> on the previous slide?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Devise an example where this is </a:t>
            </a:r>
            <a:r>
              <a:rPr lang="en-US" altLang="zh-CN" i="1" smtClean="0">
                <a:ea typeface="宋体" pitchFamily="2" charset="-122"/>
              </a:rPr>
              <a:t>likely to</a:t>
            </a:r>
            <a:r>
              <a:rPr lang="en-US" altLang="zh-CN" smtClean="0">
                <a:ea typeface="宋体" pitchFamily="2" charset="-122"/>
              </a:rPr>
              <a:t> fail – i.e., we miss one of the </a:t>
            </a:r>
            <a:r>
              <a:rPr lang="en-US" altLang="zh-CN" i="1" smtClean="0">
                <a:ea typeface="宋体" pitchFamily="2" charset="-122"/>
              </a:rPr>
              <a:t>K</a:t>
            </a:r>
            <a:r>
              <a:rPr lang="en-US" altLang="zh-CN" smtClean="0">
                <a:ea typeface="宋体" pitchFamily="2" charset="-122"/>
              </a:rPr>
              <a:t> nearest docs.</a:t>
            </a:r>
          </a:p>
          <a:p>
            <a:pPr lvl="1" eaLnBrk="1" hangingPunct="1"/>
            <a:r>
              <a:rPr lang="en-US" altLang="zh-CN" i="1" smtClean="0">
                <a:ea typeface="宋体" pitchFamily="2" charset="-122"/>
              </a:rPr>
              <a:t>Likely</a:t>
            </a:r>
            <a:r>
              <a:rPr lang="en-US" altLang="zh-CN" smtClean="0">
                <a:ea typeface="宋体" pitchFamily="2" charset="-122"/>
              </a:rPr>
              <a:t> under random sampling.</a:t>
            </a:r>
          </a:p>
          <a:p>
            <a:pPr eaLnBrk="1" hangingPunct="1"/>
            <a:endParaRPr lang="en-US" altLang="zh-CN" smtClean="0">
              <a:ea typeface="宋体" pitchFamily="2" charset="-122"/>
            </a:endParaRPr>
          </a:p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  <p:sp>
        <p:nvSpPr>
          <p:cNvPr id="4506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7.1.6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Parametric and zone indexes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Thus far, a doc has been a sequence of terms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In fact documents have multiple parts, some with special semantics: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Author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Title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Date of publication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Language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Format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etc.</a:t>
            </a:r>
          </a:p>
          <a:p>
            <a:r>
              <a:rPr lang="en-US" smtClean="0">
                <a:ea typeface="ＭＳ Ｐゴシック" pitchFamily="34" charset="-128"/>
              </a:rPr>
              <a:t>These constitute the </a:t>
            </a:r>
            <a:r>
              <a:rPr lang="en-US" u="sng" smtClean="0">
                <a:ea typeface="ＭＳ Ｐゴシック" pitchFamily="34" charset="-128"/>
              </a:rPr>
              <a:t>metadata</a:t>
            </a:r>
            <a:r>
              <a:rPr lang="en-US" smtClean="0">
                <a:ea typeface="ＭＳ Ｐゴシック" pitchFamily="34" charset="-128"/>
              </a:rPr>
              <a:t> about a document</a:t>
            </a:r>
          </a:p>
        </p:txBody>
      </p:sp>
      <p:sp>
        <p:nvSpPr>
          <p:cNvPr id="4608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Fields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We sometimes wish to search by these metadata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E.g., find docs authored by William Shakespeare in the year 1601, containing </a:t>
            </a:r>
            <a:r>
              <a:rPr lang="en-US" i="1" smtClean="0">
                <a:ea typeface="ＭＳ Ｐゴシック" pitchFamily="34" charset="-128"/>
              </a:rPr>
              <a:t>alas poor Yorick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Year = 1601 is an example of a </a:t>
            </a:r>
            <a:r>
              <a:rPr lang="en-US" u="sng" smtClean="0">
                <a:solidFill>
                  <a:srgbClr val="C00000"/>
                </a:solidFill>
                <a:ea typeface="ＭＳ Ｐゴシック" pitchFamily="34" charset="-128"/>
              </a:rPr>
              <a:t>field</a:t>
            </a:r>
          </a:p>
          <a:p>
            <a:r>
              <a:rPr lang="en-US" smtClean="0">
                <a:ea typeface="ＭＳ Ｐゴシック" pitchFamily="34" charset="-128"/>
              </a:rPr>
              <a:t>Also, author last name = shakespeare, etc.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Field or parametric index: postings for each field value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Sometimes build range trees (e.g., for dates)</a:t>
            </a:r>
          </a:p>
          <a:p>
            <a:r>
              <a:rPr lang="en-US" smtClean="0">
                <a:ea typeface="ＭＳ Ｐゴシック" pitchFamily="34" charset="-128"/>
              </a:rPr>
              <a:t>Field query typically treated as conjunction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(doc </a:t>
            </a:r>
            <a:r>
              <a:rPr lang="en-US" i="1" smtClean="0">
                <a:ea typeface="ＭＳ Ｐゴシック" pitchFamily="34" charset="-128"/>
              </a:rPr>
              <a:t>must </a:t>
            </a:r>
            <a:r>
              <a:rPr lang="en-US" smtClean="0">
                <a:ea typeface="ＭＳ Ｐゴシック" pitchFamily="34" charset="-128"/>
              </a:rPr>
              <a:t>be authored by shakespeare)</a:t>
            </a:r>
          </a:p>
        </p:txBody>
      </p:sp>
      <p:sp>
        <p:nvSpPr>
          <p:cNvPr id="47108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Zone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</a:t>
            </a:r>
            <a:r>
              <a:rPr lang="en-US" u="sng" smtClean="0">
                <a:ea typeface="ＭＳ Ｐゴシック" pitchFamily="34" charset="-128"/>
              </a:rPr>
              <a:t>zone</a:t>
            </a:r>
            <a:r>
              <a:rPr lang="en-US" smtClean="0">
                <a:ea typeface="ＭＳ Ｐゴシック" pitchFamily="34" charset="-128"/>
              </a:rPr>
              <a:t> is a region of the doc that can contain an arbitrary amount of text, e.g.,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Title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Abstract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References …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Build inverted indexes on zones as well to permit querying</a:t>
            </a:r>
          </a:p>
          <a:p>
            <a:r>
              <a:rPr lang="en-US" smtClean="0">
                <a:ea typeface="ＭＳ Ｐゴシック" pitchFamily="34" charset="-128"/>
              </a:rPr>
              <a:t>E.g., “find docs with </a:t>
            </a:r>
            <a:r>
              <a:rPr lang="en-US" i="1" smtClean="0">
                <a:ea typeface="ＭＳ Ｐゴシック" pitchFamily="34" charset="-128"/>
              </a:rPr>
              <a:t>merchant </a:t>
            </a:r>
            <a:r>
              <a:rPr lang="en-US" smtClean="0">
                <a:ea typeface="ＭＳ Ｐゴシック" pitchFamily="34" charset="-128"/>
              </a:rPr>
              <a:t>in the title zone and matching the query </a:t>
            </a:r>
            <a:r>
              <a:rPr lang="en-US" i="1" smtClean="0">
                <a:ea typeface="ＭＳ Ｐゴシック" pitchFamily="34" charset="-128"/>
              </a:rPr>
              <a:t>gentle rain”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Example zone indexes</a:t>
            </a:r>
          </a:p>
        </p:txBody>
      </p:sp>
      <p:pic>
        <p:nvPicPr>
          <p:cNvPr id="49155" name="Content Placeholder 3" descr="zoneindex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>
          <a:xfrm>
            <a:off x="152400" y="1828800"/>
            <a:ext cx="8686800" cy="2608263"/>
          </a:xfrm>
        </p:spPr>
      </p:pic>
      <p:pic>
        <p:nvPicPr>
          <p:cNvPr id="49156" name="Picture 5" descr="zoneindex2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" y="5973763"/>
            <a:ext cx="8189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TextBox 7"/>
          <p:cNvSpPr txBox="1">
            <a:spLocks noChangeArrowheads="1"/>
          </p:cNvSpPr>
          <p:nvPr/>
        </p:nvSpPr>
        <p:spPr bwMode="auto">
          <a:xfrm>
            <a:off x="533400" y="4953000"/>
            <a:ext cx="8186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3200">
                <a:solidFill>
                  <a:srgbClr val="C00000"/>
                </a:solidFill>
              </a:rPr>
              <a:t>Encode zones in dictionary vs. postings.</a:t>
            </a:r>
          </a:p>
        </p:txBody>
      </p:sp>
      <p:sp>
        <p:nvSpPr>
          <p:cNvPr id="49158" name="Up Arrow 8"/>
          <p:cNvSpPr>
            <a:spLocks noChangeArrowheads="1"/>
          </p:cNvSpPr>
          <p:nvPr/>
        </p:nvSpPr>
        <p:spPr bwMode="auto">
          <a:xfrm>
            <a:off x="4495800" y="4572000"/>
            <a:ext cx="484188" cy="457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9" name="Down Arrow 9"/>
          <p:cNvSpPr>
            <a:spLocks noChangeArrowheads="1"/>
          </p:cNvSpPr>
          <p:nvPr/>
        </p:nvSpPr>
        <p:spPr bwMode="auto">
          <a:xfrm>
            <a:off x="7239000" y="5486400"/>
            <a:ext cx="484188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6.1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Tiered indexes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Break postings up into a hierarchy of lists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Most important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…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Least important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Can be done by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g(d)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or another measure</a:t>
            </a:r>
          </a:p>
          <a:p>
            <a:r>
              <a:rPr lang="en-US" smtClean="0">
                <a:ea typeface="ＭＳ Ｐゴシック" pitchFamily="34" charset="-128"/>
              </a:rPr>
              <a:t>Inverted index thus broken up into </a:t>
            </a:r>
            <a:r>
              <a:rPr lang="en-US" u="sng" smtClean="0">
                <a:ea typeface="ＭＳ Ｐゴシック" pitchFamily="34" charset="-128"/>
              </a:rPr>
              <a:t>tiers </a:t>
            </a:r>
            <a:r>
              <a:rPr lang="en-US" smtClean="0">
                <a:ea typeface="ＭＳ Ｐゴシック" pitchFamily="34" charset="-128"/>
              </a:rPr>
              <a:t>of decreasing importance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At query time use top tier unless it fails to yield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docs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If so drop to lower tiers</a:t>
            </a:r>
          </a:p>
        </p:txBody>
      </p:sp>
      <p:sp>
        <p:nvSpPr>
          <p:cNvPr id="5018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7.2.1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Example tiered index</a:t>
            </a:r>
          </a:p>
        </p:txBody>
      </p:sp>
      <p:pic>
        <p:nvPicPr>
          <p:cNvPr id="51203" name="Content Placeholder 3" descr="tiered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>
          <a:xfrm>
            <a:off x="2057400" y="1524000"/>
            <a:ext cx="4648200" cy="5334000"/>
          </a:xfrm>
        </p:spPr>
      </p:pic>
      <p:sp>
        <p:nvSpPr>
          <p:cNvPr id="51204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7.2.1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Query term proximity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smtClean="0">
                <a:ea typeface="ＭＳ Ｐゴシック" pitchFamily="34" charset="-128"/>
              </a:rPr>
              <a:t>Free text queries</a:t>
            </a:r>
            <a:r>
              <a:rPr lang="en-US" smtClean="0">
                <a:ea typeface="ＭＳ Ｐゴシック" pitchFamily="34" charset="-128"/>
              </a:rPr>
              <a:t>: just a set of terms typed into the query box – common on the web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Users prefer docs in which query terms occur within close proximity of each other</a:t>
            </a:r>
          </a:p>
          <a:p>
            <a:r>
              <a:rPr lang="en-US" smtClean="0">
                <a:ea typeface="ＭＳ Ｐゴシック" pitchFamily="34" charset="-128"/>
              </a:rPr>
              <a:t>Let </a:t>
            </a:r>
            <a:r>
              <a:rPr lang="en-US" i="1" smtClean="0">
                <a:ea typeface="ＭＳ Ｐゴシック" pitchFamily="34" charset="-128"/>
              </a:rPr>
              <a:t>w</a:t>
            </a:r>
            <a:r>
              <a:rPr lang="en-US" smtClean="0">
                <a:ea typeface="ＭＳ Ｐゴシック" pitchFamily="34" charset="-128"/>
              </a:rPr>
              <a:t> be the smallest window in a doc containing all query terms, e.g.,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For the query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strained mercy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the smallest window in the doc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The quality of </a:t>
            </a:r>
            <a:r>
              <a:rPr lang="en-US" i="1" smtClean="0">
                <a:solidFill>
                  <a:srgbClr val="0070C0"/>
                </a:solidFill>
                <a:ea typeface="ＭＳ Ｐゴシック" pitchFamily="34" charset="-128"/>
              </a:rPr>
              <a:t>mercy is not strained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is </a:t>
            </a:r>
            <a:r>
              <a:rPr lang="en-US" u="sng" smtClean="0">
                <a:solidFill>
                  <a:srgbClr val="C00000"/>
                </a:solidFill>
                <a:ea typeface="ＭＳ Ｐゴシック" pitchFamily="34" charset="-128"/>
              </a:rPr>
              <a:t>4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(words)</a:t>
            </a:r>
          </a:p>
          <a:p>
            <a:r>
              <a:rPr lang="en-US" smtClean="0">
                <a:ea typeface="ＭＳ Ｐゴシック" pitchFamily="34" charset="-128"/>
              </a:rPr>
              <a:t>Would like scoring function to take this into account – how?</a:t>
            </a:r>
          </a:p>
        </p:txBody>
      </p:sp>
      <p:sp>
        <p:nvSpPr>
          <p:cNvPr id="52228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7.2.2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Query parsers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Free text query from user may in fact spawn one or more queries to the indexes, e.g., query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rising interest rates</a:t>
            </a:r>
            <a:endParaRPr lang="en-US" smtClean="0">
              <a:ea typeface="ＭＳ Ｐゴシック" pitchFamily="34" charset="-128"/>
            </a:endParaRP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Run the query as a phrase query </a:t>
            </a:r>
            <a:endParaRPr lang="en-US" i="1" smtClean="0">
              <a:solidFill>
                <a:srgbClr val="C00000"/>
              </a:solidFill>
              <a:ea typeface="ＭＳ Ｐゴシック" pitchFamily="34" charset="-128"/>
            </a:endParaRP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If &lt;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docs contain the phrase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rising interest rates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, run the two phrase queries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rising interest 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and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interest rates</a:t>
            </a:r>
            <a:endParaRPr lang="en-US" smtClean="0">
              <a:solidFill>
                <a:srgbClr val="C00000"/>
              </a:solidFill>
              <a:ea typeface="ＭＳ Ｐゴシック" pitchFamily="34" charset="-128"/>
            </a:endParaRP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If we still have &lt;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K</a:t>
            </a:r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 docs, run the vector space query </a:t>
            </a: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rising interest rates</a:t>
            </a:r>
          </a:p>
          <a:p>
            <a:pPr lvl="1"/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Rank matching docs by vector space scoring</a:t>
            </a:r>
            <a:endParaRPr lang="en-US" i="1" smtClean="0">
              <a:solidFill>
                <a:srgbClr val="C00000"/>
              </a:solidFill>
              <a:ea typeface="ＭＳ Ｐゴシック" pitchFamily="34" charset="-128"/>
            </a:endParaRPr>
          </a:p>
          <a:p>
            <a:r>
              <a:rPr lang="en-US" smtClean="0">
                <a:ea typeface="ＭＳ Ｐゴシック" pitchFamily="34" charset="-128"/>
              </a:rPr>
              <a:t>This sequence is issued by a </a:t>
            </a:r>
            <a:r>
              <a:rPr lang="en-US" u="sng" smtClean="0">
                <a:ea typeface="ＭＳ Ｐゴシック" pitchFamily="34" charset="-128"/>
              </a:rPr>
              <a:t>query parser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7.2.3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Aggregate scores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We’ve seen that score functions can combine cosine, static quality, proximity, etc.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How do we know the best combination?</a:t>
            </a:r>
          </a:p>
          <a:p>
            <a:r>
              <a:rPr lang="en-US" smtClean="0">
                <a:ea typeface="ＭＳ Ｐゴシック" pitchFamily="34" charset="-128"/>
              </a:rPr>
              <a:t>Some applications – expert-tuned</a:t>
            </a:r>
          </a:p>
          <a:p>
            <a:r>
              <a:rPr lang="en-US" smtClean="0">
                <a:solidFill>
                  <a:srgbClr val="C00000"/>
                </a:solidFill>
                <a:ea typeface="ＭＳ Ｐゴシック" pitchFamily="34" charset="-128"/>
              </a:rPr>
              <a:t>Increasingly common: machine-learned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See May 19</a:t>
            </a:r>
            <a:r>
              <a:rPr lang="en-US" baseline="30000" smtClean="0">
                <a:ea typeface="ＭＳ Ｐゴシック" pitchFamily="34" charset="-128"/>
              </a:rPr>
              <a:t>th</a:t>
            </a:r>
            <a:r>
              <a:rPr lang="en-US" smtClean="0">
                <a:ea typeface="ＭＳ Ｐゴシック" pitchFamily="34" charset="-128"/>
              </a:rPr>
              <a:t> lecture</a:t>
            </a:r>
          </a:p>
        </p:txBody>
      </p:sp>
      <p:sp>
        <p:nvSpPr>
          <p:cNvPr id="54276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7.2.3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Putting it all together</a:t>
            </a:r>
          </a:p>
        </p:txBody>
      </p:sp>
      <p:pic>
        <p:nvPicPr>
          <p:cNvPr id="55299" name="Content Placeholder 4" descr="system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>
          <a:xfrm>
            <a:off x="0" y="1584325"/>
            <a:ext cx="9144000" cy="4378325"/>
          </a:xfrm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553200" y="4876800"/>
            <a:ext cx="2590800" cy="1066800"/>
            <a:chOff x="6553200" y="4876800"/>
            <a:chExt cx="2590800" cy="1066800"/>
          </a:xfrm>
        </p:grpSpPr>
        <p:sp>
          <p:nvSpPr>
            <p:cNvPr id="55303" name="Rectangle 5"/>
            <p:cNvSpPr>
              <a:spLocks noChangeArrowheads="1"/>
            </p:cNvSpPr>
            <p:nvPr/>
          </p:nvSpPr>
          <p:spPr bwMode="auto">
            <a:xfrm>
              <a:off x="8229600" y="4876800"/>
              <a:ext cx="914400" cy="10668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04" name="Rectangle 6"/>
            <p:cNvSpPr>
              <a:spLocks noChangeArrowheads="1"/>
            </p:cNvSpPr>
            <p:nvPr/>
          </p:nvSpPr>
          <p:spPr bwMode="auto">
            <a:xfrm>
              <a:off x="6553200" y="5562600"/>
              <a:ext cx="1676400" cy="3048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 bwMode="auto">
          <a:xfrm>
            <a:off x="4267200" y="1981200"/>
            <a:ext cx="2362200" cy="228600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7.2.4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Resources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smtClean="0">
                <a:ea typeface="宋体" pitchFamily="2" charset="-122"/>
                <a:cs typeface="Times New Roman" pitchFamily="18" charset="0"/>
              </a:rPr>
              <a:t>IIR 7, 6.1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IR-slides">
  <a:themeElements>
    <a:clrScheme name="IIR Boo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37085"/>
      </a:accent1>
      <a:accent2>
        <a:srgbClr val="C0504D"/>
      </a:accent2>
      <a:accent3>
        <a:srgbClr val="357E69"/>
      </a:accent3>
      <a:accent4>
        <a:srgbClr val="918BA3"/>
      </a:accent4>
      <a:accent5>
        <a:srgbClr val="139CB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IIR-slides.pot</Template>
  <TotalTime>16173</TotalTime>
  <Words>2406</Words>
  <Application>Microsoft Office PowerPoint</Application>
  <PresentationFormat>Présentation à l'écran (4:3)</PresentationFormat>
  <Paragraphs>339</Paragraphs>
  <Slides>48</Slides>
  <Notes>0</Notes>
  <HiddenSlides>0</HiddenSlides>
  <MMClips>0</MMClips>
  <ScaleCrop>false</ScaleCrop>
  <HeadingPairs>
    <vt:vector size="6" baseType="variant">
      <vt:variant>
        <vt:lpstr>Modèle de conception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0" baseType="lpstr">
      <vt:lpstr>IIR-slides</vt:lpstr>
      <vt:lpstr>Equation</vt:lpstr>
      <vt:lpstr>Diapositive 1</vt:lpstr>
      <vt:lpstr>Lecture 6 – I introduced a bug</vt:lpstr>
      <vt:lpstr>Recap: tf-idf weighting</vt:lpstr>
      <vt:lpstr>Recap: Queries as vectors</vt:lpstr>
      <vt:lpstr>Recap: cosine(query,document)</vt:lpstr>
      <vt:lpstr>This lecture</vt:lpstr>
      <vt:lpstr>Computing cosine scores</vt:lpstr>
      <vt:lpstr>Efficient cosine ranking</vt:lpstr>
      <vt:lpstr>Efficient cosine ranking</vt:lpstr>
      <vt:lpstr>Special case – unweighted queries</vt:lpstr>
      <vt:lpstr>Computing the K largest cosines: selection vs. sorting</vt:lpstr>
      <vt:lpstr>Use heap for selecting top K</vt:lpstr>
      <vt:lpstr>Bottlenecks</vt:lpstr>
      <vt:lpstr>Cosine similarity is only a proxy</vt:lpstr>
      <vt:lpstr>Generic approach</vt:lpstr>
      <vt:lpstr>Index elimination</vt:lpstr>
      <vt:lpstr>High-idf query terms only</vt:lpstr>
      <vt:lpstr>Docs containing many query terms</vt:lpstr>
      <vt:lpstr>3 of 4 query terms</vt:lpstr>
      <vt:lpstr>Champion lists</vt:lpstr>
      <vt:lpstr>Exercises</vt:lpstr>
      <vt:lpstr>Static quality scores</vt:lpstr>
      <vt:lpstr>Modeling authority</vt:lpstr>
      <vt:lpstr>Net score</vt:lpstr>
      <vt:lpstr>Top K by net score – fast methods</vt:lpstr>
      <vt:lpstr>Why order postings by g(d)?</vt:lpstr>
      <vt:lpstr>Champion lists in g(d)-ordering</vt:lpstr>
      <vt:lpstr>High and low lists</vt:lpstr>
      <vt:lpstr>Impact-ordered postings</vt:lpstr>
      <vt:lpstr>1. Early termination</vt:lpstr>
      <vt:lpstr>2. idf-ordered terms</vt:lpstr>
      <vt:lpstr>Cluster pruning: preprocessing</vt:lpstr>
      <vt:lpstr> Cluster pruning: query processing</vt:lpstr>
      <vt:lpstr>Visualization</vt:lpstr>
      <vt:lpstr>Why use random sampling</vt:lpstr>
      <vt:lpstr>General variants</vt:lpstr>
      <vt:lpstr>Exercises</vt:lpstr>
      <vt:lpstr>Parametric and zone indexes</vt:lpstr>
      <vt:lpstr>Fields</vt:lpstr>
      <vt:lpstr>Zone</vt:lpstr>
      <vt:lpstr>Example zone indexes</vt:lpstr>
      <vt:lpstr>Tiered indexes</vt:lpstr>
      <vt:lpstr>Example tiered index</vt:lpstr>
      <vt:lpstr>Query term proximity</vt:lpstr>
      <vt:lpstr>Query parsers</vt:lpstr>
      <vt:lpstr>Aggregate scores</vt:lpstr>
      <vt:lpstr>Putting it all together</vt:lpstr>
      <vt:lpstr>Resources</vt:lpstr>
    </vt:vector>
  </TitlesOfParts>
  <Company>Stanford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Christopher Manning</dc:creator>
  <cp:lastModifiedBy>philippe</cp:lastModifiedBy>
  <cp:revision>392</cp:revision>
  <cp:lastPrinted>2009-09-22T15:48:09Z</cp:lastPrinted>
  <dcterms:created xsi:type="dcterms:W3CDTF">2013-12-10T15:06:59Z</dcterms:created>
  <dcterms:modified xsi:type="dcterms:W3CDTF">2013-12-10T15:07:23Z</dcterms:modified>
</cp:coreProperties>
</file>
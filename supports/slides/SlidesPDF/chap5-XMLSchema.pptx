
<file path=[Content_Types].xml><?xml version="1.0" encoding="utf-8"?>
<Types xmlns="http://schemas.openxmlformats.org/package/2006/content-types">
  <Override PartName="/ppt/slides/slide41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8.xml" ContentType="application/vnd.openxmlformats-officedocument.presentationml.slide+xml"/>
  <Override PartName="/ppt/slides/slide37.xml" ContentType="application/vnd.openxmlformats-officedocument.presentationml.slide+xml"/>
  <Override PartName="/ppt/slides/slide9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notesSlides/notesSlide2.xml" ContentType="application/vnd.openxmlformats-officedocument.presentationml.notesSlide+xml"/>
  <Override PartName="/ppt/slideLayouts/slideLayout24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3.xml" ContentType="application/vnd.openxmlformats-officedocument.presentationml.slideLayout+xml"/>
  <Default Extension="jpeg" ContentType="image/jpeg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3.xml" ContentType="application/vnd.openxmlformats-officedocument.presentationml.slide+xml"/>
  <Override PartName="/ppt/slideLayouts/slideLayout49.xml" ContentType="application/vnd.openxmlformats-officedocument.presentationml.slideLayout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notesSlides/notesSlide40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42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27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s/slide29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8.xml" ContentType="application/vnd.openxmlformats-officedocument.presentationml.slide+xml"/>
  <Override PartName="/ppt/slides/slide48.xml" ContentType="application/vnd.openxmlformats-officedocument.presentationml.slide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3.xml" ContentType="application/vnd.openxmlformats-officedocument.presentationml.notesSlide+xml"/>
  <Override PartName="/ppt/slideLayouts/slideLayout25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4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2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4.xml" ContentType="application/vnd.openxmlformats-officedocument.presentationml.slide+xml"/>
  <Default Extension="bin" ContentType="application/vnd.openxmlformats-officedocument.presentationml.printerSettings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slides/slide5.xml" ContentType="application/vnd.openxmlformats-officedocument.presentationml.slide+xml"/>
  <Default Extension="xml" ContentType="application/xml"/>
  <Override PartName="/ppt/slideLayouts/slideLayout6.xml" ContentType="application/vnd.openxmlformats-officedocument.presentationml.slideLayout+xml"/>
  <Override PartName="/ppt/tableStyles.xml" ContentType="application/vnd.openxmlformats-officedocument.presentationml.tableStyles+xml"/>
  <Override PartName="/ppt/slides/slide43.xml" ContentType="application/vnd.openxmlformats-officedocument.presentationml.slide+xml"/>
  <Override PartName="/ppt/notesSlides/notesSlide4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Layouts/slideLayout11.xml" ContentType="application/vnd.openxmlformats-officedocument.presentationml.slideLayout+xml"/>
  <Override PartName="/ppt/notesSlides/notesSlide37.xml" ContentType="application/vnd.openxmlformats-officedocument.presentationml.notesSlide+xml"/>
  <Override PartName="/ppt/slideLayouts/slideLayout20.xml" ContentType="application/vnd.openxmlformats-officedocument.presentationml.slideLayout+xml"/>
  <Override PartName="/docProps/app.xml" ContentType="application/vnd.openxmlformats-officedocument.extended-properties+xml"/>
  <Override PartName="/ppt/slides/slide39.xml" ContentType="application/vnd.openxmlformats-officedocument.presentationml.slide+xml"/>
  <Override PartName="/ppt/slideLayouts/slideLayout30.xml" ContentType="application/vnd.openxmlformats-officedocument.presentationml.slideLayout+xml"/>
  <Override PartName="/ppt/slides/slide49.xml" ContentType="application/vnd.openxmlformats-officedocument.presentationml.slide+xml"/>
  <Override PartName="/docProps/core.xml" ContentType="application/vnd.openxmlformats-package.core-properties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notesSlides/notesSlide4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Layouts/slideLayout7.xml" ContentType="application/vnd.openxmlformats-officedocument.presentationml.slideLayout+xml"/>
  <Override PartName="/ppt/notesSlides/notesSlide42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29.xml" ContentType="application/vnd.openxmlformats-officedocument.presentationml.notesSlide+xml"/>
  <Override PartName="/ppt/slideLayouts/slideLayout1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Layouts/slideLayout21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27.xml" ContentType="application/vnd.openxmlformats-officedocument.presentationml.slideLayout+xml"/>
  <Override PartName="/ppt/slides/slide10.xml" ContentType="application/vnd.openxmlformats-officedocument.presentationml.slide+xml"/>
  <Override PartName="/ppt/slideLayouts/slideLayout37.xml" ContentType="application/vnd.openxmlformats-officedocument.presentationml.slideLayout+xml"/>
  <Override PartName="/ppt/slides/slide20.xml" ContentType="application/vnd.openxmlformats-officedocument.presentationml.slide+xml"/>
  <Override PartName="/ppt/slideLayouts/slideLayout46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24.xml" ContentType="application/vnd.openxmlformats-officedocument.presentationml.notesSlide+xml"/>
  <Override PartName="/ppt/viewProps.xml" ContentType="application/vnd.openxmlformats-officedocument.presentationml.viewProps+xml"/>
  <Default Extension="rels" ContentType="application/vnd.openxmlformats-package.relationships+xml"/>
  <Override PartName="/ppt/slides/slide26.xml" ContentType="application/vnd.openxmlformats-officedocument.presentationml.slide+xml"/>
  <Override PartName="/ppt/notesSlides/notesSlide34.xml" ContentType="application/vnd.openxmlformats-officedocument.presentationml.notesSlide+xml"/>
  <Default Extension="wmf" ContentType="image/x-wmf"/>
  <Override PartName="/ppt/slides/slide7.xml" ContentType="application/vnd.openxmlformats-officedocument.presentationml.slide+xml"/>
  <Override PartName="/ppt/slides/slide35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43.xml" ContentType="application/vnd.openxmlformats-officedocument.presentationml.notesSlide+xml"/>
  <Override PartName="/ppt/slides/slide45.xml" ContentType="application/vnd.openxmlformats-officedocument.presentationml.slide+xml"/>
  <Override PartName="/ppt/slideLayouts/slideLayout13.xml" ContentType="application/vnd.openxmlformats-officedocument.presentationml.slideLayout+xml"/>
  <Override PartName="/ppt/presProps.xml" ContentType="application/vnd.openxmlformats-officedocument.presentationml.presProps+xml"/>
  <Override PartName="/ppt/notesSlides/notesSlide39.xml" ContentType="application/vnd.openxmlformats-officedocument.presentationml.notesSlide+xml"/>
  <Override PartName="/ppt/slideLayouts/slideLayout22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.xml" ContentType="application/vnd.openxmlformats-officedocument.presentationml.notesSlide+xml"/>
  <Override PartName="/ppt/slideLayouts/slideLayout28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Layouts/slideLayout38.xml" ContentType="application/vnd.openxmlformats-officedocument.presentationml.slideLayout+xml"/>
  <Override PartName="/ppt/slides/slide21.xml" ContentType="application/vnd.openxmlformats-officedocument.presentationml.slide+xml"/>
  <Override PartName="/ppt/slideLayouts/slideLayout47.xml" ContentType="application/vnd.openxmlformats-officedocument.presentationml.slideLayout+xml"/>
  <Override PartName="/ppt/slides/slide30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3.xml" ContentType="application/vnd.openxmlformats-officedocument.presentationml.slideLayout+xml"/>
  <Override PartName="/ppt/slides/slide4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slides/slide8.xml" ContentType="application/vnd.openxmlformats-officedocument.presentationml.slide+xml"/>
  <Override PartName="/ppt/notesSlides/notesSlide44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s/slide46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23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29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20.xml" ContentType="application/vnd.openxmlformats-officedocument.presentationml.notesSlide+xml"/>
  <Override PartName="/ppt/slideLayouts/slideLayout39.xml" ContentType="application/vnd.openxmlformats-officedocument.presentationml.slideLayout+xml"/>
  <Override PartName="/ppt/slides/slide22.xml" ContentType="application/vnd.openxmlformats-officedocument.presentationml.slide+xml"/>
  <Override PartName="/ppt/slideLayouts/slideLayout48.xml" ContentType="application/vnd.openxmlformats-officedocument.presentationml.slideLayout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slides/slide3.xml" ContentType="application/vnd.openxmlformats-officedocument.presentationml.slide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saveSubsetFonts="1" autoCompressPictures="0">
  <p:sldMasterIdLst>
    <p:sldMasterId id="2147483676" r:id="rId1"/>
  </p:sldMasterIdLst>
  <p:notesMasterIdLst>
    <p:notesMasterId r:id="rId51"/>
  </p:notesMasterIdLst>
  <p:handoutMasterIdLst>
    <p:handoutMasterId r:id="rId52"/>
  </p:handoutMasterIdLst>
  <p:sldIdLst>
    <p:sldId id="265" r:id="rId2"/>
    <p:sldId id="266" r:id="rId3"/>
    <p:sldId id="258" r:id="rId4"/>
    <p:sldId id="268" r:id="rId5"/>
    <p:sldId id="267" r:id="rId6"/>
    <p:sldId id="269" r:id="rId7"/>
    <p:sldId id="291" r:id="rId8"/>
    <p:sldId id="273" r:id="rId9"/>
    <p:sldId id="271" r:id="rId10"/>
    <p:sldId id="275" r:id="rId11"/>
    <p:sldId id="277" r:id="rId12"/>
    <p:sldId id="270" r:id="rId13"/>
    <p:sldId id="287" r:id="rId14"/>
    <p:sldId id="279" r:id="rId15"/>
    <p:sldId id="280" r:id="rId16"/>
    <p:sldId id="281" r:id="rId17"/>
    <p:sldId id="282" r:id="rId18"/>
    <p:sldId id="283" r:id="rId19"/>
    <p:sldId id="284" r:id="rId20"/>
    <p:sldId id="285" r:id="rId21"/>
    <p:sldId id="286" r:id="rId22"/>
    <p:sldId id="288" r:id="rId23"/>
    <p:sldId id="290" r:id="rId24"/>
    <p:sldId id="292" r:id="rId25"/>
    <p:sldId id="296" r:id="rId26"/>
    <p:sldId id="304" r:id="rId27"/>
    <p:sldId id="300" r:id="rId28"/>
    <p:sldId id="301" r:id="rId29"/>
    <p:sldId id="305" r:id="rId30"/>
    <p:sldId id="303" r:id="rId31"/>
    <p:sldId id="302" r:id="rId32"/>
    <p:sldId id="306" r:id="rId33"/>
    <p:sldId id="298" r:id="rId34"/>
    <p:sldId id="293" r:id="rId35"/>
    <p:sldId id="294" r:id="rId36"/>
    <p:sldId id="295" r:id="rId37"/>
    <p:sldId id="307" r:id="rId38"/>
    <p:sldId id="309" r:id="rId39"/>
    <p:sldId id="310" r:id="rId40"/>
    <p:sldId id="314" r:id="rId41"/>
    <p:sldId id="318" r:id="rId42"/>
    <p:sldId id="311" r:id="rId43"/>
    <p:sldId id="313" r:id="rId44"/>
    <p:sldId id="316" r:id="rId45"/>
    <p:sldId id="315" r:id="rId46"/>
    <p:sldId id="317" r:id="rId47"/>
    <p:sldId id="319" r:id="rId48"/>
    <p:sldId id="322" r:id="rId49"/>
    <p:sldId id="320" r:id="rId50"/>
  </p:sldIdLst>
  <p:sldSz cx="9144000" cy="6858000" type="screen4x3"/>
  <p:notesSz cx="9144000" cy="6858000"/>
  <p:defaultTextStyle>
    <a:defPPr>
      <a:defRPr lang="fr-F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prnPr/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Style moyen 3 - Accentuation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Style moyen 4 - Accentuation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69CF1AB2-1976-4502-BF36-3FF5EA218861}" styleName="Style moyen 4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Style moyen 1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Style léger 3 - Accentuation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7853C-536D-4A76-A0AE-DD22124D55A5}" styleName="Style à thème 1 - Accentuation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Style à thème 1 - Accentuation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DBED569-4797-4DF1-A0F4-6AAB3CD982D8}" styleName="Style léger 3 - Accentuation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Style léger 2 - Accentuation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Style léger 3 - Accentuation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normalViewPr>
    <p:restoredLeft sz="15620"/>
    <p:restoredTop sz="78403" autoAdjust="0"/>
  </p:normalViewPr>
  <p:slideViewPr>
    <p:cSldViewPr snapToObjects="1">
      <p:cViewPr varScale="1">
        <p:scale>
          <a:sx n="70" d="100"/>
          <a:sy n="70" d="100"/>
        </p:scale>
        <p:origin x="-1328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72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printerSettings" Target="printerSettings/printerSettings1.bin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5F4CA7-6138-CB45-A7F4-62BC6CC122C8}" type="datetimeFigureOut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B3B234-AB9E-E043-89C4-48843B1349A3}" type="slidenum">
              <a:rPr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233748-0CC3-2940-A529-01BEB5096417}" type="datetimeFigureOut">
              <a:rPr lang="fr-FR" smtClean="0"/>
              <a:pPr/>
              <a:t>22/11/11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CF91B0-C684-C644-91BA-5B2F5E7F3CEB}" type="slidenum">
              <a:rPr lang="fr-FR" smtClean="0"/>
              <a:pPr/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fr.wikipedia.org/wiki/Logiciel" TargetMode="External"/><Relationship Id="rId4" Type="http://schemas.openxmlformats.org/officeDocument/2006/relationships/hyperlink" Target="http://fr.wikipedia.org/wiki/France" TargetMode="External"/><Relationship Id="rId5" Type="http://schemas.openxmlformats.org/officeDocument/2006/relationships/hyperlink" Target="http://fr.wikipedia.org/wiki/Organisation_internationale_de_normalisation" TargetMode="External"/><Relationship Id="rId6" Type="http://schemas.openxmlformats.org/officeDocument/2006/relationships/hyperlink" Target="http://fr.wikipedia.org/wiki/Norme" TargetMode="External"/><Relationship Id="rId7" Type="http://schemas.openxmlformats.org/officeDocument/2006/relationships/hyperlink" Target="http://fr.wikipedia.org/wiki/Normalisation_(industrie_et_service)" TargetMode="External"/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1</a:t>
            </a:fld>
            <a:endParaRPr lang="fr-F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charset="2"/>
              <a:buChar char="à"/>
            </a:pPr>
            <a:r>
              <a:rPr lang="fr-FR" dirty="0" smtClean="0">
                <a:sym typeface="Wingdings"/>
              </a:rPr>
              <a:t>« Tout le monde » comprend la syntaxe et une partie de la sémantique lié à la structure du fichier et possède différents outils permettant de stocker et manipuler.</a:t>
            </a:r>
          </a:p>
          <a:p>
            <a:pPr>
              <a:buFont typeface="Wingdings" charset="2"/>
              <a:buChar char="à"/>
            </a:pPr>
            <a:r>
              <a:rPr lang="fr-FR" dirty="0" smtClean="0">
                <a:sym typeface="Wingdings"/>
              </a:rPr>
              <a:t> Si OK sur la sémantique métier, interopérabilité</a:t>
            </a:r>
            <a:endParaRPr lang="fr-FR" dirty="0" smtClean="0"/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format fermé correspond généralement à un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3"/>
              </a:rPr>
              <a:t>logiciel seul capable de pleinement l'exploiter.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Organismes</a:t>
            </a: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de normalisation : </a:t>
            </a:r>
          </a:p>
          <a:p>
            <a:pPr>
              <a:buFont typeface="Arial"/>
              <a:buChar char="•"/>
            </a:pPr>
            <a:r>
              <a:rPr lang="fr-FR" sz="120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ISO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</a:t>
            </a:r>
            <a:r>
              <a:rPr lang="fr-F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International </a:t>
            </a:r>
            <a:r>
              <a:rPr lang="fr-F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Organization</a:t>
            </a:r>
            <a:r>
              <a:rPr lang="fr-F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</a:t>
            </a:r>
            <a:r>
              <a:rPr lang="fr-FR" sz="120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Standardization</a:t>
            </a:r>
            <a:r>
              <a:rPr lang="fr-F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), </a:t>
            </a:r>
          </a:p>
          <a:p>
            <a:pPr>
              <a:buFont typeface="Arial"/>
              <a:buChar char="•"/>
            </a:pPr>
            <a:r>
              <a:rPr lang="fr-F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AFNOR (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Association française de normalisation</a:t>
            </a:r>
            <a:r>
              <a:rPr lang="fr-F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</a:t>
            </a:r>
            <a:r>
              <a:rPr lang="fr-FR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est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l'organisme officiel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4"/>
              </a:rPr>
              <a:t>français de normalisation, membre de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5"/>
              </a:rPr>
              <a:t>’ISO auprès de laquelle elle représente la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France</a:t>
            </a:r>
            <a:r>
              <a:rPr lang="fr-F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  <a:r>
              <a:rPr lang="fr-FR" sz="120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Exemple de norme: 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AC X50-111 Mesure de la qualité des données CRM - Référentiel d'indicateurs CRM.</a:t>
            </a:r>
            <a:endParaRPr lang="fr-FR" sz="120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buFont typeface="Arial"/>
              <a:buChar char="•"/>
            </a:pPr>
            <a:r>
              <a:rPr lang="fr-FR" sz="12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W3C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World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Wide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Web Consortium (W3C)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develops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interoperable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technologies (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specifications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 guidelines, software, and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tools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)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lead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Web to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its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full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potential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 W3C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 forum for information, commerce, communication, and collective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understanding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Exemples formats ouvert : PNG, JPG, HTML, PDF,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etc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</a:p>
          <a:p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</a:t>
            </a:r>
            <a:r>
              <a:rPr lang="fr-FR" sz="1200" b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tandard est un procédé ou un service qui est largement répandu par une entreprise ou un groupe d'entreprise (organisme privé). Alors qu'une 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6"/>
              </a:rPr>
              <a:t>norme est un procédé ou un service qui est défini par un groupe d'entreprises ou de scientifiques (organisme public).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Un standard peut être ou non une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norme.Une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norme peut devenir un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standard.Un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standard peut être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  <a:hlinkClick r:id="rId7"/>
              </a:rPr>
              <a:t>normalisé.</a:t>
            </a:r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fr-FR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L’</a:t>
            </a:r>
            <a:r>
              <a:rPr lang="fr-F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interopérabilité en informatique est la capacité que possède un système informatique à fonctionner avec d'autres produits ou systèmes informatiques, existants ou futurs, sans restriction d'accès ou de mise en œuvre.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3</a:t>
            </a:fld>
            <a:endParaRPr lang="fr-F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4</a:t>
            </a:fld>
            <a:endParaRPr lang="fr-F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 smtClean="0"/>
              <a:t>Que remarque-t-on ?</a:t>
            </a:r>
          </a:p>
          <a:p>
            <a:r>
              <a:rPr lang="fr-FR" dirty="0" smtClean="0"/>
              <a:t>les éléments du XML</a:t>
            </a:r>
            <a:r>
              <a:rPr lang="fr-FR" baseline="0" dirty="0" smtClean="0"/>
              <a:t> </a:t>
            </a:r>
            <a:r>
              <a:rPr lang="fr-FR" baseline="0" dirty="0" err="1" smtClean="0"/>
              <a:t>schema</a:t>
            </a:r>
            <a:r>
              <a:rPr lang="fr-FR" baseline="0" dirty="0" smtClean="0"/>
              <a:t> doivent appartenir à ce </a:t>
            </a:r>
            <a:r>
              <a:rPr lang="fr-FR" u="sng" baseline="0" dirty="0" err="1" smtClean="0"/>
              <a:t>namespace</a:t>
            </a:r>
            <a:endParaRPr lang="fr-FR" u="sng" baseline="0" dirty="0" smtClean="0"/>
          </a:p>
          <a:p>
            <a:r>
              <a:rPr lang="fr-FR" baseline="0" dirty="0" smtClean="0"/>
              <a:t>par convention, on utilise le </a:t>
            </a:r>
            <a:r>
              <a:rPr lang="fr-FR" u="sng" baseline="0" dirty="0" err="1" smtClean="0"/>
              <a:t>prefixe</a:t>
            </a:r>
            <a:r>
              <a:rPr lang="fr-FR" u="sng" baseline="0" dirty="0" smtClean="0"/>
              <a:t> </a:t>
            </a:r>
            <a:r>
              <a:rPr lang="fr-FR" i="1" baseline="0" dirty="0" err="1" smtClean="0"/>
              <a:t>xs</a:t>
            </a:r>
            <a:r>
              <a:rPr lang="fr-FR" i="1" baseline="0" dirty="0" smtClean="0"/>
              <a:t> </a:t>
            </a:r>
            <a:r>
              <a:rPr lang="fr-FR" i="0" baseline="0" dirty="0" smtClean="0"/>
              <a:t>ou </a:t>
            </a:r>
            <a:r>
              <a:rPr lang="fr-FR" i="1" baseline="0" dirty="0" err="1" smtClean="0"/>
              <a:t>xsd</a:t>
            </a:r>
            <a:endParaRPr lang="fr-FR" i="1" baseline="0" dirty="0" smtClean="0"/>
          </a:p>
          <a:p>
            <a:r>
              <a:rPr lang="fr-FR" b="1" i="0" dirty="0" smtClean="0"/>
              <a:t>Quels élément trouvent-on</a:t>
            </a:r>
            <a:r>
              <a:rPr lang="fr-FR" b="1" i="0" baseline="0" dirty="0" smtClean="0"/>
              <a:t> sur cet exemple et avec quels attributs ?</a:t>
            </a:r>
          </a:p>
          <a:p>
            <a:r>
              <a:rPr lang="fr-FR" i="0" baseline="0" dirty="0" err="1" smtClean="0"/>
              <a:t>element</a:t>
            </a:r>
            <a:r>
              <a:rPr lang="fr-FR" i="0" baseline="0" dirty="0" smtClean="0"/>
              <a:t> avec attributs </a:t>
            </a:r>
            <a:r>
              <a:rPr lang="fr-FR" i="0" baseline="0" dirty="0" err="1" smtClean="0"/>
              <a:t>name</a:t>
            </a:r>
            <a:r>
              <a:rPr lang="fr-FR" i="0" baseline="0" dirty="0" smtClean="0"/>
              <a:t> et type</a:t>
            </a:r>
          </a:p>
          <a:p>
            <a:r>
              <a:rPr lang="fr-FR" i="0" baseline="0" dirty="0" err="1" smtClean="0"/>
              <a:t>complextype</a:t>
            </a:r>
            <a:endParaRPr lang="fr-FR" i="0" baseline="0" dirty="0" smtClean="0"/>
          </a:p>
          <a:p>
            <a:r>
              <a:rPr lang="fr-FR" i="0" baseline="0" dirty="0" err="1" smtClean="0"/>
              <a:t>sequence</a:t>
            </a:r>
            <a:endParaRPr lang="fr-FR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 err="1" smtClean="0"/>
              <a:t>Element</a:t>
            </a:r>
            <a:r>
              <a:rPr lang="fr-FR" b="1" dirty="0" smtClean="0"/>
              <a:t> : la balise la plus utilisée</a:t>
            </a:r>
          </a:p>
          <a:p>
            <a:r>
              <a:rPr lang="fr-FR" b="0" i="0" dirty="0" smtClean="0"/>
              <a:t>Type : pas en</a:t>
            </a:r>
            <a:r>
              <a:rPr lang="fr-FR" b="0" i="0" baseline="0" dirty="0" smtClean="0"/>
              <a:t> DTD par exemple. Manquait vraiment pour plein d'applications.</a:t>
            </a:r>
          </a:p>
          <a:p>
            <a:r>
              <a:rPr lang="fr-FR" b="0" i="0" baseline="0" dirty="0" smtClean="0"/>
              <a:t>Donne l'information que le doc est composé d'un élément </a:t>
            </a:r>
            <a:r>
              <a:rPr lang="fr-FR" b="0" i="0" baseline="0" dirty="0" err="1" smtClean="0"/>
              <a:t>firstname</a:t>
            </a:r>
            <a:r>
              <a:rPr lang="fr-FR" b="0" i="0" baseline="0" dirty="0" smtClean="0"/>
              <a:t> contenant du texte de type chaîne de caractères</a:t>
            </a:r>
          </a:p>
          <a:p>
            <a:endParaRPr lang="fr-FR" b="0" i="0" baseline="0" dirty="0" smtClean="0"/>
          </a:p>
          <a:p>
            <a:r>
              <a:rPr lang="fr-FR" b="0" i="0" baseline="0" dirty="0" smtClean="0"/>
              <a:t>Pour la liste exhaustive des types, voir doc XML </a:t>
            </a:r>
            <a:r>
              <a:rPr lang="fr-FR" b="0" i="0" baseline="0" dirty="0" err="1" smtClean="0"/>
              <a:t>Schema</a:t>
            </a:r>
            <a:r>
              <a:rPr lang="fr-FR" b="0" i="0" baseline="0" dirty="0" smtClean="0"/>
              <a:t> sur le W3C</a:t>
            </a:r>
          </a:p>
          <a:p>
            <a:endParaRPr lang="fr-FR" b="0" i="0" baseline="0" dirty="0" smtClean="0"/>
          </a:p>
          <a:p>
            <a:r>
              <a:rPr lang="fr-FR" b="0" i="0" baseline="0" dirty="0" smtClean="0"/>
              <a:t>abstract : au sens Java, un type qui ne peut pas être instancié</a:t>
            </a:r>
            <a:endParaRPr lang="fr-FR" b="0" i="0" dirty="0" smtClean="0"/>
          </a:p>
          <a:p>
            <a:r>
              <a:rPr lang="fr-FR" b="0" i="0" dirty="0" smtClean="0"/>
              <a:t>block : pour empecher certains types de dérivation</a:t>
            </a:r>
          </a:p>
          <a:p>
            <a:r>
              <a:rPr lang="fr-FR" b="0" i="0" dirty="0" smtClean="0"/>
              <a:t> 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6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7</a:t>
            </a:fld>
            <a:endParaRPr lang="fr-F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1" dirty="0" err="1" smtClean="0"/>
              <a:t>Element</a:t>
            </a:r>
            <a:r>
              <a:rPr lang="fr-FR" b="1" dirty="0" smtClean="0"/>
              <a:t> : la balise la plus utilisée</a:t>
            </a:r>
          </a:p>
          <a:p>
            <a:r>
              <a:rPr lang="fr-FR" b="0" i="0" dirty="0" smtClean="0"/>
              <a:t>Type : pas en</a:t>
            </a:r>
            <a:r>
              <a:rPr lang="fr-FR" b="0" i="0" baseline="0" dirty="0" smtClean="0"/>
              <a:t> DTD par exemple. Manquait vraiment pour plein d'applications.</a:t>
            </a:r>
          </a:p>
          <a:p>
            <a:r>
              <a:rPr lang="fr-FR" b="0" i="0" baseline="0" dirty="0" smtClean="0"/>
              <a:t>Donne l'information que le doc est composé d'un élément </a:t>
            </a:r>
            <a:r>
              <a:rPr lang="fr-FR" b="0" i="0" baseline="0" dirty="0" err="1" smtClean="0"/>
              <a:t>firstname</a:t>
            </a:r>
            <a:r>
              <a:rPr lang="fr-FR" b="0" i="0" baseline="0" dirty="0" smtClean="0"/>
              <a:t> contenant du texte de type chaîne de caractères</a:t>
            </a:r>
          </a:p>
          <a:p>
            <a:endParaRPr lang="fr-FR" b="0" i="0" baseline="0" dirty="0" smtClean="0"/>
          </a:p>
          <a:p>
            <a:r>
              <a:rPr lang="fr-FR" b="0" i="0" baseline="0" dirty="0" smtClean="0"/>
              <a:t>Pour la liste exhaustive des types, voir doc XML </a:t>
            </a:r>
            <a:r>
              <a:rPr lang="fr-FR" b="0" i="0" baseline="0" dirty="0" err="1" smtClean="0"/>
              <a:t>Schema</a:t>
            </a:r>
            <a:r>
              <a:rPr lang="fr-FR" b="0" i="0" baseline="0" dirty="0" smtClean="0"/>
              <a:t> sur le W3C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Types primitifs</a:t>
            </a:r>
            <a:r>
              <a:rPr lang="fr-FR" baseline="0" dirty="0" smtClean="0"/>
              <a:t> et type dérivés ici</a:t>
            </a:r>
          </a:p>
          <a:p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Definition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:]  Primitive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datatypes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not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defined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terms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datatypes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;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they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exist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ab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initio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</a:t>
            </a:r>
          </a:p>
          <a:p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[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Definition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:]  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Derived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datatypes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those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that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are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defined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in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terms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other</a:t>
            </a:r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b="0" i="1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datatypes</a:t>
            </a:r>
            <a:endParaRPr lang="fr-FR" sz="1200" b="0" i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peut être dérivé par</a:t>
            </a:r>
            <a:r>
              <a:rPr lang="fr-FR" sz="1200" b="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liste ou par union</a:t>
            </a:r>
          </a:p>
          <a:p>
            <a:endParaRPr lang="fr-FR" sz="1200" b="0" i="1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 sz="1200" b="0" i="1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 : gregorian</a:t>
            </a:r>
            <a:endParaRPr lang="fr-FR" b="0" i="1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9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10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0" i="0" dirty="0" smtClean="0"/>
              <a:t>\c :</a:t>
            </a:r>
            <a:r>
              <a:rPr lang="fr-FR" b="0" i="0" baseline="0" dirty="0" smtClean="0"/>
              <a:t> caractère char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0" i="0" dirty="0" smtClean="0"/>
              <a:t>On ne parle pas</a:t>
            </a:r>
            <a:r>
              <a:rPr lang="fr-FR" b="0" i="0" baseline="0" dirty="0" smtClean="0"/>
              <a:t> des fondamentaux. On s'en sert très peu.</a:t>
            </a:r>
          </a:p>
          <a:p>
            <a:endParaRPr lang="fr-FR" b="0" i="0" baseline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13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0" i="0" dirty="0" smtClean="0"/>
              <a:t>The </a:t>
            </a:r>
            <a:r>
              <a:rPr lang="fr-FR" b="0" i="0" dirty="0" err="1" smtClean="0"/>
              <a:t>following</a:t>
            </a:r>
            <a:r>
              <a:rPr lang="fr-FR" b="0" i="0" dirty="0" smtClean="0"/>
              <a:t> </a:t>
            </a:r>
            <a:r>
              <a:rPr lang="fr-FR" b="0" i="0" dirty="0" err="1" smtClean="0"/>
              <a:t>is</a:t>
            </a:r>
            <a:r>
              <a:rPr lang="fr-FR" b="0" i="0" dirty="0" smtClean="0"/>
              <a:t> the </a:t>
            </a:r>
            <a:r>
              <a:rPr lang="fr-FR" b="0" i="0" dirty="0" err="1" smtClean="0"/>
              <a:t>definition</a:t>
            </a:r>
            <a:r>
              <a:rPr lang="fr-FR" b="0" i="0" dirty="0" smtClean="0"/>
              <a:t> of a ·</a:t>
            </a:r>
            <a:r>
              <a:rPr lang="fr-FR" b="0" i="0" dirty="0" err="1" smtClean="0"/>
              <a:t>user-derived</a:t>
            </a:r>
            <a:r>
              <a:rPr lang="fr-FR" b="0" i="0" dirty="0" smtClean="0"/>
              <a:t>· </a:t>
            </a:r>
            <a:r>
              <a:rPr lang="fr-FR" b="0" i="0" dirty="0" err="1" smtClean="0"/>
              <a:t>datatype</a:t>
            </a:r>
            <a:r>
              <a:rPr lang="fr-FR" b="0" i="0" dirty="0" smtClean="0"/>
              <a:t> to </a:t>
            </a:r>
            <a:r>
              <a:rPr lang="fr-FR" b="0" i="0" dirty="0" err="1" smtClean="0"/>
              <a:t>represent</a:t>
            </a:r>
            <a:r>
              <a:rPr lang="fr-FR" b="0" i="0" dirty="0" smtClean="0"/>
              <a:t> </a:t>
            </a:r>
            <a:r>
              <a:rPr lang="fr-FR" b="0" i="0" dirty="0" err="1" smtClean="0"/>
              <a:t>product</a:t>
            </a:r>
            <a:r>
              <a:rPr lang="fr-FR" b="0" i="0" dirty="0" smtClean="0"/>
              <a:t> codes </a:t>
            </a:r>
            <a:r>
              <a:rPr lang="fr-FR" b="0" i="0" dirty="0" err="1" smtClean="0"/>
              <a:t>which</a:t>
            </a:r>
            <a:r>
              <a:rPr lang="fr-FR" b="0" i="0" dirty="0" smtClean="0"/>
              <a:t> must </a:t>
            </a:r>
            <a:r>
              <a:rPr lang="fr-FR" b="0" i="0" dirty="0" err="1" smtClean="0"/>
              <a:t>be</a:t>
            </a:r>
            <a:r>
              <a:rPr lang="fr-FR" b="0" i="0" dirty="0" smtClean="0"/>
              <a:t> </a:t>
            </a:r>
            <a:r>
              <a:rPr lang="fr-FR" b="0" i="0" dirty="0" err="1" smtClean="0"/>
              <a:t>exactly</a:t>
            </a:r>
            <a:r>
              <a:rPr lang="fr-FR" b="0" i="0" dirty="0" smtClean="0"/>
              <a:t> 8 </a:t>
            </a:r>
            <a:r>
              <a:rPr lang="fr-FR" b="0" i="0" dirty="0" err="1" smtClean="0"/>
              <a:t>characters</a:t>
            </a:r>
            <a:r>
              <a:rPr lang="fr-FR" b="0" i="0" dirty="0" smtClean="0"/>
              <a:t> in </a:t>
            </a:r>
            <a:r>
              <a:rPr lang="fr-FR" b="0" i="0" dirty="0" err="1" smtClean="0"/>
              <a:t>length</a:t>
            </a:r>
            <a:r>
              <a:rPr lang="fr-FR" b="0" i="0" dirty="0" smtClean="0"/>
              <a:t>. By fixing the value of the </a:t>
            </a:r>
            <a:r>
              <a:rPr lang="fr-FR" b="0" i="0" dirty="0" err="1" smtClean="0"/>
              <a:t>length</a:t>
            </a:r>
            <a:r>
              <a:rPr lang="fr-FR" b="0" i="0" dirty="0" smtClean="0"/>
              <a:t> </a:t>
            </a:r>
            <a:r>
              <a:rPr lang="fr-FR" b="0" i="0" dirty="0" err="1" smtClean="0"/>
              <a:t>facet</a:t>
            </a:r>
            <a:r>
              <a:rPr lang="fr-FR" b="0" i="0" dirty="0" smtClean="0"/>
              <a:t> </a:t>
            </a:r>
            <a:r>
              <a:rPr lang="fr-FR" b="0" i="0" dirty="0" err="1" smtClean="0"/>
              <a:t>we</a:t>
            </a:r>
            <a:r>
              <a:rPr lang="fr-FR" b="0" i="0" dirty="0" smtClean="0"/>
              <a:t> </a:t>
            </a:r>
            <a:r>
              <a:rPr lang="fr-FR" b="0" i="0" dirty="0" err="1" smtClean="0"/>
              <a:t>ensure</a:t>
            </a:r>
            <a:r>
              <a:rPr lang="fr-FR" b="0" i="0" dirty="0" smtClean="0"/>
              <a:t> </a:t>
            </a:r>
            <a:r>
              <a:rPr lang="fr-FR" b="0" i="0" dirty="0" err="1" smtClean="0"/>
              <a:t>that</a:t>
            </a:r>
            <a:r>
              <a:rPr lang="fr-FR" b="0" i="0" dirty="0" smtClean="0"/>
              <a:t> types </a:t>
            </a:r>
            <a:r>
              <a:rPr lang="fr-FR" b="0" i="0" dirty="0" err="1" smtClean="0"/>
              <a:t>derived</a:t>
            </a:r>
            <a:r>
              <a:rPr lang="fr-FR" b="0" i="0" dirty="0" smtClean="0"/>
              <a:t> </a:t>
            </a:r>
            <a:r>
              <a:rPr lang="fr-FR" b="0" i="0" dirty="0" err="1" smtClean="0"/>
              <a:t>from</a:t>
            </a:r>
            <a:r>
              <a:rPr lang="fr-FR" b="0" i="0" dirty="0" smtClean="0"/>
              <a:t> </a:t>
            </a:r>
            <a:r>
              <a:rPr lang="fr-FR" b="0" i="0" dirty="0" err="1" smtClean="0"/>
              <a:t>productCode</a:t>
            </a:r>
            <a:r>
              <a:rPr lang="fr-FR" b="0" i="0" dirty="0" smtClean="0"/>
              <a:t> </a:t>
            </a:r>
            <a:r>
              <a:rPr lang="fr-FR" b="0" i="0" dirty="0" err="1" smtClean="0"/>
              <a:t>can</a:t>
            </a:r>
            <a:r>
              <a:rPr lang="fr-FR" b="0" i="0" dirty="0" smtClean="0"/>
              <a:t> change or set the values of </a:t>
            </a:r>
            <a:r>
              <a:rPr lang="fr-FR" b="0" i="0" dirty="0" err="1" smtClean="0"/>
              <a:t>other</a:t>
            </a:r>
            <a:r>
              <a:rPr lang="fr-FR" b="0" i="0" dirty="0" smtClean="0"/>
              <a:t> </a:t>
            </a:r>
            <a:r>
              <a:rPr lang="fr-FR" b="0" i="0" dirty="0" err="1" smtClean="0"/>
              <a:t>facets</a:t>
            </a:r>
            <a:r>
              <a:rPr lang="fr-FR" b="0" i="0" dirty="0" smtClean="0"/>
              <a:t>, </a:t>
            </a:r>
            <a:r>
              <a:rPr lang="fr-FR" b="0" i="0" dirty="0" err="1" smtClean="0"/>
              <a:t>such</a:t>
            </a:r>
            <a:r>
              <a:rPr lang="fr-FR" b="0" i="0" dirty="0" smtClean="0"/>
              <a:t> as pattern, but </a:t>
            </a:r>
            <a:r>
              <a:rPr lang="fr-FR" b="0" i="0" dirty="0" err="1" smtClean="0"/>
              <a:t>cannot</a:t>
            </a:r>
            <a:r>
              <a:rPr lang="fr-FR" b="0" i="0" dirty="0" smtClean="0"/>
              <a:t> change the </a:t>
            </a:r>
            <a:r>
              <a:rPr lang="fr-FR" b="0" i="0" dirty="0" err="1" smtClean="0"/>
              <a:t>length</a:t>
            </a:r>
            <a:r>
              <a:rPr lang="fr-FR" b="0" i="0" dirty="0" smtClean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14</a:t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0" i="0" dirty="0" smtClean="0"/>
              <a:t>The </a:t>
            </a:r>
            <a:r>
              <a:rPr lang="fr-FR" b="0" i="0" dirty="0" err="1" smtClean="0"/>
              <a:t>following</a:t>
            </a:r>
            <a:r>
              <a:rPr lang="fr-FR" b="0" i="0" dirty="0" smtClean="0"/>
              <a:t> </a:t>
            </a:r>
            <a:r>
              <a:rPr lang="fr-FR" b="0" i="0" dirty="0" err="1" smtClean="0"/>
              <a:t>is</a:t>
            </a:r>
            <a:r>
              <a:rPr lang="fr-FR" b="0" i="0" dirty="0" smtClean="0"/>
              <a:t> the </a:t>
            </a:r>
            <a:r>
              <a:rPr lang="fr-FR" b="0" i="0" dirty="0" err="1" smtClean="0"/>
              <a:t>definition</a:t>
            </a:r>
            <a:r>
              <a:rPr lang="fr-FR" b="0" i="0" dirty="0" smtClean="0"/>
              <a:t> of a ·</a:t>
            </a:r>
            <a:r>
              <a:rPr lang="fr-FR" b="0" i="0" dirty="0" err="1" smtClean="0"/>
              <a:t>user-derived</a:t>
            </a:r>
            <a:r>
              <a:rPr lang="fr-FR" b="0" i="0" dirty="0" smtClean="0"/>
              <a:t>· </a:t>
            </a:r>
            <a:r>
              <a:rPr lang="fr-FR" b="0" i="0" dirty="0" err="1" smtClean="0"/>
              <a:t>datatype</a:t>
            </a:r>
            <a:r>
              <a:rPr lang="fr-FR" b="0" i="0" dirty="0" smtClean="0"/>
              <a:t> </a:t>
            </a:r>
            <a:r>
              <a:rPr lang="fr-FR" b="0" i="0" dirty="0" err="1" smtClean="0"/>
              <a:t>which</a:t>
            </a:r>
            <a:r>
              <a:rPr lang="fr-FR" b="0" i="0" dirty="0" smtClean="0"/>
              <a:t> </a:t>
            </a:r>
            <a:r>
              <a:rPr lang="fr-FR" b="0" i="0" dirty="0" err="1" smtClean="0"/>
              <a:t>requires</a:t>
            </a:r>
            <a:r>
              <a:rPr lang="fr-FR" b="0" i="0" dirty="0" smtClean="0"/>
              <a:t> strings to have </a:t>
            </a:r>
            <a:r>
              <a:rPr lang="fr-FR" b="0" i="0" dirty="0" err="1" smtClean="0"/>
              <a:t>at</a:t>
            </a:r>
            <a:r>
              <a:rPr lang="fr-FR" b="0" i="0" dirty="0" smtClean="0"/>
              <a:t> least one </a:t>
            </a:r>
            <a:r>
              <a:rPr lang="fr-FR" b="0" i="0" dirty="0" err="1" smtClean="0"/>
              <a:t>character</a:t>
            </a:r>
            <a:r>
              <a:rPr lang="fr-FR" b="0" i="0" dirty="0" smtClean="0"/>
              <a:t> (i.e., the </a:t>
            </a:r>
            <a:r>
              <a:rPr lang="fr-FR" b="0" i="0" dirty="0" err="1" smtClean="0"/>
              <a:t>empty</a:t>
            </a:r>
            <a:r>
              <a:rPr lang="fr-FR" b="0" i="0" dirty="0" smtClean="0"/>
              <a:t> string </a:t>
            </a:r>
            <a:r>
              <a:rPr lang="fr-FR" b="0" i="0" dirty="0" err="1" smtClean="0"/>
              <a:t>is</a:t>
            </a:r>
            <a:r>
              <a:rPr lang="fr-FR" b="0" i="0" dirty="0" smtClean="0"/>
              <a:t> not in the ·value </a:t>
            </a:r>
            <a:r>
              <a:rPr lang="fr-FR" b="0" i="0" dirty="0" err="1" smtClean="0"/>
              <a:t>space</a:t>
            </a:r>
            <a:r>
              <a:rPr lang="fr-FR" b="0" i="0" dirty="0" smtClean="0"/>
              <a:t>· of </a:t>
            </a:r>
            <a:r>
              <a:rPr lang="fr-FR" b="0" i="0" dirty="0" err="1" smtClean="0"/>
              <a:t>this</a:t>
            </a:r>
            <a:r>
              <a:rPr lang="fr-FR" b="0" i="0" dirty="0" smtClean="0"/>
              <a:t> </a:t>
            </a:r>
            <a:r>
              <a:rPr lang="fr-FR" b="0" i="0" dirty="0" err="1" smtClean="0"/>
              <a:t>datatype</a:t>
            </a:r>
            <a:r>
              <a:rPr lang="fr-FR" b="0" i="0" dirty="0" smtClean="0"/>
              <a:t>).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15</a:t>
            </a:fld>
            <a:endParaRPr lang="fr-F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0" i="0" dirty="0" smtClean="0"/>
              <a:t>code postal 5 chiffres – 4 chiffres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16</a:t>
            </a:fld>
            <a:endParaRPr lang="fr-F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0" i="0" dirty="0" smtClean="0"/>
              <a:t>The </a:t>
            </a:r>
            <a:r>
              <a:rPr lang="fr-FR" b="0" i="0" dirty="0" err="1" smtClean="0"/>
              <a:t>following</a:t>
            </a:r>
            <a:r>
              <a:rPr lang="fr-FR" b="0" i="0" dirty="0" smtClean="0"/>
              <a:t> </a:t>
            </a:r>
            <a:r>
              <a:rPr lang="fr-FR" b="0" i="0" dirty="0" err="1" smtClean="0"/>
              <a:t>example</a:t>
            </a:r>
            <a:r>
              <a:rPr lang="fr-FR" b="0" i="0" dirty="0" smtClean="0"/>
              <a:t> </a:t>
            </a:r>
            <a:r>
              <a:rPr lang="fr-FR" b="0" i="0" dirty="0" err="1" smtClean="0"/>
              <a:t>is</a:t>
            </a:r>
            <a:r>
              <a:rPr lang="fr-FR" b="0" i="0" dirty="0" smtClean="0"/>
              <a:t> a </a:t>
            </a:r>
            <a:r>
              <a:rPr lang="fr-FR" b="0" i="0" dirty="0" err="1" smtClean="0"/>
              <a:t>datatype</a:t>
            </a:r>
            <a:r>
              <a:rPr lang="fr-FR" b="0" i="0" dirty="0" smtClean="0"/>
              <a:t> </a:t>
            </a:r>
            <a:r>
              <a:rPr lang="fr-FR" b="0" i="0" dirty="0" err="1" smtClean="0"/>
              <a:t>definition</a:t>
            </a:r>
            <a:r>
              <a:rPr lang="fr-FR" b="0" i="0" dirty="0" smtClean="0"/>
              <a:t> for a ·</a:t>
            </a:r>
            <a:r>
              <a:rPr lang="fr-FR" b="0" i="0" dirty="0" err="1" smtClean="0"/>
              <a:t>user-derived</a:t>
            </a:r>
            <a:r>
              <a:rPr lang="fr-FR" b="0" i="0" dirty="0" smtClean="0"/>
              <a:t>· </a:t>
            </a:r>
            <a:r>
              <a:rPr lang="fr-FR" b="0" i="0" dirty="0" err="1" smtClean="0"/>
              <a:t>datatype</a:t>
            </a:r>
            <a:r>
              <a:rPr lang="fr-FR" b="0" i="0" dirty="0" smtClean="0"/>
              <a:t> </a:t>
            </a:r>
            <a:r>
              <a:rPr lang="fr-FR" b="0" i="0" dirty="0" err="1" smtClean="0"/>
              <a:t>which</a:t>
            </a:r>
            <a:r>
              <a:rPr lang="fr-FR" b="0" i="0" dirty="0" smtClean="0"/>
              <a:t> </a:t>
            </a:r>
            <a:r>
              <a:rPr lang="fr-FR" b="0" i="0" dirty="0" err="1" smtClean="0"/>
              <a:t>limits</a:t>
            </a:r>
            <a:r>
              <a:rPr lang="fr-FR" b="0" i="0" dirty="0" smtClean="0"/>
              <a:t> the values of dates to the </a:t>
            </a:r>
            <a:r>
              <a:rPr lang="fr-FR" b="0" i="0" dirty="0" err="1" smtClean="0"/>
              <a:t>three</a:t>
            </a:r>
            <a:r>
              <a:rPr lang="fr-FR" b="0" i="0" dirty="0" smtClean="0"/>
              <a:t> US </a:t>
            </a:r>
            <a:r>
              <a:rPr lang="fr-FR" b="0" i="0" dirty="0" err="1" smtClean="0"/>
              <a:t>holidays</a:t>
            </a:r>
            <a:r>
              <a:rPr lang="fr-FR" b="0" i="0" dirty="0" smtClean="0"/>
              <a:t> </a:t>
            </a:r>
            <a:r>
              <a:rPr lang="fr-FR" b="0" i="0" dirty="0" err="1" smtClean="0"/>
              <a:t>enumerated</a:t>
            </a:r>
            <a:r>
              <a:rPr lang="fr-FR" b="0" i="0" dirty="0" smtClean="0"/>
              <a:t>. This </a:t>
            </a:r>
            <a:r>
              <a:rPr lang="fr-FR" b="0" i="0" dirty="0" err="1" smtClean="0"/>
              <a:t>datatype</a:t>
            </a:r>
            <a:r>
              <a:rPr lang="fr-FR" b="0" i="0" dirty="0" smtClean="0"/>
              <a:t> </a:t>
            </a:r>
            <a:r>
              <a:rPr lang="fr-FR" b="0" i="0" dirty="0" err="1" smtClean="0"/>
              <a:t>definition</a:t>
            </a:r>
            <a:r>
              <a:rPr lang="fr-FR" b="0" i="0" dirty="0" smtClean="0"/>
              <a:t> </a:t>
            </a:r>
            <a:r>
              <a:rPr lang="fr-FR" b="0" i="0" dirty="0" err="1" smtClean="0"/>
              <a:t>would</a:t>
            </a:r>
            <a:r>
              <a:rPr lang="fr-FR" b="0" i="0" dirty="0" smtClean="0"/>
              <a:t> </a:t>
            </a:r>
            <a:r>
              <a:rPr lang="fr-FR" b="0" i="0" dirty="0" err="1" smtClean="0"/>
              <a:t>appear</a:t>
            </a:r>
            <a:r>
              <a:rPr lang="fr-FR" b="0" i="0" dirty="0" smtClean="0"/>
              <a:t> in a </a:t>
            </a:r>
            <a:r>
              <a:rPr lang="fr-FR" b="0" i="0" dirty="0" err="1" smtClean="0"/>
              <a:t>schema</a:t>
            </a:r>
            <a:r>
              <a:rPr lang="fr-FR" b="0" i="0" dirty="0" smtClean="0"/>
              <a:t> </a:t>
            </a:r>
            <a:r>
              <a:rPr lang="fr-FR" b="0" i="0" dirty="0" err="1" smtClean="0"/>
              <a:t>authored</a:t>
            </a:r>
            <a:r>
              <a:rPr lang="fr-FR" b="0" i="0" dirty="0" smtClean="0"/>
              <a:t> by an "</a:t>
            </a:r>
            <a:r>
              <a:rPr lang="fr-FR" b="0" i="0" dirty="0" err="1" smtClean="0"/>
              <a:t>end-user</a:t>
            </a:r>
            <a:r>
              <a:rPr lang="fr-FR" b="0" i="0" dirty="0" smtClean="0"/>
              <a:t>" and shows how to </a:t>
            </a:r>
            <a:r>
              <a:rPr lang="fr-FR" b="0" i="0" dirty="0" err="1" smtClean="0"/>
              <a:t>define</a:t>
            </a:r>
            <a:r>
              <a:rPr lang="fr-FR" b="0" i="0" dirty="0" smtClean="0"/>
              <a:t> a </a:t>
            </a:r>
            <a:r>
              <a:rPr lang="fr-FR" b="0" i="0" dirty="0" err="1" smtClean="0"/>
              <a:t>datatype</a:t>
            </a:r>
            <a:r>
              <a:rPr lang="fr-FR" b="0" i="0" dirty="0" smtClean="0"/>
              <a:t> by </a:t>
            </a:r>
            <a:r>
              <a:rPr lang="fr-FR" b="0" i="0" dirty="0" err="1" smtClean="0"/>
              <a:t>enumerating</a:t>
            </a:r>
            <a:r>
              <a:rPr lang="fr-FR" b="0" i="0" dirty="0" smtClean="0"/>
              <a:t> the values in </a:t>
            </a:r>
            <a:r>
              <a:rPr lang="fr-FR" b="0" i="0" dirty="0" err="1" smtClean="0"/>
              <a:t>its</a:t>
            </a:r>
            <a:r>
              <a:rPr lang="fr-FR" b="0" i="0" dirty="0" smtClean="0"/>
              <a:t> ·value </a:t>
            </a:r>
            <a:r>
              <a:rPr lang="fr-FR" b="0" i="0" dirty="0" err="1" smtClean="0"/>
              <a:t>space</a:t>
            </a:r>
            <a:r>
              <a:rPr lang="fr-FR" b="0" i="0" dirty="0" smtClean="0"/>
              <a:t>·. The </a:t>
            </a:r>
            <a:r>
              <a:rPr lang="fr-FR" b="0" i="0" dirty="0" err="1" smtClean="0"/>
              <a:t>enumerated</a:t>
            </a:r>
            <a:r>
              <a:rPr lang="fr-FR" b="0" i="0" dirty="0" smtClean="0"/>
              <a:t> values must </a:t>
            </a:r>
            <a:r>
              <a:rPr lang="fr-FR" b="0" i="0" dirty="0" err="1" smtClean="0"/>
              <a:t>be</a:t>
            </a:r>
            <a:r>
              <a:rPr lang="fr-FR" b="0" i="0" dirty="0" smtClean="0"/>
              <a:t> </a:t>
            </a:r>
            <a:r>
              <a:rPr lang="fr-FR" b="0" i="0" dirty="0" err="1" smtClean="0"/>
              <a:t>type-valid</a:t>
            </a:r>
            <a:r>
              <a:rPr lang="fr-FR" b="0" i="0" dirty="0" smtClean="0"/>
              <a:t> </a:t>
            </a:r>
            <a:r>
              <a:rPr lang="fr-FR" b="0" i="0" dirty="0" err="1" smtClean="0"/>
              <a:t>literals</a:t>
            </a:r>
            <a:r>
              <a:rPr lang="fr-FR" b="0" i="0" dirty="0" smtClean="0"/>
              <a:t> for the ·base type·.</a:t>
            </a:r>
          </a:p>
          <a:p>
            <a:r>
              <a:rPr lang="fr-FR" b="0" i="0" dirty="0" smtClean="0"/>
              <a:t>annotation</a:t>
            </a:r>
            <a:r>
              <a:rPr lang="fr-FR" b="0" i="0" baseline="0" dirty="0" smtClean="0"/>
              <a:t> = commentaire dans le schema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b="0" i="0" dirty="0" smtClean="0"/>
              <a:t>Indique comment le processeur</a:t>
            </a:r>
            <a:r>
              <a:rPr lang="fr-FR" b="0" i="0" baseline="0" dirty="0" smtClean="0"/>
              <a:t> doit traiter les espaces. </a:t>
            </a:r>
            <a:r>
              <a:rPr lang="fr-FR" b="0" i="0" baseline="0" dirty="0" smtClean="0">
                <a:sym typeface="Wingdings"/>
              </a:rPr>
              <a:t> question à 110 balles, kes ke ça fout dans un schéma ça ? C'est pas trop bien l'endroit quand même…</a:t>
            </a:r>
            <a:endParaRPr lang="fr-FR" b="0" i="0" baseline="0" dirty="0" smtClean="0"/>
          </a:p>
          <a:p>
            <a:r>
              <a:rPr lang="fr-FR" b="0" i="0" baseline="0" dirty="0" smtClean="0"/>
              <a:t>3 possibilités :</a:t>
            </a:r>
          </a:p>
          <a:p>
            <a:r>
              <a:rPr lang="fr-FR" b="1" i="0" dirty="0" err="1" smtClean="0"/>
              <a:t>preserve</a:t>
            </a:r>
            <a:endParaRPr lang="fr-FR" b="1" i="0" dirty="0" smtClean="0"/>
          </a:p>
          <a:p>
            <a:r>
              <a:rPr lang="fr-FR" b="0" i="0" dirty="0" smtClean="0"/>
              <a:t>No </a:t>
            </a:r>
            <a:r>
              <a:rPr lang="fr-FR" b="0" i="0" dirty="0" err="1" smtClean="0"/>
              <a:t>normalization</a:t>
            </a:r>
            <a:r>
              <a:rPr lang="fr-FR" b="0" i="0" dirty="0" smtClean="0"/>
              <a:t> </a:t>
            </a:r>
            <a:r>
              <a:rPr lang="fr-FR" b="0" i="0" dirty="0" err="1" smtClean="0"/>
              <a:t>is</a:t>
            </a:r>
            <a:r>
              <a:rPr lang="fr-FR" b="0" i="0" dirty="0" smtClean="0"/>
              <a:t> </a:t>
            </a:r>
            <a:r>
              <a:rPr lang="fr-FR" b="0" i="0" dirty="0" err="1" smtClean="0"/>
              <a:t>done</a:t>
            </a:r>
            <a:r>
              <a:rPr lang="fr-FR" b="0" i="0" dirty="0" smtClean="0"/>
              <a:t>, the value </a:t>
            </a:r>
            <a:r>
              <a:rPr lang="fr-FR" b="0" i="0" dirty="0" err="1" smtClean="0"/>
              <a:t>is</a:t>
            </a:r>
            <a:r>
              <a:rPr lang="fr-FR" b="0" i="0" dirty="0" smtClean="0"/>
              <a:t> not </a:t>
            </a:r>
            <a:r>
              <a:rPr lang="fr-FR" b="0" i="0" dirty="0" err="1" smtClean="0"/>
              <a:t>changed</a:t>
            </a:r>
            <a:r>
              <a:rPr lang="fr-FR" b="0" i="0" dirty="0" smtClean="0"/>
              <a:t> (</a:t>
            </a:r>
            <a:r>
              <a:rPr lang="fr-FR" b="0" i="0" dirty="0" err="1" smtClean="0"/>
              <a:t>this</a:t>
            </a:r>
            <a:r>
              <a:rPr lang="fr-FR" b="0" i="0" dirty="0" smtClean="0"/>
              <a:t> </a:t>
            </a:r>
            <a:r>
              <a:rPr lang="fr-FR" b="0" i="0" dirty="0" err="1" smtClean="0"/>
              <a:t>is</a:t>
            </a:r>
            <a:r>
              <a:rPr lang="fr-FR" b="0" i="0" dirty="0" smtClean="0"/>
              <a:t> the </a:t>
            </a:r>
            <a:r>
              <a:rPr lang="fr-FR" b="0" i="0" dirty="0" err="1" smtClean="0"/>
              <a:t>behavior</a:t>
            </a:r>
            <a:r>
              <a:rPr lang="fr-FR" b="0" i="0" dirty="0" smtClean="0"/>
              <a:t> </a:t>
            </a:r>
            <a:r>
              <a:rPr lang="fr-FR" b="0" i="0" dirty="0" err="1" smtClean="0"/>
              <a:t>required</a:t>
            </a:r>
            <a:r>
              <a:rPr lang="fr-FR" b="0" i="0" dirty="0" smtClean="0"/>
              <a:t> by [XML 1.0 (Second Edition)] for </a:t>
            </a:r>
            <a:r>
              <a:rPr lang="fr-FR" b="0" i="0" dirty="0" err="1" smtClean="0"/>
              <a:t>element</a:t>
            </a:r>
            <a:r>
              <a:rPr lang="fr-FR" b="0" i="0" dirty="0" smtClean="0"/>
              <a:t> content)</a:t>
            </a:r>
          </a:p>
          <a:p>
            <a:r>
              <a:rPr lang="fr-FR" b="1" i="0" dirty="0" smtClean="0"/>
              <a:t>replace</a:t>
            </a:r>
          </a:p>
          <a:p>
            <a:r>
              <a:rPr lang="fr-FR" b="0" i="0" dirty="0" smtClean="0"/>
              <a:t>All occurrences of #x9 (tab), #</a:t>
            </a:r>
            <a:r>
              <a:rPr lang="fr-FR" b="0" i="0" dirty="0" err="1" smtClean="0"/>
              <a:t>xA</a:t>
            </a:r>
            <a:r>
              <a:rPr lang="fr-FR" b="0" i="0" dirty="0" smtClean="0"/>
              <a:t> (line </a:t>
            </a:r>
            <a:r>
              <a:rPr lang="fr-FR" b="0" i="0" dirty="0" err="1" smtClean="0"/>
              <a:t>feed</a:t>
            </a:r>
            <a:r>
              <a:rPr lang="fr-FR" b="0" i="0" dirty="0" smtClean="0"/>
              <a:t>) and #</a:t>
            </a:r>
            <a:r>
              <a:rPr lang="fr-FR" b="0" i="0" dirty="0" err="1" smtClean="0"/>
              <a:t>xD</a:t>
            </a:r>
            <a:r>
              <a:rPr lang="fr-FR" b="0" i="0" dirty="0" smtClean="0"/>
              <a:t> (</a:t>
            </a:r>
            <a:r>
              <a:rPr lang="fr-FR" b="0" i="0" dirty="0" err="1" smtClean="0"/>
              <a:t>carriage</a:t>
            </a:r>
            <a:r>
              <a:rPr lang="fr-FR" b="0" i="0" dirty="0" smtClean="0"/>
              <a:t> return) are </a:t>
            </a:r>
            <a:r>
              <a:rPr lang="fr-FR" b="0" i="0" dirty="0" err="1" smtClean="0"/>
              <a:t>replaced</a:t>
            </a:r>
            <a:r>
              <a:rPr lang="fr-FR" b="0" i="0" dirty="0" smtClean="0"/>
              <a:t> </a:t>
            </a:r>
            <a:r>
              <a:rPr lang="fr-FR" b="0" i="0" dirty="0" err="1" smtClean="0"/>
              <a:t>with</a:t>
            </a:r>
            <a:r>
              <a:rPr lang="fr-FR" b="0" i="0" dirty="0" smtClean="0"/>
              <a:t> #x20 (</a:t>
            </a:r>
            <a:r>
              <a:rPr lang="fr-FR" b="0" i="0" dirty="0" err="1" smtClean="0"/>
              <a:t>space</a:t>
            </a:r>
            <a:r>
              <a:rPr lang="fr-FR" b="0" i="0" dirty="0" smtClean="0"/>
              <a:t>)</a:t>
            </a:r>
          </a:p>
          <a:p>
            <a:r>
              <a:rPr lang="fr-FR" b="1" i="0" dirty="0" smtClean="0"/>
              <a:t>collapse</a:t>
            </a:r>
          </a:p>
          <a:p>
            <a:r>
              <a:rPr lang="fr-FR" b="0" i="0" dirty="0" err="1" smtClean="0"/>
              <a:t>After</a:t>
            </a:r>
            <a:r>
              <a:rPr lang="fr-FR" b="0" i="0" dirty="0" smtClean="0"/>
              <a:t> the </a:t>
            </a:r>
            <a:r>
              <a:rPr lang="fr-FR" b="0" i="0" dirty="0" err="1" smtClean="0"/>
              <a:t>processing</a:t>
            </a:r>
            <a:r>
              <a:rPr lang="fr-FR" b="0" i="0" dirty="0" smtClean="0"/>
              <a:t> </a:t>
            </a:r>
            <a:r>
              <a:rPr lang="fr-FR" b="0" i="0" dirty="0" err="1" smtClean="0"/>
              <a:t>implied</a:t>
            </a:r>
            <a:r>
              <a:rPr lang="fr-FR" b="0" i="0" dirty="0" smtClean="0"/>
              <a:t> by replace, </a:t>
            </a:r>
            <a:r>
              <a:rPr lang="fr-FR" b="0" i="0" dirty="0" err="1" smtClean="0"/>
              <a:t>contiguous</a:t>
            </a:r>
            <a:r>
              <a:rPr lang="fr-FR" b="0" i="0" dirty="0" smtClean="0"/>
              <a:t> </a:t>
            </a:r>
            <a:r>
              <a:rPr lang="fr-FR" b="0" i="0" dirty="0" err="1" smtClean="0"/>
              <a:t>sequences</a:t>
            </a:r>
            <a:r>
              <a:rPr lang="fr-FR" b="0" i="0" dirty="0" smtClean="0"/>
              <a:t> of #x20's are </a:t>
            </a:r>
            <a:r>
              <a:rPr lang="fr-FR" b="0" i="0" dirty="0" err="1" smtClean="0"/>
              <a:t>collapsed</a:t>
            </a:r>
            <a:r>
              <a:rPr lang="fr-FR" b="0" i="0" dirty="0" smtClean="0"/>
              <a:t> to a single #x20, and </a:t>
            </a:r>
            <a:r>
              <a:rPr lang="fr-FR" b="0" i="0" dirty="0" err="1" smtClean="0"/>
              <a:t>leading</a:t>
            </a:r>
            <a:r>
              <a:rPr lang="fr-FR" b="0" i="0" dirty="0" smtClean="0"/>
              <a:t> and </a:t>
            </a:r>
            <a:r>
              <a:rPr lang="fr-FR" b="0" i="0" dirty="0" err="1" smtClean="0"/>
              <a:t>trailing</a:t>
            </a:r>
            <a:r>
              <a:rPr lang="fr-FR" b="0" i="0" dirty="0" smtClean="0"/>
              <a:t> #x20's are </a:t>
            </a:r>
            <a:r>
              <a:rPr lang="fr-FR" b="0" i="0" dirty="0" err="1" smtClean="0"/>
              <a:t>removed</a:t>
            </a:r>
            <a:r>
              <a:rPr lang="fr-FR" b="0" i="0" dirty="0" smtClean="0"/>
              <a:t>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18</a:t>
            </a:fld>
            <a:endParaRPr lang="fr-F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la valeur max est 101 exclus</a:t>
            </a:r>
            <a:endParaRPr lang="fr-FR" b="0" i="0" dirty="0" smtClean="0"/>
          </a:p>
          <a:p>
            <a:r>
              <a:rPr lang="fr-FR" b="0" i="0" dirty="0" smtClean="0"/>
              <a:t>max exclusive : strictement</a:t>
            </a:r>
            <a:r>
              <a:rPr lang="fr-FR" b="0" i="0" baseline="0" dirty="0" smtClean="0"/>
              <a:t> inférieur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la valeur min est 100 inclus</a:t>
            </a:r>
            <a:endParaRPr lang="fr-FR" b="0" i="0" dirty="0" smtClean="0"/>
          </a:p>
          <a:p>
            <a:r>
              <a:rPr lang="fr-FR" b="0" i="0" dirty="0" smtClean="0"/>
              <a:t>min inclusive : </a:t>
            </a:r>
            <a:r>
              <a:rPr lang="fr-FR" b="0" i="0" baseline="0" dirty="0" smtClean="0"/>
              <a:t>supérieur ou égal</a:t>
            </a:r>
          </a:p>
          <a:p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20</a:t>
            </a:fld>
            <a:endParaRPr lang="fr-F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The </a:t>
            </a:r>
            <a:r>
              <a:rPr lang="fr-FR" b="0" i="0" baseline="0" dirty="0" err="1" smtClean="0"/>
              <a:t>following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is</a:t>
            </a:r>
            <a:r>
              <a:rPr lang="fr-FR" b="0" i="0" baseline="0" dirty="0" smtClean="0"/>
              <a:t> the </a:t>
            </a:r>
            <a:r>
              <a:rPr lang="fr-FR" b="0" i="0" baseline="0" dirty="0" err="1" smtClean="0"/>
              <a:t>definition</a:t>
            </a:r>
            <a:r>
              <a:rPr lang="fr-FR" b="0" i="0" baseline="0" dirty="0" smtClean="0"/>
              <a:t> of a ·</a:t>
            </a:r>
            <a:r>
              <a:rPr lang="fr-FR" b="0" i="0" baseline="0" dirty="0" err="1" smtClean="0"/>
              <a:t>user-derived</a:t>
            </a:r>
            <a:r>
              <a:rPr lang="fr-FR" b="0" i="0" baseline="0" dirty="0" smtClean="0"/>
              <a:t>· </a:t>
            </a:r>
            <a:r>
              <a:rPr lang="fr-FR" b="0" i="0" baseline="0" dirty="0" err="1" smtClean="0"/>
              <a:t>datatype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which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could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be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used</a:t>
            </a:r>
            <a:r>
              <a:rPr lang="fr-FR" b="0" i="0" baseline="0" dirty="0" smtClean="0"/>
              <a:t> to </a:t>
            </a:r>
            <a:r>
              <a:rPr lang="fr-FR" b="0" i="0" baseline="0" dirty="0" err="1" smtClean="0"/>
              <a:t>represent</a:t>
            </a:r>
            <a:r>
              <a:rPr lang="fr-FR" b="0" i="0" baseline="0" dirty="0" smtClean="0"/>
              <a:t> the magnitude of a </a:t>
            </a:r>
            <a:r>
              <a:rPr lang="fr-FR" b="0" i="0" baseline="0" dirty="0" err="1" smtClean="0"/>
              <a:t>person's</a:t>
            </a:r>
            <a:r>
              <a:rPr lang="fr-FR" b="0" i="0" baseline="0" dirty="0" smtClean="0"/>
              <a:t> body </a:t>
            </a:r>
            <a:r>
              <a:rPr lang="fr-FR" b="0" i="0" baseline="0" dirty="0" err="1" smtClean="0"/>
              <a:t>temperature</a:t>
            </a:r>
            <a:r>
              <a:rPr lang="fr-FR" b="0" i="0" baseline="0" dirty="0" smtClean="0"/>
              <a:t> on the Celsius </a:t>
            </a:r>
            <a:r>
              <a:rPr lang="fr-FR" b="0" i="0" baseline="0" dirty="0" err="1" smtClean="0"/>
              <a:t>scale</a:t>
            </a:r>
            <a:r>
              <a:rPr lang="fr-FR" b="0" i="0" baseline="0" dirty="0" smtClean="0"/>
              <a:t>. This </a:t>
            </a:r>
            <a:r>
              <a:rPr lang="fr-FR" b="0" i="0" baseline="0" dirty="0" err="1" smtClean="0"/>
              <a:t>definition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would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appear</a:t>
            </a:r>
            <a:r>
              <a:rPr lang="fr-FR" b="0" i="0" baseline="0" dirty="0" smtClean="0"/>
              <a:t> in a </a:t>
            </a:r>
            <a:r>
              <a:rPr lang="fr-FR" b="0" i="0" baseline="0" dirty="0" err="1" smtClean="0"/>
              <a:t>schema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authored</a:t>
            </a:r>
            <a:r>
              <a:rPr lang="fr-FR" b="0" i="0" baseline="0" dirty="0" smtClean="0"/>
              <a:t> by an "</a:t>
            </a:r>
            <a:r>
              <a:rPr lang="fr-FR" b="0" i="0" baseline="0" dirty="0" err="1" smtClean="0"/>
              <a:t>end-user</a:t>
            </a:r>
            <a:r>
              <a:rPr lang="fr-FR" b="0" i="0" baseline="0" dirty="0" smtClean="0"/>
              <a:t>" and shows how to </a:t>
            </a:r>
            <a:r>
              <a:rPr lang="fr-FR" b="0" i="0" baseline="0" dirty="0" err="1" smtClean="0"/>
              <a:t>define</a:t>
            </a:r>
            <a:r>
              <a:rPr lang="fr-FR" b="0" i="0" baseline="0" dirty="0" smtClean="0"/>
              <a:t> a </a:t>
            </a:r>
            <a:r>
              <a:rPr lang="fr-FR" b="0" i="0" baseline="0" dirty="0" err="1" smtClean="0"/>
              <a:t>datatype</a:t>
            </a:r>
            <a:r>
              <a:rPr lang="fr-FR" b="0" i="0" baseline="0" dirty="0" smtClean="0"/>
              <a:t> by </a:t>
            </a:r>
            <a:r>
              <a:rPr lang="fr-FR" b="0" i="0" baseline="0" dirty="0" err="1" smtClean="0"/>
              <a:t>specifying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facet</a:t>
            </a:r>
            <a:r>
              <a:rPr lang="fr-FR" b="0" i="0" baseline="0" dirty="0" smtClean="0"/>
              <a:t> values </a:t>
            </a:r>
            <a:r>
              <a:rPr lang="fr-FR" b="0" i="0" baseline="0" dirty="0" err="1" smtClean="0"/>
              <a:t>which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constrain</a:t>
            </a:r>
            <a:r>
              <a:rPr lang="fr-FR" b="0" i="0" baseline="0" dirty="0" smtClean="0"/>
              <a:t> the range of the ·base type·.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total digit : nombre de digit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fraction digit : nombre de digit après la virgule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21</a:t>
            </a:fld>
            <a:endParaRPr lang="fr-F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 system might want to store lists of floating point values. Par exemple</a:t>
            </a:r>
            <a:r>
              <a:rPr lang="fr-FR" sz="1200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:</a:t>
            </a:r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12.4 45.7 67.8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 smtClean="0"/>
              <a:t>Appelé comme restriction</a:t>
            </a:r>
            <a:r>
              <a:rPr lang="fr-FR" b="0" i="0" baseline="0" dirty="0" smtClean="0"/>
              <a:t> pour être mis dans le contenu d'un elt ou d'un attr.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22</a:t>
            </a:fld>
            <a:endParaRPr lang="fr-F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This an </a:t>
            </a:r>
            <a:r>
              <a:rPr lang="fr-FR" dirty="0" err="1" smtClean="0"/>
              <a:t>example</a:t>
            </a:r>
            <a:r>
              <a:rPr lang="fr-FR" dirty="0" smtClean="0"/>
              <a:t>, </a:t>
            </a:r>
            <a:r>
              <a:rPr lang="fr-FR" dirty="0" err="1" smtClean="0"/>
              <a:t>taken</a:t>
            </a:r>
            <a:r>
              <a:rPr lang="fr-FR" dirty="0" smtClean="0"/>
              <a:t> </a:t>
            </a:r>
            <a:r>
              <a:rPr lang="fr-FR" dirty="0" err="1" smtClean="0"/>
              <a:t>from</a:t>
            </a:r>
            <a:r>
              <a:rPr lang="fr-FR" dirty="0" smtClean="0"/>
              <a:t> a </a:t>
            </a:r>
            <a:r>
              <a:rPr lang="fr-FR" dirty="0" err="1" smtClean="0"/>
              <a:t>typical</a:t>
            </a:r>
            <a:r>
              <a:rPr lang="fr-FR" dirty="0" smtClean="0"/>
              <a:t> display </a:t>
            </a:r>
            <a:r>
              <a:rPr lang="fr-FR" dirty="0" err="1" smtClean="0"/>
              <a:t>oriented</a:t>
            </a:r>
            <a:r>
              <a:rPr lang="fr-FR" dirty="0" smtClean="0"/>
              <a:t> </a:t>
            </a:r>
            <a:r>
              <a:rPr lang="fr-FR" dirty="0" err="1" smtClean="0"/>
              <a:t>text</a:t>
            </a:r>
            <a:r>
              <a:rPr lang="fr-FR" dirty="0" smtClean="0"/>
              <a:t> </a:t>
            </a:r>
            <a:r>
              <a:rPr lang="fr-FR" dirty="0" err="1" smtClean="0"/>
              <a:t>markup</a:t>
            </a:r>
            <a:r>
              <a:rPr lang="fr-FR" dirty="0" smtClean="0"/>
              <a:t> </a:t>
            </a:r>
            <a:r>
              <a:rPr lang="fr-FR" dirty="0" err="1" smtClean="0"/>
              <a:t>language</a:t>
            </a:r>
            <a:r>
              <a:rPr lang="fr-FR" dirty="0" smtClean="0"/>
              <a:t>, one </a:t>
            </a:r>
            <a:r>
              <a:rPr lang="fr-FR" dirty="0" err="1" smtClean="0"/>
              <a:t>might</a:t>
            </a:r>
            <a:r>
              <a:rPr lang="fr-FR" dirty="0" smtClean="0"/>
              <a:t> </a:t>
            </a:r>
            <a:r>
              <a:rPr lang="fr-FR" dirty="0" err="1" smtClean="0"/>
              <a:t>want</a:t>
            </a:r>
            <a:r>
              <a:rPr lang="fr-FR" dirty="0" smtClean="0"/>
              <a:t> to express font </a:t>
            </a:r>
            <a:r>
              <a:rPr lang="fr-FR" dirty="0" err="1" smtClean="0"/>
              <a:t>sizes</a:t>
            </a:r>
            <a:r>
              <a:rPr lang="fr-FR" dirty="0" smtClean="0"/>
              <a:t> as an </a:t>
            </a:r>
            <a:r>
              <a:rPr lang="fr-FR" dirty="0" err="1" smtClean="0"/>
              <a:t>integer</a:t>
            </a:r>
            <a:r>
              <a:rPr lang="fr-FR" dirty="0" smtClean="0"/>
              <a:t> </a:t>
            </a:r>
            <a:r>
              <a:rPr lang="fr-FR" dirty="0" err="1" smtClean="0"/>
              <a:t>between</a:t>
            </a:r>
            <a:r>
              <a:rPr lang="fr-FR" dirty="0" smtClean="0"/>
              <a:t> 8 and 72, or </a:t>
            </a:r>
            <a:r>
              <a:rPr lang="fr-FR" dirty="0" err="1" smtClean="0"/>
              <a:t>with</a:t>
            </a:r>
            <a:r>
              <a:rPr lang="fr-FR" dirty="0" smtClean="0"/>
              <a:t> one of the </a:t>
            </a:r>
            <a:r>
              <a:rPr lang="fr-FR" dirty="0" err="1" smtClean="0"/>
              <a:t>tokens</a:t>
            </a:r>
            <a:r>
              <a:rPr lang="fr-FR" dirty="0" smtClean="0"/>
              <a:t> "</a:t>
            </a:r>
            <a:r>
              <a:rPr lang="fr-FR" dirty="0" err="1" smtClean="0"/>
              <a:t>small</a:t>
            </a:r>
            <a:r>
              <a:rPr lang="fr-FR" dirty="0" smtClean="0"/>
              <a:t>", "medium" or "large". The ·union· type </a:t>
            </a:r>
            <a:r>
              <a:rPr lang="fr-FR" dirty="0" err="1" smtClean="0"/>
              <a:t>definition</a:t>
            </a:r>
            <a:r>
              <a:rPr lang="fr-FR" dirty="0" smtClean="0"/>
              <a:t> </a:t>
            </a:r>
            <a:r>
              <a:rPr lang="fr-FR" dirty="0" err="1" smtClean="0"/>
              <a:t>below</a:t>
            </a:r>
            <a:r>
              <a:rPr lang="fr-FR" dirty="0" smtClean="0"/>
              <a:t> </a:t>
            </a:r>
            <a:r>
              <a:rPr lang="fr-FR" dirty="0" err="1" smtClean="0"/>
              <a:t>would</a:t>
            </a:r>
            <a:r>
              <a:rPr lang="fr-FR" dirty="0" smtClean="0"/>
              <a:t> </a:t>
            </a:r>
            <a:r>
              <a:rPr lang="fr-FR" dirty="0" err="1" smtClean="0"/>
              <a:t>accomplish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23</a:t>
            </a:fld>
            <a:endParaRPr lang="fr-F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Au moins un attribut car sinon, on est en simple Type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b="0" i="0" baseline="0" dirty="0" smtClean="0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Elt vide sans attr en type complex/ complex content (tout à fait logique quoi ;-)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24</a:t>
            </a:fld>
            <a:endParaRPr lang="fr-F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1- type définit dans l'élément</a:t>
            </a:r>
          </a:p>
          <a:p>
            <a:r>
              <a:rPr lang="fr-FR" dirty="0" smtClean="0"/>
              <a:t>2- Type définit à l'extérieur de l'élément : plus propre</a:t>
            </a:r>
            <a:r>
              <a:rPr lang="fr-FR" baseline="0" dirty="0" smtClean="0"/>
              <a:t> et nécessaire si type utilisé plusieurs fois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25</a:t>
            </a:fld>
            <a:endParaRPr lang="fr-F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Au moins un attribut car sinon, on est en simple Type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26</a:t>
            </a:fld>
            <a:endParaRPr lang="fr-F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Si pas d'attribut, on est en </a:t>
            </a:r>
            <a:r>
              <a:rPr lang="fr-FR" b="0" i="0" u="sng" baseline="0" dirty="0" smtClean="0"/>
              <a:t>simple Type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0" i="0" kern="1200" baseline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 plusieurs attributs, on ajoute des </a:t>
            </a:r>
            <a:r>
              <a:rPr lang="fr-FR" sz="1200" b="0" i="0" kern="1200" baseline="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xs:attribute</a:t>
            </a:r>
            <a:endParaRPr lang="fr-FR" sz="1200" b="0" i="0" kern="1200" baseline="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27</a:t>
            </a:fld>
            <a:endParaRPr lang="fr-F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 smtClean="0"/>
              <a:t>J'avais deux choix.</a:t>
            </a:r>
            <a:r>
              <a:rPr lang="fr-FR" b="0" i="0" baseline="0" dirty="0" smtClean="0"/>
              <a:t> Donner la syntaxe sous forme de grammaire des </a:t>
            </a:r>
            <a:r>
              <a:rPr lang="fr-FR" b="0" i="0" baseline="0" dirty="0" err="1" smtClean="0"/>
              <a:t>complex</a:t>
            </a:r>
            <a:r>
              <a:rPr lang="fr-FR" b="0" i="0" baseline="0" dirty="0" smtClean="0"/>
              <a:t> type ou présenter par l'exemple. choix 2. </a:t>
            </a:r>
            <a:r>
              <a:rPr lang="fr-FR" b="0" i="0" baseline="0" dirty="0" err="1" smtClean="0">
                <a:sym typeface="Wingdings"/>
              </a:rPr>
              <a:t>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28</a:t>
            </a:fld>
            <a:endParaRPr lang="fr-F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 smtClean="0"/>
              <a:t>Vide avec des attributs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29</a:t>
            </a:fld>
            <a:endParaRPr lang="fr-F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 smtClean="0"/>
              <a:t>Dans</a:t>
            </a:r>
            <a:r>
              <a:rPr lang="fr-FR" b="0" i="0" baseline="0" dirty="0" smtClean="0"/>
              <a:t> un complex type, on petu omettre le complex suivi de restriction bas=anyType (défaut)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30</a:t>
            </a:fld>
            <a:endParaRPr lang="fr-F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 smtClean="0"/>
              <a:t>NB elt vide</a:t>
            </a:r>
            <a:r>
              <a:rPr lang="fr-FR" b="0" i="0" baseline="0" dirty="0" smtClean="0"/>
              <a:t> sans attributs :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&lt;complexType name="processingHook"&gt;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&lt;complexContent&gt;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&lt;restriction base="anyType"&gt;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&lt;/restriction&gt;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&lt;/complexContent&gt;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&lt;/complexType&gt;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31</a:t>
            </a:fld>
            <a:endParaRPr lang="fr-F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dirty="0" smtClean="0"/>
              <a:t>J'avais deux choix.</a:t>
            </a:r>
            <a:r>
              <a:rPr lang="fr-FR" b="0" i="0" baseline="0" dirty="0" smtClean="0"/>
              <a:t> Donner la syntaxe sous forme de grammaire des </a:t>
            </a:r>
            <a:r>
              <a:rPr lang="fr-FR" b="0" i="0" baseline="0" dirty="0" err="1" smtClean="0"/>
              <a:t>complex</a:t>
            </a:r>
            <a:r>
              <a:rPr lang="fr-FR" b="0" i="0" baseline="0" dirty="0" smtClean="0"/>
              <a:t> type ou présenter par l'exemple. choix 2. </a:t>
            </a:r>
            <a:r>
              <a:rPr lang="fr-FR" b="0" i="0" baseline="0" dirty="0" err="1" smtClean="0">
                <a:sym typeface="Wingdings"/>
              </a:rPr>
              <a:t>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32</a:t>
            </a:fld>
            <a:endParaRPr lang="fr-F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b="0" i="0" baseline="0" dirty="0" smtClean="0"/>
              <a:t>The </a:t>
            </a:r>
            <a:r>
              <a:rPr lang="fr-FR" b="0" i="0" baseline="0" dirty="0" err="1" smtClean="0"/>
              <a:t>following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is</a:t>
            </a:r>
            <a:r>
              <a:rPr lang="fr-FR" b="0" i="0" baseline="0" dirty="0" smtClean="0"/>
              <a:t> the </a:t>
            </a:r>
            <a:r>
              <a:rPr lang="fr-FR" b="0" i="0" baseline="0" dirty="0" err="1" smtClean="0"/>
              <a:t>definition</a:t>
            </a:r>
            <a:r>
              <a:rPr lang="fr-FR" b="0" i="0" baseline="0" dirty="0" smtClean="0"/>
              <a:t> of a ·</a:t>
            </a:r>
            <a:r>
              <a:rPr lang="fr-FR" b="0" i="0" baseline="0" dirty="0" err="1" smtClean="0"/>
              <a:t>user-derived</a:t>
            </a:r>
            <a:r>
              <a:rPr lang="fr-FR" b="0" i="0" baseline="0" dirty="0" smtClean="0"/>
              <a:t>· </a:t>
            </a:r>
            <a:r>
              <a:rPr lang="fr-FR" b="0" i="0" baseline="0" dirty="0" err="1" smtClean="0"/>
              <a:t>datatype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which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could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be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used</a:t>
            </a:r>
            <a:r>
              <a:rPr lang="fr-FR" b="0" i="0" baseline="0" dirty="0" smtClean="0"/>
              <a:t> to </a:t>
            </a:r>
            <a:r>
              <a:rPr lang="fr-FR" b="0" i="0" baseline="0" dirty="0" err="1" smtClean="0"/>
              <a:t>represent</a:t>
            </a:r>
            <a:r>
              <a:rPr lang="fr-FR" b="0" i="0" baseline="0" dirty="0" smtClean="0"/>
              <a:t> the magnitude of a </a:t>
            </a:r>
            <a:r>
              <a:rPr lang="fr-FR" b="0" i="0" baseline="0" dirty="0" err="1" smtClean="0"/>
              <a:t>person's</a:t>
            </a:r>
            <a:r>
              <a:rPr lang="fr-FR" b="0" i="0" baseline="0" dirty="0" smtClean="0"/>
              <a:t> body </a:t>
            </a:r>
            <a:r>
              <a:rPr lang="fr-FR" b="0" i="0" baseline="0" dirty="0" err="1" smtClean="0"/>
              <a:t>temperature</a:t>
            </a:r>
            <a:r>
              <a:rPr lang="fr-FR" b="0" i="0" baseline="0" dirty="0" smtClean="0"/>
              <a:t> on the Celsius </a:t>
            </a:r>
            <a:r>
              <a:rPr lang="fr-FR" b="0" i="0" baseline="0" dirty="0" err="1" smtClean="0"/>
              <a:t>scale</a:t>
            </a:r>
            <a:r>
              <a:rPr lang="fr-FR" b="0" i="0" baseline="0" dirty="0" smtClean="0"/>
              <a:t>. This </a:t>
            </a:r>
            <a:r>
              <a:rPr lang="fr-FR" b="0" i="0" baseline="0" dirty="0" err="1" smtClean="0"/>
              <a:t>definition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would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appear</a:t>
            </a:r>
            <a:r>
              <a:rPr lang="fr-FR" b="0" i="0" baseline="0" dirty="0" smtClean="0"/>
              <a:t> in a </a:t>
            </a:r>
            <a:r>
              <a:rPr lang="fr-FR" b="0" i="0" baseline="0" dirty="0" err="1" smtClean="0"/>
              <a:t>schema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authored</a:t>
            </a:r>
            <a:r>
              <a:rPr lang="fr-FR" b="0" i="0" baseline="0" dirty="0" smtClean="0"/>
              <a:t> by an "</a:t>
            </a:r>
            <a:r>
              <a:rPr lang="fr-FR" b="0" i="0" baseline="0" dirty="0" err="1" smtClean="0"/>
              <a:t>end-user</a:t>
            </a:r>
            <a:r>
              <a:rPr lang="fr-FR" b="0" i="0" baseline="0" dirty="0" smtClean="0"/>
              <a:t>" and shows how to </a:t>
            </a:r>
            <a:r>
              <a:rPr lang="fr-FR" b="0" i="0" baseline="0" dirty="0" err="1" smtClean="0"/>
              <a:t>define</a:t>
            </a:r>
            <a:r>
              <a:rPr lang="fr-FR" b="0" i="0" baseline="0" dirty="0" smtClean="0"/>
              <a:t> a </a:t>
            </a:r>
            <a:r>
              <a:rPr lang="fr-FR" b="0" i="0" baseline="0" dirty="0" err="1" smtClean="0"/>
              <a:t>datatype</a:t>
            </a:r>
            <a:r>
              <a:rPr lang="fr-FR" b="0" i="0" baseline="0" dirty="0" smtClean="0"/>
              <a:t> by </a:t>
            </a:r>
            <a:r>
              <a:rPr lang="fr-FR" b="0" i="0" baseline="0" dirty="0" err="1" smtClean="0"/>
              <a:t>specifying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facet</a:t>
            </a:r>
            <a:r>
              <a:rPr lang="fr-FR" b="0" i="0" baseline="0" dirty="0" smtClean="0"/>
              <a:t> values </a:t>
            </a:r>
            <a:r>
              <a:rPr lang="fr-FR" b="0" i="0" baseline="0" dirty="0" err="1" smtClean="0"/>
              <a:t>which</a:t>
            </a:r>
            <a:r>
              <a:rPr lang="fr-FR" b="0" i="0" baseline="0" dirty="0" smtClean="0"/>
              <a:t> </a:t>
            </a:r>
            <a:r>
              <a:rPr lang="fr-FR" b="0" i="0" baseline="0" dirty="0" err="1" smtClean="0"/>
              <a:t>constrain</a:t>
            </a:r>
            <a:r>
              <a:rPr lang="fr-FR" b="0" i="0" baseline="0" dirty="0" smtClean="0"/>
              <a:t> the range of the ·base type·.</a:t>
            </a:r>
            <a:endParaRPr lang="fr-FR" b="0" i="0" dirty="0" smtClean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33</a:t>
            </a:fld>
            <a:endParaRPr lang="fr-F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3D2ABF-23F0-0143-9740-0C45B2FB4653}" type="slidenum">
              <a:rPr lang="fr-FR"/>
              <a:pPr/>
              <a:t>34</a:t>
            </a:fld>
            <a:endParaRPr lang="fr-FR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3B81CB8-AE95-604E-856F-1CB8E007893A}" type="slidenum">
              <a:rPr lang="fr-FR"/>
              <a:pPr/>
              <a:t>35</a:t>
            </a:fld>
            <a:endParaRPr lang="fr-FR"/>
          </a:p>
        </p:txBody>
      </p:sp>
      <p:sp>
        <p:nvSpPr>
          <p:cNvPr id="2437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243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 err="1" smtClean="0"/>
              <a:t>example</a:t>
            </a:r>
            <a:r>
              <a:rPr lang="fr-FR" dirty="0" smtClean="0"/>
              <a:t> : 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XML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representations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for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kinds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of model group, the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third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nested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fr-FR" sz="12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inside</a:t>
            </a:r>
            <a:r>
              <a:rPr lang="fr-FR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the second.</a:t>
            </a:r>
            <a:endParaRPr lang="fr-FR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3D2ABF-23F0-0143-9740-0C45B2FB4653}" type="slidenum">
              <a:rPr lang="fr-FR"/>
              <a:pPr/>
              <a:t>38</a:t>
            </a:fld>
            <a:endParaRPr lang="fr-FR"/>
          </a:p>
        </p:txBody>
      </p:sp>
      <p:sp>
        <p:nvSpPr>
          <p:cNvPr id="2426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2426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/>
              <a:t>Toujours</a:t>
            </a:r>
            <a:r>
              <a:rPr lang="fr-FR" baseline="0"/>
              <a:t> pas résolu -&gt; impossible sinon algo NP-complet i.e. pas efficace</a:t>
            </a:r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39</a:t>
            </a:fld>
            <a:endParaRPr lang="fr-F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dirty="0"/>
              <a:t>Type statique</a:t>
            </a:r>
            <a:r>
              <a:rPr lang="fr-FR" baseline="0" dirty="0"/>
              <a:t> : on infère des informations de type en fonction des operatiosn effectuées aux cours du programme et on vérifie dans la suite du programme que celui-ci peut bien s'effectuer étant données les informations de type qu'on a déduites.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41</a:t>
            </a:fld>
            <a:endParaRPr lang="fr-F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2857500" y="514350"/>
            <a:ext cx="3429000" cy="257175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42</a:t>
            </a:fld>
            <a:endParaRPr lang="fr-F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43</a:t>
            </a:fld>
            <a:endParaRPr lang="fr-F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44</a:t>
            </a:fld>
            <a:endParaRPr lang="fr-F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45</a:t>
            </a:fld>
            <a:endParaRPr lang="fr-F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D8D577-EB45-6542-A1B5-72B5424B07B7}" type="slidenum">
              <a:rPr lang="fr-FR" smtClean="0"/>
              <a:pPr/>
              <a:t>46</a:t>
            </a:fld>
            <a:endParaRPr lang="fr-FR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PASSING : passe</a:t>
            </a:r>
            <a:r>
              <a:rPr lang="fr-FR" baseline="0"/>
              <a:t> une variable dynamique. Le code après n'est m</a:t>
            </a:r>
            <a:r>
              <a:rPr lang="fr-FR" baseline="0"/>
              <a:t>ême pas bon de toute façon (voir url ci-dessous pour voir le code exact).</a:t>
            </a:r>
            <a:endParaRPr lang="fr-FR"/>
          </a:p>
          <a:p>
            <a:endParaRPr lang="fr-FR"/>
          </a:p>
          <a:p>
            <a:r>
              <a:rPr lang="fr-FR"/>
              <a:t>http://database.in2p3.fr/doc/oracle/Oracle_Database_11_Release_1_(11.2)_Documentation/appdev.112/e10492/xdb_xquery.htm</a:t>
            </a:r>
          </a:p>
          <a:p>
            <a:endParaRPr lang="fr-FR"/>
          </a:p>
          <a:p>
            <a:r>
              <a:rPr lang="fr-FR"/>
              <a:t>In Example 5-22, XQuery static type-checking finds a mismatch between an XPath expression and its target XML schema-based data. Element CostCenter is misspelled here as costcenter (XQuery and XPath are case-sensitive). Example 5-11 shows the correct code.</a:t>
            </a:r>
          </a:p>
          <a:p>
            <a:endParaRPr lang="fr-FR"/>
          </a:p>
          <a:p>
            <a:r>
              <a:rPr lang="fr-FR"/>
              <a:t>Example 5-22 Static Type-Checking of XQuery Expressions: Schema-Based XML</a:t>
            </a:r>
          </a:p>
          <a:p>
            <a:endParaRPr lang="fr-FR"/>
          </a:p>
          <a:p>
            <a:r>
              <a:rPr lang="fr-FR"/>
              <a:t>-- This results in a static-type-check error: CostCenter is not the right case.</a:t>
            </a:r>
          </a:p>
          <a:p>
            <a:r>
              <a:rPr lang="fr-FR"/>
              <a:t>SELECT xtab.poref, xtab.usr, xtab.requestor</a:t>
            </a:r>
          </a:p>
          <a:p>
            <a:r>
              <a:rPr lang="fr-FR"/>
              <a:t>  FROM purchaseorder,</a:t>
            </a:r>
          </a:p>
          <a:p>
            <a:r>
              <a:rPr lang="fr-FR"/>
              <a:t>       XMLTable('for $i in /PurchaseOrder where $i/costcenter eq "A10" return $i'</a:t>
            </a:r>
          </a:p>
          <a:p>
            <a:r>
              <a:rPr lang="fr-FR"/>
              <a:t>                PASSING OBJECT_VALUE</a:t>
            </a:r>
          </a:p>
          <a:p>
            <a:r>
              <a:rPr lang="fr-FR"/>
              <a:t>                COLUMNS poref     VARCHAR2(20) PATH 'Reference',</a:t>
            </a:r>
          </a:p>
          <a:p>
            <a:r>
              <a:rPr lang="fr-FR"/>
              <a:t>                        usr       VARCHAR2(20) PATH 'User' DEFAULT 'Unknown',</a:t>
            </a:r>
          </a:p>
          <a:p>
            <a:r>
              <a:rPr lang="fr-FR"/>
              <a:t>                        requestor VARCHAR2(20) PATH 'Requestor') xtab;</a:t>
            </a:r>
          </a:p>
          <a:p>
            <a:r>
              <a:rPr lang="fr-FR"/>
              <a:t>  FROM purchaseorder,</a:t>
            </a:r>
          </a:p>
          <a:p>
            <a:r>
              <a:rPr lang="fr-FR"/>
              <a:t>       *</a:t>
            </a:r>
          </a:p>
          <a:p>
            <a:r>
              <a:rPr lang="fr-FR"/>
              <a:t>ERROR at line 2:</a:t>
            </a:r>
          </a:p>
          <a:p>
            <a:r>
              <a:rPr lang="fr-FR"/>
              <a:t>ORA-19276: XPST0005 - XPath step specifies an invalid element/attribute name:</a:t>
            </a:r>
          </a:p>
          <a:p>
            <a:r>
              <a:rPr lang="fr-FR"/>
              <a:t>(costcenter)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Associer schéma xsd </a:t>
            </a:r>
          </a:p>
          <a:p>
            <a:r>
              <a:rPr lang="fr-FR"/>
              <a:t>BEGIN</a:t>
            </a:r>
          </a:p>
          <a:p>
            <a:r>
              <a:rPr lang="fr-FR"/>
              <a:t>  DBMS_XMLSCHEMA.registerSchema(</a:t>
            </a:r>
          </a:p>
          <a:p>
            <a:r>
              <a:rPr lang="fr-FR"/>
              <a:t>    SCHEMAURL =&gt; 'http://xmlns.oracle.com/xdb/documentation/purchaseOrder.xsd',</a:t>
            </a:r>
          </a:p>
          <a:p>
            <a:r>
              <a:rPr lang="fr-FR"/>
              <a:t>    SCHEMADOC =&gt; bfilename('XMLDIR','purchaseOrder.xsd'),</a:t>
            </a:r>
          </a:p>
          <a:p>
            <a:r>
              <a:rPr lang="fr-FR"/>
              <a:t>    CSID =&gt; nls_charset_id('AL32UTF8'));</a:t>
            </a:r>
          </a:p>
          <a:p>
            <a:r>
              <a:rPr lang="fr-FR"/>
              <a:t>END;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47</a:t>
            </a:fld>
            <a:endParaRPr lang="fr-FR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fr-FR"/>
              <a:t>PASSING : passe</a:t>
            </a:r>
            <a:r>
              <a:rPr lang="fr-FR" baseline="0"/>
              <a:t> une variable dynamique</a:t>
            </a:r>
            <a:endParaRPr lang="fr-FR"/>
          </a:p>
          <a:p>
            <a:endParaRPr lang="fr-FR"/>
          </a:p>
          <a:p>
            <a:r>
              <a:rPr lang="fr-FR"/>
              <a:t>http://database.in2p3.fr/doc/oracle/Oracle_Database_11_Release_1_(11.2)_Documentation/appdev.112/e10492/xdb_xquery.htm</a:t>
            </a:r>
          </a:p>
          <a:p>
            <a:endParaRPr lang="fr-FR"/>
          </a:p>
          <a:p>
            <a:r>
              <a:rPr lang="fr-FR"/>
              <a:t>In Example 5-22, XQuery static type-checking finds a mismatch between an XPath expression and its target XML schema-based data. Element CostCenter is misspelled here as costcenter (XQuery and XPath are case-sensitive). Example 5-11 shows the correct code.</a:t>
            </a:r>
          </a:p>
          <a:p>
            <a:endParaRPr lang="fr-FR"/>
          </a:p>
          <a:p>
            <a:r>
              <a:rPr lang="fr-FR"/>
              <a:t>Example 5-22 Static Type-Checking of XQuery Expressions: Schema-Based XML</a:t>
            </a:r>
          </a:p>
          <a:p>
            <a:endParaRPr lang="fr-FR"/>
          </a:p>
          <a:p>
            <a:r>
              <a:rPr lang="fr-FR"/>
              <a:t>-- This results in a static-type-check error: CostCenter is not the right case.</a:t>
            </a:r>
          </a:p>
          <a:p>
            <a:r>
              <a:rPr lang="fr-FR"/>
              <a:t>SELECT xtab.poref, xtab.usr, xtab.requestor</a:t>
            </a:r>
          </a:p>
          <a:p>
            <a:r>
              <a:rPr lang="fr-FR"/>
              <a:t>  FROM purchaseorder,</a:t>
            </a:r>
          </a:p>
          <a:p>
            <a:r>
              <a:rPr lang="fr-FR"/>
              <a:t>       XMLTable('for $i in /PurchaseOrder where $i/costcenter eq "A10" return $i'</a:t>
            </a:r>
          </a:p>
          <a:p>
            <a:r>
              <a:rPr lang="fr-FR"/>
              <a:t>                PASSING OBJECT_VALUE</a:t>
            </a:r>
          </a:p>
          <a:p>
            <a:r>
              <a:rPr lang="fr-FR"/>
              <a:t>                COLUMNS poref     VARCHAR2(20) PATH 'Reference',</a:t>
            </a:r>
          </a:p>
          <a:p>
            <a:r>
              <a:rPr lang="fr-FR"/>
              <a:t>                        usr       VARCHAR2(20) PATH 'User' DEFAULT 'Unknown',</a:t>
            </a:r>
          </a:p>
          <a:p>
            <a:r>
              <a:rPr lang="fr-FR"/>
              <a:t>                        requestor VARCHAR2(20) PATH 'Requestor') xtab;</a:t>
            </a:r>
          </a:p>
          <a:p>
            <a:r>
              <a:rPr lang="fr-FR"/>
              <a:t>  FROM purchaseorder,</a:t>
            </a:r>
          </a:p>
          <a:p>
            <a:r>
              <a:rPr lang="fr-FR"/>
              <a:t>       *</a:t>
            </a:r>
          </a:p>
          <a:p>
            <a:r>
              <a:rPr lang="fr-FR"/>
              <a:t>ERROR at line 2:</a:t>
            </a:r>
          </a:p>
          <a:p>
            <a:r>
              <a:rPr lang="fr-FR"/>
              <a:t>ORA-19276: XPST0005 - XPath step specifies an invalid element/attribute name:</a:t>
            </a:r>
          </a:p>
          <a:p>
            <a:r>
              <a:rPr lang="fr-FR"/>
              <a:t>(costcenter)</a:t>
            </a:r>
          </a:p>
          <a:p>
            <a:endParaRPr lang="fr-FR"/>
          </a:p>
          <a:p>
            <a:endParaRPr lang="fr-FR"/>
          </a:p>
          <a:p>
            <a:r>
              <a:rPr lang="fr-FR"/>
              <a:t>Associer schéma xsd </a:t>
            </a:r>
          </a:p>
          <a:p>
            <a:r>
              <a:rPr lang="fr-FR"/>
              <a:t>BEGIN</a:t>
            </a:r>
          </a:p>
          <a:p>
            <a:r>
              <a:rPr lang="fr-FR"/>
              <a:t>  DBMS_XMLSCHEMA.registerSchema(</a:t>
            </a:r>
          </a:p>
          <a:p>
            <a:r>
              <a:rPr lang="fr-FR"/>
              <a:t>    SCHEMAURL =&gt; 'http://xmlns.oracle.com/xdb/documentation/purchaseOrder.xsd',</a:t>
            </a:r>
          </a:p>
          <a:p>
            <a:r>
              <a:rPr lang="fr-FR"/>
              <a:t>    SCHEMADOC =&gt; bfilename('XMLDIR','purchaseOrder.xsd'),</a:t>
            </a:r>
          </a:p>
          <a:p>
            <a:r>
              <a:rPr lang="fr-FR"/>
              <a:t>    CSID =&gt; nls_charset_id('AL32UTF8'));</a:t>
            </a:r>
          </a:p>
          <a:p>
            <a:r>
              <a:rPr lang="fr-FR"/>
              <a:t>END;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48</a:t>
            </a:fld>
            <a:endParaRPr lang="fr-FR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XQuery function ora:view lets you query existing database tables or views inside an XQuery expression, as if they were XML documents. In effect, ora:view creates XML views over the relational data, on the fly. You can thus use ora:view to avoid explicitly creating XML views on top of relational data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input parameters are as follows:</a:t>
            </a:r>
            <a:r>
              <a:rPr lang="fr-FR" sz="12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db-schema – An optional string literal that names a database schema.db-table – A string literal naming a database table or view. If db-schema is present, then db-table is in database schema db-schema.Function ora:view returns an unordered sequence of document nodes, one for each row of db-table. The SQL/XML standard is used to map each input row to the output XML document: relational column names become XML element names. Unless db-table is of type XMLType, the column elements derived from a given table row are wrapped together in a ROW element. </a:t>
            </a:r>
          </a:p>
          <a:p>
            <a:endParaRPr lang="fr-FR" sz="1200" kern="120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fr-FR"/>
              <a:t>ORA:VIEW : créé</a:t>
            </a:r>
            <a:r>
              <a:rPr lang="fr-FR" baseline="0"/>
              <a:t> une vue XML d'une table relationnelle à la volée</a:t>
            </a:r>
          </a:p>
          <a:p>
            <a:r>
              <a:rPr lang="fr-FR" baseline="0"/>
              <a:t>REGIONS(REGION_ID) contenant les id 1, 2, 3 et 4</a:t>
            </a:r>
          </a:p>
          <a:p>
            <a:r>
              <a:rPr lang="fr-FR" baseline="0"/>
              <a:t>devient</a:t>
            </a:r>
          </a:p>
          <a:p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&lt;ROW&gt;  &lt;REGION_ID&gt;1&lt;/REGION_ID&gt; &lt;</a:t>
            </a:r>
            <a:r>
              <a:rPr lang="fr-FR" sz="1200"/>
              <a:t>REGION_NAME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&gt;blabla &lt;/</a:t>
            </a:r>
            <a:r>
              <a:rPr lang="fr-FR" sz="1200"/>
              <a:t>REGION_NAME&gt;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&lt;/ROW&gt;</a:t>
            </a:r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&lt;ROW&gt;  &lt;REGION_ID&gt;2&lt;/REGION_ID&gt; &lt;</a:t>
            </a:r>
            <a:r>
              <a:rPr lang="fr-FR" sz="1200"/>
              <a:t>REGION_NAME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&gt;blabla &lt;/</a:t>
            </a:r>
            <a:r>
              <a:rPr lang="fr-FR" sz="1200"/>
              <a:t>REGION_NAME&gt;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&lt;/ROW&gt;</a:t>
            </a:r>
            <a:endParaRPr lang="fr-FR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&lt;ROW&gt;  &lt;REGION_ID&gt;3&lt;/REGION_ID&gt; &lt;</a:t>
            </a:r>
            <a:r>
              <a:rPr lang="fr-FR" sz="1200"/>
              <a:t>REGION_NAME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&gt;blabla &lt;/</a:t>
            </a:r>
            <a:r>
              <a:rPr lang="fr-FR" sz="1200"/>
              <a:t>REGION_NAME&gt;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&lt;/ROW&gt;</a:t>
            </a:r>
            <a:endParaRPr lang="fr-FR"/>
          </a:p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&lt;ROW&gt;  &lt;REGION_ID&gt;4&lt;/REGION_ID&gt; &lt;</a:t>
            </a:r>
            <a:r>
              <a:rPr lang="fr-FR" sz="1200"/>
              <a:t>REGION_NAME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&gt;blabla &lt;/</a:t>
            </a:r>
            <a:r>
              <a:rPr lang="fr-FR" sz="1200"/>
              <a:t>REGION_NAME&gt;</a:t>
            </a:r>
            <a:r>
              <a:rPr lang="fr-FR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&lt;/ROW&gt;</a:t>
            </a:r>
            <a:endParaRPr lang="fr-FR"/>
          </a:p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CF91B0-C684-C644-91BA-5B2F5E7F3CEB}" type="slidenum">
              <a:rPr lang="fr-FR" smtClean="0"/>
              <a:pPr/>
              <a:t>49</a:t>
            </a:fld>
            <a:endParaRPr lang="fr-F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3179C8A-D16C-3A4E-8E94-8790CDBE666C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746A0E7-B41D-F049-BA7F-9D90B260313D}" type="datetime1">
              <a:rPr lang="fr-FR"/>
              <a:pPr/>
              <a:t>22/11/11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NFE 204 - Virginie Thion, CNAM</a:t>
            </a: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51B0EAA-FBE1-2540-965D-F40776419BCB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14454502-8FCB-E545-9E3E-F2858B69BB5A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FD2EA6F-42D9-084C-A1BD-8D3E66DBD65C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NFE 204 - Virginie Thion, CNAM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et modifiez le titre</a:t>
            </a:r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FE0CDAA1-94D1-8C4E-A2E0-BEA4CF7737C9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NFE 204 - Virginie Thion, CNAM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2D5B5CFC-0C58-4141-B344-97950A6AB2F6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2316EC8-0067-5146-9347-F818E99546EF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0" lang="fr-FR" dirty="0" smtClean="0"/>
              <a:t>Cliquez et modifiez le titre</a:t>
            </a:r>
            <a:endParaRPr kumimoji="0"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DE0563A9-F900-E841-93C6-8172A5CE0EDA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NFE 204 - Virginie Thion, CNAM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1"/>
            <a:ext cx="457200" cy="441325"/>
          </a:xfrm>
          <a:prstGeom prst="rect">
            <a:avLst/>
          </a:prstGeom>
        </p:spPr>
        <p:txBody>
          <a:bodyPr/>
          <a:lstStyle/>
          <a:p>
            <a:fld id="{921AEE28-E0FC-2B48-9C78-E329D5B8D768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kumimoji="0" lang="fr-FR" dirty="0" smtClean="0"/>
              <a:t>Cliquez et modifiez le titre</a:t>
            </a:r>
            <a:endParaRPr kumimoji="0" lang="en-US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0EE6508D-F8D9-F748-B7A0-850B50FAC7AE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 smtClean="0"/>
              <a:t>NFE 204 - Virginie Thion, CNAM</a:t>
            </a:r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1"/>
            <a:ext cx="457200" cy="441325"/>
          </a:xfrm>
          <a:prstGeom prst="rect">
            <a:avLst/>
          </a:prstGeom>
        </p:spPr>
        <p:txBody>
          <a:bodyPr/>
          <a:lstStyle/>
          <a:p>
            <a:fld id="{921AEE28-E0FC-2B48-9C78-E329D5B8D768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4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5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6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7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8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9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0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4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5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6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7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8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19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0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4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5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6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7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8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29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0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4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5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6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7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8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39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40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41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4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43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 userDrawn="1">
  <p:cSld name="44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fr-FR" smtClean="0"/>
              <a:t>Cliquez et modifiez le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EA00C080-10A4-354C-BFB2-1C7441DD70D1}" type="datetime1">
              <a:rPr lang="fr-FR"/>
              <a:pPr/>
              <a:t>22/11/11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  <a:prstGeom prst="rect">
            <a:avLst/>
          </a:prstGeom>
        </p:spPr>
        <p:txBody>
          <a:bodyPr/>
          <a:lstStyle/>
          <a:p>
            <a:fld id="{ABFDD24C-E012-2549-A31A-1B1626D1076D}" type="slidenum">
              <a:rPr lang="fr-FR" smtClean="0"/>
              <a:pPr/>
              <a:t>‹#›</a:t>
            </a:fld>
            <a:endParaRPr lang="fr-FR"/>
          </a:p>
        </p:txBody>
      </p:sp>
      <p:sp>
        <p:nvSpPr>
          <p:cNvPr id="6" name="Espace réservé du contenu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</a:p>
          <a:p>
            <a:pPr lvl="1" eaLnBrk="1" latinLnBrk="0" hangingPunct="1"/>
            <a:r>
              <a:rPr lang="fr-FR" smtClean="0"/>
              <a:t>Deuxième niveau</a:t>
            </a:r>
          </a:p>
          <a:p>
            <a:pPr lvl="2" eaLnBrk="1" latinLnBrk="0" hangingPunct="1"/>
            <a:r>
              <a:rPr lang="fr-FR" smtClean="0"/>
              <a:t>Troisième niveau</a:t>
            </a:r>
          </a:p>
          <a:p>
            <a:pPr lvl="3" eaLnBrk="1" latinLnBrk="0" hangingPunct="1"/>
            <a:r>
              <a:rPr lang="fr-FR" smtClean="0"/>
              <a:t>Quatrième niveau</a:t>
            </a:r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theme" Target="../theme/theme1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  <p:sldLayoutId id="2147483692" r:id="rId16"/>
    <p:sldLayoutId id="2147483693" r:id="rId17"/>
    <p:sldLayoutId id="2147483694" r:id="rId18"/>
    <p:sldLayoutId id="2147483695" r:id="rId19"/>
    <p:sldLayoutId id="2147483696" r:id="rId20"/>
    <p:sldLayoutId id="2147483697" r:id="rId21"/>
    <p:sldLayoutId id="2147483698" r:id="rId22"/>
    <p:sldLayoutId id="2147483699" r:id="rId23"/>
    <p:sldLayoutId id="2147483700" r:id="rId24"/>
    <p:sldLayoutId id="2147483701" r:id="rId25"/>
    <p:sldLayoutId id="2147483702" r:id="rId26"/>
    <p:sldLayoutId id="2147483703" r:id="rId27"/>
    <p:sldLayoutId id="2147483704" r:id="rId28"/>
    <p:sldLayoutId id="2147483705" r:id="rId29"/>
    <p:sldLayoutId id="2147483706" r:id="rId30"/>
    <p:sldLayoutId id="2147483707" r:id="rId31"/>
    <p:sldLayoutId id="2147483708" r:id="rId32"/>
    <p:sldLayoutId id="2147483709" r:id="rId33"/>
    <p:sldLayoutId id="2147483710" r:id="rId34"/>
    <p:sldLayoutId id="2147483711" r:id="rId35"/>
    <p:sldLayoutId id="2147483712" r:id="rId36"/>
    <p:sldLayoutId id="2147483713" r:id="rId37"/>
    <p:sldLayoutId id="2147483714" r:id="rId38"/>
    <p:sldLayoutId id="2147483715" r:id="rId39"/>
    <p:sldLayoutId id="2147483716" r:id="rId40"/>
    <p:sldLayoutId id="2147483717" r:id="rId41"/>
    <p:sldLayoutId id="2147483718" r:id="rId42"/>
    <p:sldLayoutId id="2147483719" r:id="rId43"/>
    <p:sldLayoutId id="2147483720" r:id="rId44"/>
    <p:sldLayoutId id="2147483721" r:id="rId45"/>
    <p:sldLayoutId id="2147483722" r:id="rId46"/>
    <p:sldLayoutId id="2147483723" r:id="rId47"/>
    <p:sldLayoutId id="2147483724" r:id="rId48"/>
    <p:sldLayoutId id="2147483725" r:id="rId49"/>
    <p:sldLayoutId id="2147483726" r:id="rId50"/>
    <p:sldLayoutId id="2147483727" r:id="rId51"/>
    <p:sldLayoutId id="2147483728" r:id="rId52"/>
    <p:sldLayoutId id="2147483729" r:id="rId53"/>
    <p:sldLayoutId id="2147483730" r:id="rId54"/>
    <p:sldLayoutId id="2147483731" r:id="rId55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png"/><Relationship Id="rId3" Type="http://schemas.openxmlformats.org/officeDocument/2006/relationships/image" Target="../media/image3.wmf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2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6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6.wmf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wmf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wmf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3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4" Type="http://schemas.openxmlformats.org/officeDocument/2006/relationships/image" Target="../media/image9.wmf"/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9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40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43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4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3044825"/>
            <a:ext cx="7772400" cy="1362075"/>
          </a:xfrm>
        </p:spPr>
        <p:txBody>
          <a:bodyPr>
            <a:normAutofit fontScale="90000"/>
          </a:bodyPr>
          <a:lstStyle/>
          <a:p>
            <a:r>
              <a:rPr lang="fr-FR" dirty="0" smtClean="0"/>
              <a:t>Bases de données avancées</a:t>
            </a:r>
            <a:br>
              <a:rPr lang="fr-FR" dirty="0" smtClean="0"/>
            </a:br>
            <a:r>
              <a:rPr lang="fr-FR" dirty="0" smtClean="0"/>
              <a:t>(NFE204)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5" cy="3352800"/>
          </a:xfrm>
        </p:spPr>
        <p:txBody>
          <a:bodyPr>
            <a:normAutofit/>
          </a:bodyPr>
          <a:lstStyle/>
          <a:p>
            <a:r>
              <a:rPr lang="fr-FR" dirty="0" smtClean="0"/>
              <a:t>Chapitre "Validation d'un document XML (seconde partie) : XML </a:t>
            </a:r>
            <a:r>
              <a:rPr lang="fr-FR" dirty="0" err="1" smtClean="0"/>
              <a:t>Schema</a:t>
            </a:r>
            <a:r>
              <a:rPr lang="fr-FR" dirty="0" smtClean="0"/>
              <a:t>"</a:t>
            </a:r>
          </a:p>
          <a:p>
            <a:endParaRPr lang="fr-FR" dirty="0" smtClean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4294967295"/>
          </p:nvPr>
        </p:nvSpPr>
        <p:spPr>
          <a:xfrm>
            <a:off x="304800" y="6410849"/>
            <a:ext cx="6096000" cy="359896"/>
          </a:xfrm>
          <a:prstGeom prst="rect">
            <a:avLst/>
          </a:prstGeom>
        </p:spPr>
        <p:txBody>
          <a:bodyPr/>
          <a:lstStyle/>
          <a:p>
            <a:r>
              <a:rPr lang="fr-FR" dirty="0" smtClean="0"/>
              <a:t>NFE 204 - Virginie Thion, CNAM</a:t>
            </a:r>
            <a:endParaRPr lang="fr-FR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4800" y="4648200"/>
            <a:ext cx="979283" cy="1676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DTD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>
            <a:noAutofit/>
          </a:bodyPr>
          <a:lstStyle/>
          <a:p>
            <a:pPr algn="l"/>
            <a:r>
              <a:rPr lang="fr-FR" sz="2000" dirty="0" smtClean="0"/>
              <a:t>Sous forme d'une grammaire</a:t>
            </a:r>
            <a:r>
              <a:rPr lang="fr-FR" sz="2000" dirty="0" smtClean="0">
                <a:solidFill>
                  <a:schemeClr val="tx1"/>
                </a:solidFill>
              </a:rPr>
              <a:t>	</a:t>
            </a:r>
          </a:p>
          <a:p>
            <a:pPr algn="l">
              <a:buNone/>
            </a:pPr>
            <a:r>
              <a:rPr lang="fr-FR" sz="2000" dirty="0" smtClean="0"/>
              <a:t>		     s</a:t>
            </a:r>
            <a:r>
              <a:rPr lang="fr-FR" sz="2000" dirty="0" smtClean="0">
                <a:solidFill>
                  <a:schemeClr val="tx1"/>
                </a:solidFill>
              </a:rPr>
              <a:t>imple</a:t>
            </a:r>
          </a:p>
          <a:p>
            <a:pPr lvl="1" algn="l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		rapide à écrire</a:t>
            </a:r>
          </a:p>
          <a:p>
            <a:pPr lvl="1" algn="l">
              <a:buNone/>
            </a:pPr>
            <a:r>
              <a:rPr lang="fr-FR" sz="2000" dirty="0" smtClean="0">
                <a:solidFill>
                  <a:schemeClr val="tx1"/>
                </a:solidFill>
              </a:rPr>
              <a:t>		   peu expressive</a:t>
            </a:r>
          </a:p>
          <a:p>
            <a:pPr algn="l"/>
            <a:endParaRPr lang="fr-FR" sz="1800" dirty="0" smtClean="0"/>
          </a:p>
          <a:p>
            <a:pPr algn="l">
              <a:buNone/>
            </a:pPr>
            <a:r>
              <a:rPr lang="fr-FR" sz="1200" dirty="0" smtClean="0"/>
              <a:t>&lt;!ELEMENT NEWSPAPER (ARTICLE+)&gt;</a:t>
            </a:r>
          </a:p>
          <a:p>
            <a:pPr algn="l">
              <a:buNone/>
            </a:pPr>
            <a:r>
              <a:rPr lang="fr-FR" sz="1200" dirty="0" smtClean="0"/>
              <a:t>&lt;!ELEMENT ARTICLE (AUTHOR+,HEADLINE, BYLINE, LEAD, BODY, NOTES*)&gt;</a:t>
            </a:r>
          </a:p>
          <a:p>
            <a:pPr algn="l">
              <a:buNone/>
            </a:pPr>
            <a:r>
              <a:rPr lang="fr-FR" sz="1200" dirty="0" smtClean="0"/>
              <a:t>&lt;!ELEMENT HEADLINE (#PCDATA)&gt;</a:t>
            </a:r>
          </a:p>
          <a:p>
            <a:pPr algn="l">
              <a:buNone/>
            </a:pPr>
            <a:r>
              <a:rPr lang="fr-FR" sz="1200" dirty="0" smtClean="0"/>
              <a:t>&lt;!ELEMENT AUTHOR(#PCDATA)&gt;</a:t>
            </a:r>
          </a:p>
          <a:p>
            <a:pPr algn="l">
              <a:buNone/>
            </a:pPr>
            <a:r>
              <a:rPr lang="fr-FR" sz="1200" dirty="0" smtClean="0"/>
              <a:t>&lt;!ELEMENT BYLINE (#PCDATA)&gt;</a:t>
            </a:r>
          </a:p>
          <a:p>
            <a:pPr algn="l">
              <a:buNone/>
            </a:pPr>
            <a:r>
              <a:rPr lang="fr-FR" sz="1200" dirty="0" smtClean="0"/>
              <a:t>&lt;!ELEMENT LEAD (#PCDATA)&gt;</a:t>
            </a:r>
          </a:p>
          <a:p>
            <a:pPr algn="l">
              <a:buNone/>
            </a:pPr>
            <a:r>
              <a:rPr lang="fr-FR" sz="1200" dirty="0" smtClean="0"/>
              <a:t>&lt;!ELEMENT BODY (#PCDATA)&gt;</a:t>
            </a:r>
          </a:p>
          <a:p>
            <a:pPr algn="l">
              <a:buNone/>
            </a:pPr>
            <a:r>
              <a:rPr lang="fr-FR" sz="1200" dirty="0" smtClean="0"/>
              <a:t>&lt;!ELEMENT NOTES (#PCDATA)&gt;</a:t>
            </a:r>
          </a:p>
          <a:p>
            <a:pPr algn="l">
              <a:buNone/>
            </a:pPr>
            <a:endParaRPr lang="fr-FR" sz="1200" dirty="0" smtClean="0"/>
          </a:p>
          <a:p>
            <a:pPr algn="l">
              <a:buNone/>
            </a:pPr>
            <a:r>
              <a:rPr lang="fr-FR" sz="1200" dirty="0" smtClean="0"/>
              <a:t>&lt;!ATTLIST ARTICLE EDITOR CDATA #IMPLIED&gt;</a:t>
            </a:r>
          </a:p>
          <a:p>
            <a:pPr algn="l">
              <a:buNone/>
            </a:pPr>
            <a:r>
              <a:rPr lang="fr-FR" sz="1200" dirty="0" smtClean="0"/>
              <a:t>&lt;!ATTLIST ARTICLE DATE CDATA #IMPLIED&gt;</a:t>
            </a:r>
          </a:p>
          <a:p>
            <a:pPr algn="l">
              <a:buNone/>
            </a:pPr>
            <a:r>
              <a:rPr lang="fr-FR" sz="1200" dirty="0" smtClean="0"/>
              <a:t>&lt;!ATTLIST ARTICLE EDITION CDATA #IMPLIED&gt;</a:t>
            </a:r>
            <a:endParaRPr lang="fr-FR" sz="1200" i="1" dirty="0">
              <a:latin typeface="Arial"/>
              <a:cs typeface="Arial"/>
            </a:endParaRPr>
          </a:p>
        </p:txBody>
      </p:sp>
      <p:sp>
        <p:nvSpPr>
          <p:cNvPr id="6" name="ZoneTexte 5"/>
          <p:cNvSpPr txBox="1"/>
          <p:nvPr/>
        </p:nvSpPr>
        <p:spPr>
          <a:xfrm>
            <a:off x="6448849" y="6397824"/>
            <a:ext cx="259614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400" i="1" dirty="0" smtClean="0"/>
              <a:t>exemple inspiré de w3schools</a:t>
            </a:r>
            <a:endParaRPr lang="fr-FR" sz="1400" i="1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00" y="1905000"/>
            <a:ext cx="360000" cy="360000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88000"/>
            <a:ext cx="529157" cy="360000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3000" y="2307000"/>
            <a:ext cx="360000" cy="360000"/>
          </a:xfrm>
          <a:prstGeom prst="rect">
            <a:avLst/>
          </a:prstGeom>
        </p:spPr>
      </p:pic>
      <p:grpSp>
        <p:nvGrpSpPr>
          <p:cNvPr id="12" name="Grouper 11"/>
          <p:cNvGrpSpPr/>
          <p:nvPr/>
        </p:nvGrpSpPr>
        <p:grpSpPr>
          <a:xfrm>
            <a:off x="304800" y="2482334"/>
            <a:ext cx="7375055" cy="565666"/>
            <a:chOff x="304800" y="2482334"/>
            <a:chExt cx="7375055" cy="565666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304800" y="2688000"/>
              <a:ext cx="3352800" cy="360000"/>
            </a:xfrm>
            <a:prstGeom prst="roundRect">
              <a:avLst/>
            </a:prstGeom>
            <a:noFill/>
            <a:ln w="28575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3657600" y="2482334"/>
              <a:ext cx="40222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err="1" smtClean="0">
                  <a:solidFill>
                    <a:schemeClr val="accent1"/>
                  </a:solidFill>
                </a:rPr>
                <a:t>p.e</a:t>
              </a:r>
              <a:r>
                <a:rPr lang="fr-FR" dirty="0" smtClean="0">
                  <a:solidFill>
                    <a:schemeClr val="accent1"/>
                  </a:solidFill>
                </a:rPr>
                <a:t>. </a:t>
              </a:r>
              <a:r>
                <a:rPr lang="fr-FR" i="1" dirty="0" smtClean="0">
                  <a:solidFill>
                    <a:schemeClr val="accent1"/>
                  </a:solidFill>
                </a:rPr>
                <a:t>CDATA </a:t>
              </a:r>
              <a:r>
                <a:rPr lang="fr-FR" dirty="0" smtClean="0">
                  <a:solidFill>
                    <a:schemeClr val="accent1"/>
                  </a:solidFill>
                </a:rPr>
                <a:t>: String ? </a:t>
              </a:r>
              <a:r>
                <a:rPr lang="fr-FR" dirty="0" err="1" smtClean="0">
                  <a:solidFill>
                    <a:schemeClr val="accent1"/>
                  </a:solidFill>
                </a:rPr>
                <a:t>Integer</a:t>
              </a:r>
              <a:r>
                <a:rPr lang="fr-FR" dirty="0" smtClean="0">
                  <a:solidFill>
                    <a:schemeClr val="accent1"/>
                  </a:solidFill>
                </a:rPr>
                <a:t> ? Date ?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200" dirty="0" smtClean="0"/>
              <a:t>XML </a:t>
            </a:r>
            <a:r>
              <a:rPr lang="fr-FR" sz="3200" dirty="0" err="1" smtClean="0"/>
              <a:t>Schema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Formalisme d'expression de schéma plus évolué que les DTD. </a:t>
            </a:r>
          </a:p>
          <a:p>
            <a:pPr>
              <a:buNone/>
            </a:pPr>
            <a:r>
              <a:rPr lang="fr-FR" i="1" dirty="0" smtClean="0">
                <a:sym typeface="Wingdings"/>
              </a:rPr>
              <a:t>	</a:t>
            </a:r>
            <a:r>
              <a:rPr lang="fr-FR" i="1" dirty="0" err="1" smtClean="0">
                <a:sym typeface="Wingdings"/>
              </a:rPr>
              <a:t></a:t>
            </a:r>
            <a:r>
              <a:rPr lang="fr-FR" i="1" dirty="0" smtClean="0">
                <a:sym typeface="Wingdings"/>
              </a:rPr>
              <a:t> moins simple et moins rapide à écrire qu'une DTD.</a:t>
            </a:r>
            <a:endParaRPr lang="fr-FR" dirty="0" smtClean="0">
              <a:sym typeface="Wingdings"/>
            </a:endParaRPr>
          </a:p>
          <a:p>
            <a:r>
              <a:rPr lang="fr-FR" dirty="0" smtClean="0">
                <a:sym typeface="Wingdings"/>
              </a:rPr>
              <a:t>Utilise la syntaxe XML</a:t>
            </a:r>
          </a:p>
          <a:p>
            <a:r>
              <a:rPr lang="fr-FR" dirty="0" smtClean="0">
                <a:sym typeface="Wingdings"/>
              </a:rPr>
              <a:t>Recommandé par le W3C</a:t>
            </a:r>
          </a:p>
          <a:p>
            <a:pPr>
              <a:buNone/>
            </a:pPr>
            <a:endParaRPr lang="fr-FR" i="1" dirty="0" smtClean="0"/>
          </a:p>
          <a:p>
            <a:pPr>
              <a:buNone/>
            </a:pP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XML </a:t>
            </a:r>
            <a:r>
              <a:rPr lang="fr-FR" dirty="0" err="1" smtClean="0"/>
              <a:t>Schema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301752" y="1981200"/>
            <a:ext cx="4038600" cy="40721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200" dirty="0" smtClean="0">
                <a:latin typeface="Arial Unicode MS"/>
                <a:cs typeface="Arial Unicode MS"/>
              </a:rPr>
              <a:t>&lt;!ELEMENT note (to, </a:t>
            </a:r>
            <a:r>
              <a:rPr lang="fr-FR" sz="1200" dirty="0" err="1" smtClean="0">
                <a:latin typeface="Arial Unicode MS"/>
                <a:cs typeface="Arial Unicode MS"/>
              </a:rPr>
              <a:t>from</a:t>
            </a:r>
            <a:r>
              <a:rPr lang="fr-FR" sz="1200" dirty="0" smtClean="0">
                <a:latin typeface="Arial Unicode MS"/>
                <a:cs typeface="Arial Unicode MS"/>
              </a:rPr>
              <a:t>, </a:t>
            </a:r>
            <a:r>
              <a:rPr lang="fr-FR" sz="1200" dirty="0" err="1" smtClean="0">
                <a:latin typeface="Arial Unicode MS"/>
                <a:cs typeface="Arial Unicode MS"/>
              </a:rPr>
              <a:t>heading</a:t>
            </a:r>
            <a:r>
              <a:rPr lang="fr-FR" sz="1200" dirty="0" smtClean="0">
                <a:latin typeface="Arial Unicode MS"/>
                <a:cs typeface="Arial Unicode MS"/>
              </a:rPr>
              <a:t>, body)&gt;</a:t>
            </a:r>
          </a:p>
          <a:p>
            <a:pPr>
              <a:buNone/>
            </a:pPr>
            <a:r>
              <a:rPr lang="fr-FR" sz="1200" dirty="0" smtClean="0">
                <a:latin typeface="Arial Unicode MS"/>
                <a:cs typeface="Arial Unicode MS"/>
              </a:rPr>
              <a:t>&lt;!ELEMENT to (#PCDATA)&gt;</a:t>
            </a:r>
          </a:p>
          <a:p>
            <a:pPr>
              <a:buNone/>
            </a:pPr>
            <a:r>
              <a:rPr lang="fr-FR" sz="1200" dirty="0" smtClean="0">
                <a:latin typeface="Arial Unicode MS"/>
                <a:cs typeface="Arial Unicode MS"/>
              </a:rPr>
              <a:t>&lt;!ELEMENT </a:t>
            </a:r>
            <a:r>
              <a:rPr lang="fr-FR" sz="1200" dirty="0" err="1" smtClean="0">
                <a:latin typeface="Arial Unicode MS"/>
                <a:cs typeface="Arial Unicode MS"/>
              </a:rPr>
              <a:t>from</a:t>
            </a:r>
            <a:r>
              <a:rPr lang="fr-FR" sz="1200" dirty="0" smtClean="0">
                <a:latin typeface="Arial Unicode MS"/>
                <a:cs typeface="Arial Unicode MS"/>
              </a:rPr>
              <a:t> (#PCDATA)&gt;</a:t>
            </a:r>
          </a:p>
          <a:p>
            <a:pPr>
              <a:buNone/>
            </a:pPr>
            <a:r>
              <a:rPr lang="fr-FR" sz="1200" dirty="0" smtClean="0">
                <a:latin typeface="Arial Unicode MS"/>
                <a:cs typeface="Arial Unicode MS"/>
              </a:rPr>
              <a:t>&lt;!ELEMENT </a:t>
            </a:r>
            <a:r>
              <a:rPr lang="fr-FR" sz="1200" dirty="0" err="1" smtClean="0">
                <a:latin typeface="Arial Unicode MS"/>
                <a:cs typeface="Arial Unicode MS"/>
              </a:rPr>
              <a:t>heading</a:t>
            </a:r>
            <a:r>
              <a:rPr lang="fr-FR" sz="1200" dirty="0" smtClean="0">
                <a:latin typeface="Arial Unicode MS"/>
                <a:cs typeface="Arial Unicode MS"/>
              </a:rPr>
              <a:t> (#PCDATA)&gt;</a:t>
            </a:r>
          </a:p>
          <a:p>
            <a:pPr>
              <a:buNone/>
            </a:pPr>
            <a:r>
              <a:rPr lang="fr-FR" sz="1200" dirty="0" smtClean="0">
                <a:latin typeface="Arial Unicode MS"/>
                <a:cs typeface="Arial Unicode MS"/>
              </a:rPr>
              <a:t>&lt;!ELEMENT body (#PCDATA)&gt;</a:t>
            </a:r>
            <a:endParaRPr lang="fr-FR" sz="1200" dirty="0">
              <a:latin typeface="Arial Unicode MS"/>
              <a:cs typeface="Arial Unicode MS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68952" y="1981200"/>
            <a:ext cx="4498848" cy="407212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&lt;</a:t>
            </a:r>
            <a:r>
              <a:rPr lang="fr-FR" sz="1400" dirty="0" err="1" smtClean="0">
                <a:latin typeface="Arial Unicode MS"/>
                <a:cs typeface="Arial Unicode MS"/>
              </a:rPr>
              <a:t>xs:schema</a:t>
            </a:r>
            <a:r>
              <a:rPr lang="fr-FR" sz="1400" dirty="0" smtClean="0">
                <a:latin typeface="Arial Unicode MS"/>
                <a:cs typeface="Arial Unicode MS"/>
              </a:rPr>
              <a:t> </a:t>
            </a:r>
            <a:r>
              <a:rPr lang="fr-FR" sz="1400" dirty="0" err="1" smtClean="0">
                <a:latin typeface="Arial Unicode MS"/>
                <a:cs typeface="Arial Unicode MS"/>
              </a:rPr>
              <a:t>xmlns:xs</a:t>
            </a:r>
            <a:r>
              <a:rPr lang="fr-FR" sz="1400" dirty="0" smtClean="0">
                <a:latin typeface="Arial Unicode MS"/>
                <a:cs typeface="Arial Unicode MS"/>
              </a:rPr>
              <a:t>="http://www.w3.org/2001/XMLSchema"&gt;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&lt;</a:t>
            </a:r>
            <a:r>
              <a:rPr lang="fr-FR" sz="1400" dirty="0" err="1" smtClean="0">
                <a:latin typeface="Arial Unicode MS"/>
                <a:cs typeface="Arial Unicode MS"/>
              </a:rPr>
              <a:t>xs:element</a:t>
            </a:r>
            <a:r>
              <a:rPr lang="fr-FR" sz="1400" dirty="0" smtClean="0">
                <a:latin typeface="Arial Unicode MS"/>
                <a:cs typeface="Arial Unicode MS"/>
              </a:rPr>
              <a:t> </a:t>
            </a:r>
            <a:r>
              <a:rPr lang="fr-FR" sz="1400" dirty="0" err="1" smtClean="0">
                <a:latin typeface="Arial Unicode MS"/>
                <a:cs typeface="Arial Unicode MS"/>
              </a:rPr>
              <a:t>name</a:t>
            </a:r>
            <a:r>
              <a:rPr lang="fr-FR" sz="1400" dirty="0" smtClean="0">
                <a:latin typeface="Arial Unicode MS"/>
                <a:cs typeface="Arial Unicode MS"/>
              </a:rPr>
              <a:t>="note"&gt;  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  &lt;</a:t>
            </a:r>
            <a:r>
              <a:rPr lang="fr-FR" sz="14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4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    &lt;</a:t>
            </a:r>
            <a:r>
              <a:rPr lang="fr-FR" sz="1400" dirty="0" err="1" smtClean="0">
                <a:latin typeface="Arial Unicode MS"/>
                <a:cs typeface="Arial Unicode MS"/>
              </a:rPr>
              <a:t>xs:sequence</a:t>
            </a:r>
            <a:r>
              <a:rPr lang="fr-FR" sz="14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      &lt;</a:t>
            </a:r>
            <a:r>
              <a:rPr lang="fr-FR" sz="1400" dirty="0" err="1" smtClean="0">
                <a:latin typeface="Arial Unicode MS"/>
                <a:cs typeface="Arial Unicode MS"/>
              </a:rPr>
              <a:t>xs:element</a:t>
            </a:r>
            <a:r>
              <a:rPr lang="fr-FR" sz="1400" dirty="0" smtClean="0">
                <a:latin typeface="Arial Unicode MS"/>
                <a:cs typeface="Arial Unicode MS"/>
              </a:rPr>
              <a:t> </a:t>
            </a:r>
            <a:r>
              <a:rPr lang="fr-FR" sz="1400" dirty="0" err="1" smtClean="0">
                <a:latin typeface="Arial Unicode MS"/>
                <a:cs typeface="Arial Unicode MS"/>
              </a:rPr>
              <a:t>name</a:t>
            </a:r>
            <a:r>
              <a:rPr lang="fr-FR" sz="1400" dirty="0" smtClean="0">
                <a:latin typeface="Arial Unicode MS"/>
                <a:cs typeface="Arial Unicode MS"/>
              </a:rPr>
              <a:t>="to" type="</a:t>
            </a:r>
            <a:r>
              <a:rPr lang="fr-FR" sz="1400" dirty="0" err="1" smtClean="0">
                <a:latin typeface="Arial Unicode MS"/>
                <a:cs typeface="Arial Unicode MS"/>
              </a:rPr>
              <a:t>xs:string</a:t>
            </a:r>
            <a:r>
              <a:rPr lang="fr-FR" sz="14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      &lt;</a:t>
            </a:r>
            <a:r>
              <a:rPr lang="fr-FR" sz="1400" dirty="0" err="1" smtClean="0">
                <a:latin typeface="Arial Unicode MS"/>
                <a:cs typeface="Arial Unicode MS"/>
              </a:rPr>
              <a:t>xs:element</a:t>
            </a:r>
            <a:r>
              <a:rPr lang="fr-FR" sz="1400" dirty="0" smtClean="0">
                <a:latin typeface="Arial Unicode MS"/>
                <a:cs typeface="Arial Unicode MS"/>
              </a:rPr>
              <a:t> </a:t>
            </a:r>
            <a:r>
              <a:rPr lang="fr-FR" sz="1400" dirty="0" err="1" smtClean="0">
                <a:latin typeface="Arial Unicode MS"/>
                <a:cs typeface="Arial Unicode MS"/>
              </a:rPr>
              <a:t>name</a:t>
            </a:r>
            <a:r>
              <a:rPr lang="fr-FR" sz="1400" dirty="0" smtClean="0">
                <a:latin typeface="Arial Unicode MS"/>
                <a:cs typeface="Arial Unicode MS"/>
              </a:rPr>
              <a:t>="</a:t>
            </a:r>
            <a:r>
              <a:rPr lang="fr-FR" sz="1400" dirty="0" err="1" smtClean="0">
                <a:latin typeface="Arial Unicode MS"/>
                <a:cs typeface="Arial Unicode MS"/>
              </a:rPr>
              <a:t>from</a:t>
            </a:r>
            <a:r>
              <a:rPr lang="fr-FR" sz="1400" dirty="0" smtClean="0">
                <a:latin typeface="Arial Unicode MS"/>
                <a:cs typeface="Arial Unicode MS"/>
              </a:rPr>
              <a:t>" type="</a:t>
            </a:r>
            <a:r>
              <a:rPr lang="fr-FR" sz="1400" dirty="0" err="1" smtClean="0">
                <a:latin typeface="Arial Unicode MS"/>
                <a:cs typeface="Arial Unicode MS"/>
              </a:rPr>
              <a:t>xs:string</a:t>
            </a:r>
            <a:r>
              <a:rPr lang="fr-FR" sz="14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      &lt;</a:t>
            </a:r>
            <a:r>
              <a:rPr lang="fr-FR" sz="1400" dirty="0" err="1" smtClean="0">
                <a:latin typeface="Arial Unicode MS"/>
                <a:cs typeface="Arial Unicode MS"/>
              </a:rPr>
              <a:t>xs:element</a:t>
            </a:r>
            <a:r>
              <a:rPr lang="fr-FR" sz="1400" dirty="0" smtClean="0">
                <a:latin typeface="Arial Unicode MS"/>
                <a:cs typeface="Arial Unicode MS"/>
              </a:rPr>
              <a:t> </a:t>
            </a:r>
            <a:r>
              <a:rPr lang="fr-FR" sz="1400" dirty="0" err="1" smtClean="0">
                <a:latin typeface="Arial Unicode MS"/>
                <a:cs typeface="Arial Unicode MS"/>
              </a:rPr>
              <a:t>name</a:t>
            </a:r>
            <a:r>
              <a:rPr lang="fr-FR" sz="1400" dirty="0" smtClean="0">
                <a:latin typeface="Arial Unicode MS"/>
                <a:cs typeface="Arial Unicode MS"/>
              </a:rPr>
              <a:t>="</a:t>
            </a:r>
            <a:r>
              <a:rPr lang="fr-FR" sz="1400" dirty="0" err="1" smtClean="0">
                <a:latin typeface="Arial Unicode MS"/>
                <a:cs typeface="Arial Unicode MS"/>
              </a:rPr>
              <a:t>heading</a:t>
            </a:r>
            <a:r>
              <a:rPr lang="fr-FR" sz="1400" dirty="0" smtClean="0">
                <a:latin typeface="Arial Unicode MS"/>
                <a:cs typeface="Arial Unicode MS"/>
              </a:rPr>
              <a:t>" type="</a:t>
            </a:r>
            <a:r>
              <a:rPr lang="fr-FR" sz="1400" dirty="0" err="1" smtClean="0">
                <a:latin typeface="Arial Unicode MS"/>
                <a:cs typeface="Arial Unicode MS"/>
              </a:rPr>
              <a:t>xs:string</a:t>
            </a:r>
            <a:r>
              <a:rPr lang="fr-FR" sz="14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      &lt;</a:t>
            </a:r>
            <a:r>
              <a:rPr lang="fr-FR" sz="1400" dirty="0" err="1" smtClean="0">
                <a:latin typeface="Arial Unicode MS"/>
                <a:cs typeface="Arial Unicode MS"/>
              </a:rPr>
              <a:t>xs:element</a:t>
            </a:r>
            <a:r>
              <a:rPr lang="fr-FR" sz="1400" dirty="0" smtClean="0">
                <a:latin typeface="Arial Unicode MS"/>
                <a:cs typeface="Arial Unicode MS"/>
              </a:rPr>
              <a:t> </a:t>
            </a:r>
            <a:r>
              <a:rPr lang="fr-FR" sz="1400" dirty="0" err="1" smtClean="0">
                <a:latin typeface="Arial Unicode MS"/>
                <a:cs typeface="Arial Unicode MS"/>
              </a:rPr>
              <a:t>name</a:t>
            </a:r>
            <a:r>
              <a:rPr lang="fr-FR" sz="1400" dirty="0" smtClean="0">
                <a:latin typeface="Arial Unicode MS"/>
                <a:cs typeface="Arial Unicode MS"/>
              </a:rPr>
              <a:t>="body" type="</a:t>
            </a:r>
            <a:r>
              <a:rPr lang="fr-FR" sz="1400" dirty="0" err="1" smtClean="0">
                <a:latin typeface="Arial Unicode MS"/>
                <a:cs typeface="Arial Unicode MS"/>
              </a:rPr>
              <a:t>xs:string</a:t>
            </a:r>
            <a:r>
              <a:rPr lang="fr-FR" sz="14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    &lt;/</a:t>
            </a:r>
            <a:r>
              <a:rPr lang="fr-FR" sz="1400" dirty="0" err="1" smtClean="0">
                <a:latin typeface="Arial Unicode MS"/>
                <a:cs typeface="Arial Unicode MS"/>
              </a:rPr>
              <a:t>xs:sequence</a:t>
            </a:r>
            <a:r>
              <a:rPr lang="fr-FR" sz="14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  &lt;/</a:t>
            </a:r>
            <a:r>
              <a:rPr lang="fr-FR" sz="14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4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&lt;/</a:t>
            </a:r>
            <a:r>
              <a:rPr lang="fr-FR" sz="1400" dirty="0" err="1" smtClean="0">
                <a:latin typeface="Arial Unicode MS"/>
                <a:cs typeface="Arial Unicode MS"/>
              </a:rPr>
              <a:t>xs:element</a:t>
            </a:r>
            <a:r>
              <a:rPr lang="fr-FR" sz="14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400" dirty="0" smtClean="0">
                <a:latin typeface="Arial Unicode MS"/>
                <a:cs typeface="Arial Unicode MS"/>
              </a:rPr>
              <a:t>&lt;/</a:t>
            </a:r>
            <a:r>
              <a:rPr lang="fr-FR" sz="1400" dirty="0" err="1" smtClean="0">
                <a:latin typeface="Arial Unicode MS"/>
                <a:cs typeface="Arial Unicode MS"/>
              </a:rPr>
              <a:t>xs:schema</a:t>
            </a:r>
            <a:r>
              <a:rPr lang="fr-FR" sz="1400" dirty="0" smtClean="0">
                <a:latin typeface="Arial Unicode MS"/>
                <a:cs typeface="Arial Unicode MS"/>
              </a:rPr>
              <a:t>&gt;</a:t>
            </a:r>
            <a:endParaRPr lang="fr-FR" sz="1400" dirty="0">
              <a:latin typeface="Arial Unicode MS"/>
              <a:cs typeface="Arial Unicode MS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841331" y="1491734"/>
            <a:ext cx="67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 smtClean="0"/>
              <a:t>DTD</a:t>
            </a:r>
            <a:endParaRPr lang="fr-FR" u="sng" dirty="0"/>
          </a:p>
        </p:txBody>
      </p:sp>
      <p:sp>
        <p:nvSpPr>
          <p:cNvPr id="6" name="ZoneTexte 5"/>
          <p:cNvSpPr txBox="1"/>
          <p:nvPr/>
        </p:nvSpPr>
        <p:spPr>
          <a:xfrm>
            <a:off x="5910000" y="1491734"/>
            <a:ext cx="1557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u="sng" dirty="0" smtClean="0"/>
              <a:t>XML </a:t>
            </a:r>
            <a:r>
              <a:rPr lang="fr-FR" u="sng" dirty="0" err="1" smtClean="0"/>
              <a:t>Schema</a:t>
            </a:r>
            <a:endParaRPr lang="fr-FR" u="sng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XML </a:t>
            </a:r>
            <a:r>
              <a:rPr lang="fr-FR" dirty="0" err="1" smtClean="0"/>
              <a:t>Schema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xs:schema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xmlns:xs</a:t>
            </a:r>
            <a:r>
              <a:rPr lang="fr-FR" sz="2000" dirty="0" smtClean="0">
                <a:latin typeface="Arial Unicode MS"/>
                <a:cs typeface="Arial Unicode MS"/>
              </a:rPr>
              <a:t>="http://www.w3.org/2001/XMLSchema"&gt;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="note"&gt;  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    &lt;</a:t>
            </a:r>
            <a:r>
              <a:rPr lang="fr-FR" sz="2000" dirty="0" err="1" smtClean="0">
                <a:latin typeface="Arial Unicode MS"/>
                <a:cs typeface="Arial Unicode MS"/>
              </a:rPr>
              <a:t>xs:sequence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      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="to"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      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from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      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heading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      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="body"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    &lt;/</a:t>
            </a:r>
            <a:r>
              <a:rPr lang="fr-FR" sz="2000" dirty="0" err="1" smtClean="0">
                <a:latin typeface="Arial Unicode MS"/>
                <a:cs typeface="Arial Unicode MS"/>
              </a:rPr>
              <a:t>xs:sequence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  &lt;/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xs:schema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endParaRPr lang="fr-FR" sz="2000" dirty="0">
              <a:latin typeface="Arial Unicode MS"/>
              <a:cs typeface="Arial Unicode MS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304800" y="1527048"/>
            <a:ext cx="7848600" cy="454152"/>
          </a:xfrm>
          <a:prstGeom prst="roundRect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2438400" y="1527048"/>
            <a:ext cx="457200" cy="454152"/>
          </a:xfrm>
          <a:prstGeom prst="roundRect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à coins arrondis 8"/>
          <p:cNvSpPr/>
          <p:nvPr/>
        </p:nvSpPr>
        <p:spPr>
          <a:xfrm>
            <a:off x="914400" y="2971800"/>
            <a:ext cx="1295400" cy="454152"/>
          </a:xfrm>
          <a:prstGeom prst="roundRect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</a:t>
            </a:r>
            <a:r>
              <a:rPr lang="fr-FR" dirty="0" err="1" smtClean="0"/>
              <a:t>élements</a:t>
            </a:r>
            <a:r>
              <a:rPr lang="fr-FR" dirty="0" smtClean="0"/>
              <a:t> : types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firstname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endParaRPr lang="fr-FR" sz="2000" dirty="0" smtClean="0">
              <a:latin typeface="Arial Unicode MS"/>
              <a:cs typeface="Arial Unicode MS"/>
            </a:endParaRPr>
          </a:p>
          <a:p>
            <a:pPr>
              <a:buNone/>
            </a:pPr>
            <a:endParaRPr lang="fr-FR" sz="2000" dirty="0" smtClean="0">
              <a:latin typeface="Arial Unicode MS"/>
              <a:cs typeface="Arial Unicode MS"/>
            </a:endParaRPr>
          </a:p>
          <a:p>
            <a:pPr>
              <a:buNone/>
            </a:pPr>
            <a:endParaRPr lang="fr-FR" sz="2000" dirty="0" smtClean="0">
              <a:latin typeface="Arial Unicode MS"/>
              <a:cs typeface="Arial Unicode MS"/>
            </a:endParaRPr>
          </a:p>
          <a:p>
            <a:pPr>
              <a:buNone/>
            </a:pPr>
            <a:endParaRPr lang="fr-FR" sz="2000" dirty="0" smtClean="0"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firstname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	Alan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firstname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endParaRPr lang="fr-FR" sz="2000" dirty="0" smtClean="0"/>
          </a:p>
        </p:txBody>
      </p:sp>
      <p:grpSp>
        <p:nvGrpSpPr>
          <p:cNvPr id="8" name="Grouper 7"/>
          <p:cNvGrpSpPr/>
          <p:nvPr/>
        </p:nvGrpSpPr>
        <p:grpSpPr>
          <a:xfrm>
            <a:off x="2133600" y="2819400"/>
            <a:ext cx="6702552" cy="3017587"/>
            <a:chOff x="2133600" y="2819400"/>
            <a:chExt cx="6702552" cy="3017587"/>
          </a:xfrm>
        </p:grpSpPr>
        <p:pic>
          <p:nvPicPr>
            <p:cNvPr id="6" name="Imag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62302" y="3124200"/>
              <a:ext cx="6673850" cy="2712787"/>
            </a:xfrm>
            <a:prstGeom prst="rect">
              <a:avLst/>
            </a:prstGeom>
          </p:spPr>
        </p:pic>
        <p:sp>
          <p:nvSpPr>
            <p:cNvPr id="7" name="ZoneTexte 6"/>
            <p:cNvSpPr txBox="1"/>
            <p:nvPr/>
          </p:nvSpPr>
          <p:spPr>
            <a:xfrm>
              <a:off x="2133600" y="2819400"/>
              <a:ext cx="478091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Peut être plus précis en rajoutant des options</a:t>
              </a:r>
              <a:endParaRPr lang="fr-FR" dirty="0"/>
            </a:p>
          </p:txBody>
        </p:sp>
      </p:grpSp>
      <p:sp>
        <p:nvSpPr>
          <p:cNvPr id="9" name="Espace réservé du pied de page 2"/>
          <p:cNvSpPr txBox="1">
            <a:spLocks/>
          </p:cNvSpPr>
          <p:nvPr/>
        </p:nvSpPr>
        <p:spPr>
          <a:xfrm>
            <a:off x="7257414" y="5791200"/>
            <a:ext cx="1505586" cy="262188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1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Recomm</a:t>
            </a:r>
            <a:r>
              <a:rPr kumimoji="0" lang="fr-FR" sz="1200" b="0" i="1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. W3C</a:t>
            </a:r>
            <a:endParaRPr kumimoji="0" lang="fr-FR" sz="12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3" name="Grouper 12"/>
          <p:cNvGrpSpPr/>
          <p:nvPr/>
        </p:nvGrpSpPr>
        <p:grpSpPr>
          <a:xfrm>
            <a:off x="6324600" y="4191000"/>
            <a:ext cx="2103815" cy="369332"/>
            <a:chOff x="6324600" y="4234934"/>
            <a:chExt cx="2103815" cy="369332"/>
          </a:xfrm>
        </p:grpSpPr>
        <p:cxnSp>
          <p:nvCxnSpPr>
            <p:cNvPr id="11" name="Connecteur droit avec flèche 10"/>
            <p:cNvCxnSpPr/>
            <p:nvPr/>
          </p:nvCxnSpPr>
          <p:spPr>
            <a:xfrm rot="10800000">
              <a:off x="6324600" y="4419600"/>
              <a:ext cx="9328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ZoneTexte 11"/>
            <p:cNvSpPr txBox="1"/>
            <p:nvPr/>
          </p:nvSpPr>
          <p:spPr>
            <a:xfrm>
              <a:off x="7257414" y="4234934"/>
              <a:ext cx="11710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  <a:latin typeface="Arial Narrow"/>
                  <a:cs typeface="Arial Narrow"/>
                </a:rPr>
                <a:t>"Compte…"</a:t>
              </a:r>
            </a:p>
          </p:txBody>
        </p:sp>
      </p:grpSp>
      <p:grpSp>
        <p:nvGrpSpPr>
          <p:cNvPr id="17" name="Grouper 16"/>
          <p:cNvGrpSpPr/>
          <p:nvPr/>
        </p:nvGrpSpPr>
        <p:grpSpPr>
          <a:xfrm>
            <a:off x="3581400" y="5029200"/>
            <a:ext cx="1527974" cy="369332"/>
            <a:chOff x="6324600" y="4158734"/>
            <a:chExt cx="1527974" cy="369332"/>
          </a:xfrm>
        </p:grpSpPr>
        <p:cxnSp>
          <p:nvCxnSpPr>
            <p:cNvPr id="18" name="Connecteur droit avec flèche 17"/>
            <p:cNvCxnSpPr/>
            <p:nvPr/>
          </p:nvCxnSpPr>
          <p:spPr>
            <a:xfrm rot="10800000">
              <a:off x="6324600" y="4419600"/>
              <a:ext cx="9328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ZoneTexte 18"/>
            <p:cNvSpPr txBox="1"/>
            <p:nvPr/>
          </p:nvSpPr>
          <p:spPr>
            <a:xfrm>
              <a:off x="7257414" y="4158734"/>
              <a:ext cx="5951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  <a:latin typeface="Arial Narrow"/>
                  <a:cs typeface="Arial Narrow"/>
                </a:rPr>
                <a:t>Type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Les </a:t>
            </a:r>
            <a:r>
              <a:rPr lang="fr-FR" dirty="0" err="1" smtClean="0"/>
              <a:t>élements</a:t>
            </a:r>
            <a:r>
              <a:rPr lang="fr-FR" dirty="0" smtClean="0"/>
              <a:t> : types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Deux sortes de types :</a:t>
            </a:r>
          </a:p>
          <a:p>
            <a:r>
              <a:rPr lang="fr-FR" sz="2000" dirty="0" smtClean="0">
                <a:latin typeface="Arial Unicode MS"/>
                <a:cs typeface="Arial Unicode MS"/>
              </a:rPr>
              <a:t>Types simples : si on veut que l'élément vérifiant le type ne contienne qu'une valeur et pas d'attribut</a:t>
            </a:r>
          </a:p>
          <a:p>
            <a:pPr lvl="1">
              <a:buNone/>
            </a:pPr>
            <a:r>
              <a:rPr lang="fr-FR" sz="1500" dirty="0" smtClean="0">
                <a:latin typeface="Arial Unicode MS"/>
                <a:cs typeface="Arial Unicode MS"/>
              </a:rPr>
              <a:t>&lt;</a:t>
            </a:r>
            <a:r>
              <a:rPr lang="fr-FR" sz="15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latin typeface="Arial Unicode MS"/>
                <a:cs typeface="Arial Unicode MS"/>
              </a:rPr>
              <a:t> &gt;345,67&lt;</a:t>
            </a:r>
            <a:r>
              <a:rPr lang="fr-FR" sz="15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latin typeface="Arial Unicode MS"/>
                <a:cs typeface="Arial Unicode MS"/>
              </a:rPr>
              <a:t> &gt;</a:t>
            </a:r>
          </a:p>
          <a:p>
            <a:r>
              <a:rPr lang="fr-FR" sz="2000" dirty="0" smtClean="0">
                <a:latin typeface="Arial Unicode MS"/>
                <a:cs typeface="Arial Unicode MS"/>
              </a:rPr>
              <a:t>Types complexes : si on veut que l'élément vérifiant le type soit composé de sous-élément(s) ou* contienne des attributs</a:t>
            </a:r>
          </a:p>
          <a:p>
            <a:pPr marL="548640" lvl="2">
              <a:buClr>
                <a:schemeClr val="accent1"/>
              </a:buClr>
              <a:buSzPct val="85000"/>
            </a:pPr>
            <a:r>
              <a:rPr lang="fr-FR" sz="1500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internationalPrice currency="dolars"&gt;345,67&lt;/internationalPrice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</a:t>
            </a:r>
          </a:p>
          <a:p>
            <a:pPr marL="548640" lvl="2">
              <a:buClr>
                <a:schemeClr val="accent1"/>
              </a:buClr>
              <a:buSzPct val="85000"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 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currency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="EUR" value="345,67"/&gt;</a:t>
            </a:r>
          </a:p>
          <a:p>
            <a:pPr marL="548640" lvl="2">
              <a:buClr>
                <a:schemeClr val="accent1"/>
              </a:buClr>
              <a:buSzPct val="85000"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	   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currency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&gt;EUR&lt;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currency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	   &lt;value&gt;345,67&lt;value&gt;</a:t>
            </a:r>
          </a:p>
          <a:p>
            <a:pPr>
              <a:buNone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	 &lt;/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</a:t>
            </a:r>
          </a:p>
          <a:p>
            <a:pPr marL="548640" lvl="2">
              <a:buClr>
                <a:schemeClr val="accent1"/>
              </a:buClr>
              <a:buSzPct val="85000"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 date="2009-05-12"&gt;</a:t>
            </a:r>
          </a:p>
          <a:p>
            <a:pPr>
              <a:buNone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	   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currency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&gt;EUR&lt;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currency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	   &lt;value&gt;345,67&lt;value&gt;</a:t>
            </a:r>
          </a:p>
          <a:p>
            <a:pPr>
              <a:buNone/>
            </a:pP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	 &lt;/</a:t>
            </a:r>
            <a:r>
              <a:rPr lang="fr-FR" sz="1514" dirty="0" err="1" smtClean="0">
                <a:solidFill>
                  <a:schemeClr val="tx2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14" dirty="0" smtClean="0">
                <a:solidFill>
                  <a:schemeClr val="tx2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2000" dirty="0" smtClean="0"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* disjonction non exclusive</a:t>
            </a:r>
            <a:endParaRPr lang="fr-F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Types simples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Quelques types possibles :</a:t>
            </a:r>
            <a:endParaRPr lang="fr-FR" sz="2000" dirty="0"/>
          </a:p>
        </p:txBody>
      </p:sp>
      <p:sp>
        <p:nvSpPr>
          <p:cNvPr id="13" name="Espace réservé du contenu 4"/>
          <p:cNvSpPr>
            <a:spLocks noGrp="1"/>
          </p:cNvSpPr>
          <p:nvPr>
            <p:ph sz="quarter" idx="4294967295"/>
          </p:nvPr>
        </p:nvSpPr>
        <p:spPr>
          <a:xfrm>
            <a:off x="0" y="1527175"/>
            <a:ext cx="8504238" cy="4540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firstname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</p:txBody>
      </p:sp>
      <p:graphicFrame>
        <p:nvGraphicFramePr>
          <p:cNvPr id="10" name="Tableau 9"/>
          <p:cNvGraphicFramePr>
            <a:graphicFrameLocks noGrp="1"/>
          </p:cNvGraphicFramePr>
          <p:nvPr/>
        </p:nvGraphicFramePr>
        <p:xfrm>
          <a:off x="304800" y="2316481"/>
          <a:ext cx="8458200" cy="38799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362200"/>
                <a:gridCol w="4724400"/>
              </a:tblGrid>
              <a:tr h="588108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Type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Description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Commentaire</a:t>
                      </a:r>
                      <a:endParaRPr lang="fr-FR" dirty="0"/>
                    </a:p>
                  </a:txBody>
                  <a:tcPr/>
                </a:tc>
              </a:tr>
              <a:tr h="295811">
                <a:tc>
                  <a:txBody>
                    <a:bodyPr/>
                    <a:lstStyle/>
                    <a:p>
                      <a:r>
                        <a:rPr lang="fr-FR" i="1" dirty="0" smtClean="0"/>
                        <a:t>string</a:t>
                      </a:r>
                      <a:endParaRPr lang="fr-FR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18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chaîne de caractères</a:t>
                      </a:r>
                      <a:endParaRPr lang="fr-FR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1800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chaîne de caractères</a:t>
                      </a:r>
                      <a:endParaRPr lang="fr-FR" i="0" dirty="0"/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fr-FR" i="1" dirty="0" err="1" smtClean="0"/>
                        <a:t>boolean</a:t>
                      </a:r>
                      <a:endParaRPr lang="fr-FR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booléen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</a:t>
                      </a:r>
                      <a:r>
                        <a:rPr kumimoji="0" lang="fr-FR" sz="1800" i="1" kern="120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kumimoji="0" lang="fr-FR" sz="1800" i="1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' | 'false' | '1' | '</a:t>
                      </a:r>
                      <a:r>
                        <a:rPr kumimoji="0"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0'</a:t>
                      </a:r>
                      <a:endParaRPr lang="fr-FR" dirty="0"/>
                    </a:p>
                  </a:txBody>
                  <a:tcPr/>
                </a:tc>
              </a:tr>
              <a:tr h="336062">
                <a:tc>
                  <a:txBody>
                    <a:bodyPr/>
                    <a:lstStyle/>
                    <a:p>
                      <a:r>
                        <a:rPr lang="fr-FR" i="1" dirty="0" err="1" smtClean="0"/>
                        <a:t>decimal</a:t>
                      </a:r>
                      <a:endParaRPr lang="fr-FR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décimal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(\+|-)?([0-9]+(\.[0-9]*)?|\.[0-9]+)</a:t>
                      </a:r>
                      <a:endParaRPr lang="fr-FR" dirty="0"/>
                    </a:p>
                  </a:txBody>
                  <a:tcPr/>
                </a:tc>
              </a:tr>
              <a:tr h="588108">
                <a:tc>
                  <a:txBody>
                    <a:bodyPr/>
                    <a:lstStyle/>
                    <a:p>
                      <a:r>
                        <a:rPr lang="fr-FR" i="1" dirty="0" err="1" smtClean="0"/>
                        <a:t>integer</a:t>
                      </a:r>
                      <a:endParaRPr lang="fr-FR" i="1" dirty="0" smtClean="0"/>
                    </a:p>
                    <a:p>
                      <a:r>
                        <a:rPr lang="fr-FR" dirty="0" smtClean="0"/>
                        <a:t>(dérivé de </a:t>
                      </a:r>
                      <a:r>
                        <a:rPr lang="fr-FR" i="1" dirty="0" err="1" smtClean="0"/>
                        <a:t>decimal</a:t>
                      </a:r>
                      <a:r>
                        <a:rPr lang="fr-FR" dirty="0" smtClean="0"/>
                        <a:t>)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entier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types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dirty="0" smtClean="0"/>
                        <a:t>dérivés tels</a:t>
                      </a:r>
                      <a:r>
                        <a:rPr lang="fr-FR" baseline="0" dirty="0" smtClean="0"/>
                        <a:t> que</a:t>
                      </a:r>
                      <a:r>
                        <a:rPr lang="fr-FR" dirty="0" smtClean="0"/>
                        <a:t> </a:t>
                      </a:r>
                      <a:r>
                        <a:rPr lang="fr-FR" i="1" dirty="0" smtClean="0"/>
                        <a:t>long</a:t>
                      </a:r>
                      <a:r>
                        <a:rPr lang="fr-FR" dirty="0" smtClean="0"/>
                        <a:t>,</a:t>
                      </a:r>
                      <a:r>
                        <a:rPr lang="fr-FR" baseline="0" dirty="0" smtClean="0"/>
                        <a:t> </a:t>
                      </a:r>
                      <a:r>
                        <a:rPr lang="fr-FR" i="1" baseline="0" dirty="0" smtClean="0"/>
                        <a:t>non </a:t>
                      </a:r>
                      <a:r>
                        <a:rPr lang="fr-FR" i="1" baseline="0" dirty="0" err="1" smtClean="0"/>
                        <a:t>PositiveInterge</a:t>
                      </a:r>
                      <a:r>
                        <a:rPr lang="fr-FR" baseline="0" dirty="0" err="1" smtClean="0"/>
                        <a:t>r</a:t>
                      </a:r>
                      <a:r>
                        <a:rPr lang="fr-FR" baseline="0" dirty="0" smtClean="0"/>
                        <a:t>, </a:t>
                      </a:r>
                      <a:r>
                        <a:rPr lang="fr-FR" i="1" baseline="0" dirty="0" err="1" smtClean="0"/>
                        <a:t>nonNegativeInteger</a:t>
                      </a:r>
                      <a:endParaRPr lang="fr-FR" i="1" dirty="0"/>
                    </a:p>
                  </a:txBody>
                  <a:tcPr/>
                </a:tc>
              </a:tr>
              <a:tr h="840154">
                <a:tc>
                  <a:txBody>
                    <a:bodyPr/>
                    <a:lstStyle/>
                    <a:p>
                      <a:r>
                        <a:rPr lang="fr-FR" i="1" dirty="0" err="1" smtClean="0"/>
                        <a:t>float</a:t>
                      </a:r>
                      <a:endParaRPr lang="fr-FR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 smtClean="0"/>
                        <a:t>flottant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(\+|-)?([0-9]+(\.[0-9]*)?|\.[0-9]+)([Ee](\+|-)?[0-9]+)? |(\+|-)?INF|NaN</a:t>
                      </a:r>
                      <a:endParaRPr lang="fr-FR" dirty="0"/>
                    </a:p>
                  </a:txBody>
                  <a:tcPr/>
                </a:tc>
              </a:tr>
              <a:tr h="243840">
                <a:tc>
                  <a:txBody>
                    <a:bodyPr/>
                    <a:lstStyle/>
                    <a:p>
                      <a:r>
                        <a:rPr lang="fr-FR" i="1" dirty="0" smtClean="0"/>
                        <a:t>time</a:t>
                      </a:r>
                      <a:endParaRPr lang="fr-FR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fr-FR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Exemple : 2000-12-12+13:00</a:t>
                      </a:r>
                      <a:endParaRPr lang="fr-FR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ZoneTexte 10"/>
          <p:cNvSpPr txBox="1"/>
          <p:nvPr/>
        </p:nvSpPr>
        <p:spPr>
          <a:xfrm>
            <a:off x="7092830" y="6019800"/>
            <a:ext cx="1974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Et bien d'autres…</a:t>
            </a:r>
            <a:endParaRPr lang="fr-FR" dirty="0"/>
          </a:p>
        </p:txBody>
      </p:sp>
      <p:sp>
        <p:nvSpPr>
          <p:cNvPr id="12" name="Rectangle à coins arrondis 11"/>
          <p:cNvSpPr/>
          <p:nvPr/>
        </p:nvSpPr>
        <p:spPr>
          <a:xfrm>
            <a:off x="4572000" y="1527048"/>
            <a:ext cx="1219200" cy="454152"/>
          </a:xfrm>
          <a:prstGeom prst="roundRect">
            <a:avLst/>
          </a:prstGeom>
          <a:noFill/>
          <a:ln w="28575" cmpd="sng">
            <a:solidFill>
              <a:schemeClr val="accent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11" grpId="0"/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258" y="521732"/>
            <a:ext cx="5134341" cy="5852658"/>
          </a:xfrm>
          <a:prstGeom prst="rect">
            <a:avLst/>
          </a:prstGeom>
        </p:spPr>
      </p:pic>
      <p:sp>
        <p:nvSpPr>
          <p:cNvPr id="17" name="Espace réservé du numéro de diapositive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FDD24C-E012-2549-A31A-1B1626D1076D}" type="slidenum">
              <a:rPr lang="fr-FR" smtClean="0"/>
              <a:pPr/>
              <a:t>9</a:t>
            </a:fld>
            <a:endParaRPr lang="fr-FR"/>
          </a:p>
        </p:txBody>
      </p:sp>
      <p:sp>
        <p:nvSpPr>
          <p:cNvPr id="6" name="Espace réservé du pied de page 2"/>
          <p:cNvSpPr txBox="1">
            <a:spLocks/>
          </p:cNvSpPr>
          <p:nvPr/>
        </p:nvSpPr>
        <p:spPr>
          <a:xfrm>
            <a:off x="7467600" y="6374390"/>
            <a:ext cx="1676400" cy="294752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dirty="0" smtClean="0">
                <a:solidFill>
                  <a:srgbClr val="FFFFFF"/>
                </a:solidFill>
              </a:rPr>
              <a:t>Issu de la doc W3C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28600" y="152400"/>
            <a:ext cx="22981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Les types </a:t>
            </a:r>
            <a:r>
              <a:rPr lang="fr-FR" dirty="0" err="1" smtClean="0"/>
              <a:t>pré-définis</a:t>
            </a:r>
            <a:endParaRPr lang="fr-FR" dirty="0"/>
          </a:p>
        </p:txBody>
      </p:sp>
      <p:grpSp>
        <p:nvGrpSpPr>
          <p:cNvPr id="14" name="Grouper 13"/>
          <p:cNvGrpSpPr/>
          <p:nvPr/>
        </p:nvGrpSpPr>
        <p:grpSpPr>
          <a:xfrm>
            <a:off x="1371600" y="1295400"/>
            <a:ext cx="7315200" cy="1371600"/>
            <a:chOff x="1371600" y="1295400"/>
            <a:chExt cx="7315200" cy="1371600"/>
          </a:xfrm>
        </p:grpSpPr>
        <p:sp>
          <p:nvSpPr>
            <p:cNvPr id="8" name="Rectangle à coins arrondis 7"/>
            <p:cNvSpPr/>
            <p:nvPr/>
          </p:nvSpPr>
          <p:spPr>
            <a:xfrm>
              <a:off x="1371600" y="1295400"/>
              <a:ext cx="6096000" cy="1371600"/>
            </a:xfrm>
            <a:prstGeom prst="roundRect">
              <a:avLst/>
            </a:prstGeom>
            <a:noFill/>
            <a:ln w="28575" cmpd="sng"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ZoneTexte 8"/>
            <p:cNvSpPr txBox="1"/>
            <p:nvPr/>
          </p:nvSpPr>
          <p:spPr>
            <a:xfrm>
              <a:off x="7614985" y="1535668"/>
              <a:ext cx="107181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rgbClr val="F07F09"/>
                  </a:solidFill>
                </a:rPr>
                <a:t>types </a:t>
              </a:r>
            </a:p>
            <a:p>
              <a:r>
                <a:rPr lang="fr-FR" dirty="0" smtClean="0">
                  <a:solidFill>
                    <a:srgbClr val="F07F09"/>
                  </a:solidFill>
                </a:rPr>
                <a:t>primitifs</a:t>
              </a:r>
            </a:p>
          </p:txBody>
        </p:sp>
      </p:grpSp>
      <p:grpSp>
        <p:nvGrpSpPr>
          <p:cNvPr id="15" name="Grouper 14"/>
          <p:cNvGrpSpPr/>
          <p:nvPr/>
        </p:nvGrpSpPr>
        <p:grpSpPr>
          <a:xfrm>
            <a:off x="1386465" y="2710934"/>
            <a:ext cx="7605135" cy="2546866"/>
            <a:chOff x="1386465" y="2710934"/>
            <a:chExt cx="7605135" cy="2546866"/>
          </a:xfrm>
        </p:grpSpPr>
        <p:sp>
          <p:nvSpPr>
            <p:cNvPr id="10" name="ZoneTexte 9"/>
            <p:cNvSpPr txBox="1"/>
            <p:nvPr/>
          </p:nvSpPr>
          <p:spPr>
            <a:xfrm>
              <a:off x="7482465" y="2710934"/>
              <a:ext cx="150913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5"/>
                  </a:solidFill>
                </a:rPr>
                <a:t>types dérivés </a:t>
              </a:r>
            </a:p>
            <a:p>
              <a:r>
                <a:rPr lang="fr-FR" dirty="0" err="1" smtClean="0">
                  <a:solidFill>
                    <a:schemeClr val="accent5"/>
                  </a:solidFill>
                </a:rPr>
                <a:t>pré-définis</a:t>
              </a:r>
              <a:endParaRPr lang="fr-FR" dirty="0">
                <a:solidFill>
                  <a:schemeClr val="accent5"/>
                </a:solidFill>
              </a:endParaRPr>
            </a:p>
          </p:txBody>
        </p:sp>
        <p:sp>
          <p:nvSpPr>
            <p:cNvPr id="11" name="Rectangle à coins arrondis 10"/>
            <p:cNvSpPr/>
            <p:nvPr/>
          </p:nvSpPr>
          <p:spPr>
            <a:xfrm>
              <a:off x="1386465" y="2743200"/>
              <a:ext cx="6096000" cy="2514600"/>
            </a:xfrm>
            <a:prstGeom prst="roundRect">
              <a:avLst/>
            </a:prstGeom>
            <a:noFill/>
            <a:ln w="28575" cmpd="sng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16" name="Grouper 15"/>
          <p:cNvGrpSpPr/>
          <p:nvPr/>
        </p:nvGrpSpPr>
        <p:grpSpPr>
          <a:xfrm>
            <a:off x="236032" y="649069"/>
            <a:ext cx="8755568" cy="4761131"/>
            <a:chOff x="236032" y="649069"/>
            <a:chExt cx="8755568" cy="4761131"/>
          </a:xfrm>
        </p:grpSpPr>
        <p:sp>
          <p:nvSpPr>
            <p:cNvPr id="12" name="Rectangle à coins arrondis 11"/>
            <p:cNvSpPr/>
            <p:nvPr/>
          </p:nvSpPr>
          <p:spPr>
            <a:xfrm>
              <a:off x="990600" y="1143000"/>
              <a:ext cx="8001000" cy="4267200"/>
            </a:xfrm>
            <a:prstGeom prst="roundRect">
              <a:avLst/>
            </a:prstGeom>
            <a:noFill/>
            <a:ln w="28575" cap="sq" cmpd="sng">
              <a:solidFill>
                <a:schemeClr val="accent3"/>
              </a:solidFill>
            </a:ln>
            <a:effectLst>
              <a:outerShdw blurRad="50800" dist="25400" dir="5400000" rotWithShape="0">
                <a:srgbClr val="000000">
                  <a:alpha val="4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3" name="ZoneTexte 12"/>
            <p:cNvSpPr txBox="1"/>
            <p:nvPr/>
          </p:nvSpPr>
          <p:spPr>
            <a:xfrm>
              <a:off x="236032" y="649069"/>
              <a:ext cx="129960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3"/>
                  </a:solidFill>
                </a:rPr>
                <a:t>types</a:t>
              </a:r>
            </a:p>
            <a:p>
              <a:r>
                <a:rPr lang="fr-FR" dirty="0" err="1" smtClean="0">
                  <a:solidFill>
                    <a:schemeClr val="accent3"/>
                  </a:solidFill>
                </a:rPr>
                <a:t>pré-définis</a:t>
              </a:r>
              <a:endParaRPr lang="fr-FR" dirty="0">
                <a:solidFill>
                  <a:schemeClr val="accent3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Types simples : dérivation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15970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/>
              <a:t>On peut aller plus loin qu'un simple type </a:t>
            </a:r>
            <a:r>
              <a:rPr lang="fr-FR" sz="2000" dirty="0" err="1" smtClean="0">
                <a:sym typeface="Wingdings"/>
              </a:rPr>
              <a:t></a:t>
            </a:r>
            <a:r>
              <a:rPr lang="fr-FR" sz="2000" dirty="0" smtClean="0">
                <a:sym typeface="Wingdings"/>
              </a:rPr>
              <a:t> définition de types dérivés à partir de types </a:t>
            </a:r>
            <a:r>
              <a:rPr lang="fr-FR" sz="2000" dirty="0" err="1" smtClean="0">
                <a:sym typeface="Wingdings"/>
              </a:rPr>
              <a:t>pré(cédemment)-définis</a:t>
            </a:r>
            <a:r>
              <a:rPr lang="fr-FR" sz="2000" dirty="0" smtClean="0">
                <a:sym typeface="Wingdings"/>
              </a:rPr>
              <a:t>. </a:t>
            </a:r>
          </a:p>
          <a:p>
            <a:pPr>
              <a:buNone/>
            </a:pPr>
            <a:endParaRPr lang="fr-FR" sz="2000" dirty="0" smtClean="0">
              <a:sym typeface="Wingdings"/>
            </a:endParaRPr>
          </a:p>
          <a:p>
            <a:pPr algn="ctr">
              <a:buNone/>
            </a:pPr>
            <a:r>
              <a:rPr lang="fr-FR" sz="2000" dirty="0" smtClean="0">
                <a:sym typeface="Wingdings"/>
              </a:rPr>
              <a:t>Dérivation.</a:t>
            </a:r>
          </a:p>
          <a:p>
            <a:pPr algn="ctr">
              <a:buNone/>
            </a:pPr>
            <a:endParaRPr lang="fr-FR" sz="2000" dirty="0" smtClean="0">
              <a:sym typeface="Wingdings"/>
            </a:endParaRPr>
          </a:p>
          <a:p>
            <a:pPr>
              <a:buNone/>
            </a:pPr>
            <a:endParaRPr lang="fr-FR" sz="2000" dirty="0" smtClean="0"/>
          </a:p>
        </p:txBody>
      </p:sp>
      <p:sp>
        <p:nvSpPr>
          <p:cNvPr id="11" name="ZoneTexte 10"/>
          <p:cNvSpPr txBox="1"/>
          <p:nvPr/>
        </p:nvSpPr>
        <p:spPr>
          <a:xfrm>
            <a:off x="762000" y="3886200"/>
            <a:ext cx="1312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Restriction</a:t>
            </a:r>
            <a:endParaRPr lang="fr-FR" dirty="0"/>
          </a:p>
        </p:txBody>
      </p:sp>
      <p:sp>
        <p:nvSpPr>
          <p:cNvPr id="14" name="ZoneTexte 13"/>
          <p:cNvSpPr txBox="1"/>
          <p:nvPr/>
        </p:nvSpPr>
        <p:spPr>
          <a:xfrm>
            <a:off x="4151312" y="3886200"/>
            <a:ext cx="6826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Liste</a:t>
            </a:r>
            <a:endParaRPr lang="fr-FR" dirty="0"/>
          </a:p>
        </p:txBody>
      </p:sp>
      <p:sp>
        <p:nvSpPr>
          <p:cNvPr id="16" name="ZoneTexte 15"/>
          <p:cNvSpPr txBox="1"/>
          <p:nvPr/>
        </p:nvSpPr>
        <p:spPr>
          <a:xfrm>
            <a:off x="6858000" y="3886200"/>
            <a:ext cx="8240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Union</a:t>
            </a:r>
            <a:endParaRPr lang="fr-FR" dirty="0"/>
          </a:p>
        </p:txBody>
      </p:sp>
      <p:cxnSp>
        <p:nvCxnSpPr>
          <p:cNvPr id="19" name="Connecteur droit avec flèche 18"/>
          <p:cNvCxnSpPr>
            <a:endCxn id="11" idx="0"/>
          </p:cNvCxnSpPr>
          <p:nvPr/>
        </p:nvCxnSpPr>
        <p:spPr>
          <a:xfrm rot="10800000" flipV="1">
            <a:off x="1418396" y="3124200"/>
            <a:ext cx="2732918" cy="7620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/>
          <p:cNvCxnSpPr/>
          <p:nvPr/>
        </p:nvCxnSpPr>
        <p:spPr>
          <a:xfrm rot="5400000">
            <a:off x="4114006" y="3505200"/>
            <a:ext cx="762000" cy="1588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avec flèche 22"/>
          <p:cNvCxnSpPr/>
          <p:nvPr/>
        </p:nvCxnSpPr>
        <p:spPr>
          <a:xfrm>
            <a:off x="4833936" y="3124994"/>
            <a:ext cx="2405064" cy="761206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/>
              <a:t>A partir de </a:t>
            </a:r>
            <a:r>
              <a:rPr lang="fr-FR" sz="2000" i="1" dirty="0" err="1" smtClean="0"/>
              <a:t>constraining</a:t>
            </a:r>
            <a:r>
              <a:rPr lang="fr-FR" sz="2000" i="1" dirty="0" smtClean="0">
                <a:solidFill>
                  <a:schemeClr val="accent1"/>
                </a:solidFill>
              </a:rPr>
              <a:t> </a:t>
            </a:r>
            <a:r>
              <a:rPr lang="fr-FR" sz="2000" i="1" dirty="0" err="1" smtClean="0"/>
              <a:t>facets</a:t>
            </a:r>
            <a:r>
              <a:rPr lang="fr-FR" sz="2000" dirty="0" smtClean="0"/>
              <a:t> posant des conditions sur les valeurs.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Dérivation par restriction :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one-hundred-or-less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xs:integer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xs:maxInclusive</a:t>
            </a:r>
            <a:r>
              <a:rPr lang="fr-FR" sz="2000" dirty="0" smtClean="0">
                <a:latin typeface="Arial Unicode MS"/>
                <a:cs typeface="Arial Unicode MS"/>
              </a:rPr>
              <a:t> value='100'/&gt;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  <a:endParaRPr lang="fr-FR" sz="2000" dirty="0">
              <a:latin typeface="Arial Unicode MS"/>
              <a:cs typeface="Arial Unicode MS"/>
            </a:endParaRPr>
          </a:p>
        </p:txBody>
      </p:sp>
      <p:grpSp>
        <p:nvGrpSpPr>
          <p:cNvPr id="6" name="Grouper 20"/>
          <p:cNvGrpSpPr/>
          <p:nvPr/>
        </p:nvGrpSpPr>
        <p:grpSpPr>
          <a:xfrm>
            <a:off x="929953" y="3039070"/>
            <a:ext cx="8366447" cy="2862323"/>
            <a:chOff x="685800" y="3039070"/>
            <a:chExt cx="8366447" cy="2862323"/>
          </a:xfrm>
        </p:grpSpPr>
        <p:sp>
          <p:nvSpPr>
            <p:cNvPr id="13" name="Rectangle à coins arrondis 12"/>
            <p:cNvSpPr/>
            <p:nvPr/>
          </p:nvSpPr>
          <p:spPr>
            <a:xfrm>
              <a:off x="685800" y="3352800"/>
              <a:ext cx="3124200" cy="454152"/>
            </a:xfrm>
            <a:prstGeom prst="roundRect">
              <a:avLst/>
            </a:prstGeom>
            <a:noFill/>
            <a:ln w="28575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5029200" y="3039070"/>
              <a:ext cx="4023047" cy="286232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fr-FR" i="1" dirty="0" err="1" smtClean="0">
                  <a:solidFill>
                    <a:schemeClr val="accent1"/>
                  </a:solidFill>
                </a:rPr>
                <a:t>constraining</a:t>
              </a:r>
              <a:r>
                <a:rPr lang="fr-FR" i="1" dirty="0" smtClean="0">
                  <a:solidFill>
                    <a:schemeClr val="accent1"/>
                  </a:solidFill>
                </a:rPr>
                <a:t> </a:t>
              </a:r>
              <a:r>
                <a:rPr lang="fr-FR" i="1" dirty="0" err="1" smtClean="0">
                  <a:solidFill>
                    <a:schemeClr val="accent1"/>
                  </a:solidFill>
                </a:rPr>
                <a:t>facet</a:t>
              </a:r>
              <a:r>
                <a:rPr lang="fr-FR" dirty="0" smtClean="0">
                  <a:solidFill>
                    <a:schemeClr val="accent1"/>
                  </a:solidFill>
                </a:rPr>
                <a:t>.</a:t>
              </a:r>
            </a:p>
            <a:p>
              <a:r>
                <a:rPr lang="fr-FR" dirty="0" smtClean="0">
                  <a:solidFill>
                    <a:schemeClr val="accent1"/>
                  </a:solidFill>
                </a:rPr>
                <a:t>Autres possibles pour le type </a:t>
              </a:r>
              <a:r>
                <a:rPr lang="fr-FR" dirty="0" err="1" smtClean="0">
                  <a:solidFill>
                    <a:schemeClr val="accent1"/>
                  </a:solidFill>
                </a:rPr>
                <a:t>integer</a:t>
              </a:r>
              <a:r>
                <a:rPr lang="fr-FR" dirty="0" smtClean="0">
                  <a:solidFill>
                    <a:schemeClr val="accent1"/>
                  </a:solidFill>
                </a:rPr>
                <a:t> :</a:t>
              </a:r>
            </a:p>
            <a:p>
              <a:r>
                <a:rPr lang="fr-FR" dirty="0" err="1" smtClean="0">
                  <a:solidFill>
                    <a:schemeClr val="accent1"/>
                  </a:solidFill>
                </a:rPr>
                <a:t>totalDigits</a:t>
              </a:r>
              <a:endParaRPr lang="fr-FR" dirty="0" smtClean="0">
                <a:solidFill>
                  <a:schemeClr val="accent1"/>
                </a:solidFill>
              </a:endParaRPr>
            </a:p>
            <a:p>
              <a:r>
                <a:rPr lang="fr-FR" dirty="0" err="1" smtClean="0">
                  <a:solidFill>
                    <a:schemeClr val="accent1"/>
                  </a:solidFill>
                </a:rPr>
                <a:t>fractionDigits</a:t>
              </a:r>
              <a:endParaRPr lang="fr-FR" dirty="0" smtClean="0">
                <a:solidFill>
                  <a:schemeClr val="accent1"/>
                </a:solidFill>
              </a:endParaRPr>
            </a:p>
            <a:p>
              <a:r>
                <a:rPr lang="fr-FR" dirty="0" smtClean="0">
                  <a:solidFill>
                    <a:schemeClr val="accent1"/>
                  </a:solidFill>
                </a:rPr>
                <a:t>pattern</a:t>
              </a:r>
            </a:p>
            <a:p>
              <a:r>
                <a:rPr lang="fr-FR" dirty="0" err="1" smtClean="0">
                  <a:solidFill>
                    <a:schemeClr val="accent1"/>
                  </a:solidFill>
                </a:rPr>
                <a:t>whiteSpace</a:t>
              </a:r>
              <a:endParaRPr lang="fr-FR" dirty="0" smtClean="0">
                <a:solidFill>
                  <a:schemeClr val="accent1"/>
                </a:solidFill>
              </a:endParaRPr>
            </a:p>
            <a:p>
              <a:r>
                <a:rPr lang="fr-FR" dirty="0" err="1" smtClean="0">
                  <a:solidFill>
                    <a:schemeClr val="accent1"/>
                  </a:solidFill>
                </a:rPr>
                <a:t>enumeration</a:t>
              </a:r>
              <a:endParaRPr lang="fr-FR" dirty="0" smtClean="0">
                <a:solidFill>
                  <a:schemeClr val="accent1"/>
                </a:solidFill>
              </a:endParaRPr>
            </a:p>
            <a:p>
              <a:r>
                <a:rPr lang="fr-FR" dirty="0" err="1" smtClean="0">
                  <a:solidFill>
                    <a:schemeClr val="accent1"/>
                  </a:solidFill>
                </a:rPr>
                <a:t>maxExclusive</a:t>
              </a:r>
              <a:endParaRPr lang="fr-FR" dirty="0" smtClean="0">
                <a:solidFill>
                  <a:schemeClr val="accent1"/>
                </a:solidFill>
              </a:endParaRPr>
            </a:p>
            <a:p>
              <a:r>
                <a:rPr lang="fr-FR" dirty="0" err="1" smtClean="0">
                  <a:solidFill>
                    <a:schemeClr val="accent1"/>
                  </a:solidFill>
                </a:rPr>
                <a:t>minInclusive</a:t>
              </a:r>
              <a:endParaRPr lang="fr-FR" dirty="0" smtClean="0">
                <a:solidFill>
                  <a:schemeClr val="accent1"/>
                </a:solidFill>
              </a:endParaRPr>
            </a:p>
            <a:p>
              <a:r>
                <a:rPr lang="fr-FR" dirty="0" err="1" smtClean="0">
                  <a:solidFill>
                    <a:schemeClr val="accent1"/>
                  </a:solidFill>
                </a:rPr>
                <a:t>minExclusive</a:t>
              </a:r>
              <a:endParaRPr lang="fr-FR" dirty="0" smtClean="0">
                <a:solidFill>
                  <a:schemeClr val="accent1"/>
                </a:solidFill>
              </a:endParaRPr>
            </a:p>
          </p:txBody>
        </p:sp>
        <p:cxnSp>
          <p:nvCxnSpPr>
            <p:cNvPr id="17" name="Connecteur droit avec flèche 16"/>
            <p:cNvCxnSpPr/>
            <p:nvPr/>
          </p:nvCxnSpPr>
          <p:spPr>
            <a:xfrm rot="10800000">
              <a:off x="3810002" y="3429000"/>
              <a:ext cx="1175265" cy="1588"/>
            </a:xfrm>
            <a:prstGeom prst="straightConnector1">
              <a:avLst/>
            </a:prstGeom>
            <a:ln w="38100" cmpd="sng">
              <a:solidFill>
                <a:schemeClr val="accent1"/>
              </a:solidFill>
              <a:prstDash val="soli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Rectangle 7"/>
          <p:cNvSpPr/>
          <p:nvPr/>
        </p:nvSpPr>
        <p:spPr>
          <a:xfrm>
            <a:off x="258762" y="5754469"/>
            <a:ext cx="69040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smtClean="0">
                <a:latin typeface="Arial Unicode MS"/>
                <a:cs typeface="Arial Unicode MS"/>
              </a:rPr>
              <a:t>…</a:t>
            </a:r>
          </a:p>
          <a:p>
            <a:pPr>
              <a:buNone/>
            </a:pPr>
            <a:r>
              <a:rPr lang="fr-FR" dirty="0" smtClean="0">
                <a:latin typeface="Arial Unicode MS"/>
                <a:cs typeface="Arial Unicode MS"/>
              </a:rPr>
              <a:t>&lt;</a:t>
            </a:r>
            <a:r>
              <a:rPr lang="fr-FR" dirty="0" err="1" smtClean="0">
                <a:latin typeface="Arial Unicode MS"/>
                <a:cs typeface="Arial Unicode MS"/>
              </a:rPr>
              <a:t>xs:element</a:t>
            </a:r>
            <a:r>
              <a:rPr lang="fr-FR" dirty="0" smtClean="0">
                <a:latin typeface="Arial Unicode MS"/>
                <a:cs typeface="Arial Unicode MS"/>
              </a:rPr>
              <a:t> </a:t>
            </a:r>
            <a:r>
              <a:rPr lang="fr-FR" dirty="0" err="1" smtClean="0">
                <a:latin typeface="Arial Unicode MS"/>
                <a:cs typeface="Arial Unicode MS"/>
              </a:rPr>
              <a:t>name</a:t>
            </a:r>
            <a:r>
              <a:rPr lang="fr-FR" dirty="0" smtClean="0">
                <a:latin typeface="Arial Unicode MS"/>
                <a:cs typeface="Arial Unicode MS"/>
              </a:rPr>
              <a:t>="</a:t>
            </a:r>
            <a:r>
              <a:rPr lang="fr-FR" dirty="0" err="1" smtClean="0">
                <a:latin typeface="Arial Unicode MS"/>
                <a:cs typeface="Arial Unicode MS"/>
              </a:rPr>
              <a:t>UE_NFA</a:t>
            </a:r>
            <a:r>
              <a:rPr lang="fr-FR" dirty="0" smtClean="0">
                <a:latin typeface="Arial Unicode MS"/>
                <a:cs typeface="Arial Unicode MS"/>
              </a:rPr>
              <a:t>" type="</a:t>
            </a:r>
            <a:r>
              <a:rPr lang="fr-FR" dirty="0" err="1" smtClean="0">
                <a:latin typeface="Arial Unicode MS"/>
                <a:cs typeface="Arial Unicode MS"/>
              </a:rPr>
              <a:t>one-hundred-or-less</a:t>
            </a:r>
            <a:r>
              <a:rPr lang="fr-FR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dirty="0" smtClean="0">
                <a:latin typeface="Arial Unicode MS"/>
                <a:cs typeface="Arial Unicode MS"/>
              </a:rPr>
              <a:t>…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/>
              <a:t>A partir de </a:t>
            </a:r>
            <a:r>
              <a:rPr lang="fr-FR" sz="2000" i="1" dirty="0" err="1" smtClean="0"/>
              <a:t>constraining</a:t>
            </a:r>
            <a:r>
              <a:rPr lang="fr-FR" sz="2000" i="1" dirty="0" smtClean="0">
                <a:solidFill>
                  <a:schemeClr val="accent1"/>
                </a:solidFill>
              </a:rPr>
              <a:t> </a:t>
            </a:r>
            <a:r>
              <a:rPr lang="fr-FR" sz="2000" i="1" dirty="0" err="1" smtClean="0"/>
              <a:t>facets</a:t>
            </a:r>
            <a:r>
              <a:rPr lang="fr-FR" sz="2000" i="1" dirty="0" smtClean="0"/>
              <a:t> </a:t>
            </a:r>
            <a:r>
              <a:rPr lang="fr-FR" sz="2000" dirty="0" smtClean="0"/>
              <a:t>posant des conditions sur les valeurs..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Dérivation par restriction :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CodeIntern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xs:pattern</a:t>
            </a:r>
            <a:r>
              <a:rPr lang="fr-FR" sz="2000" dirty="0" smtClean="0">
                <a:latin typeface="Arial Unicode MS"/>
                <a:cs typeface="Arial Unicode MS"/>
              </a:rPr>
              <a:t> value='\c{3}-[A-Z]{2}'/&gt;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  <a:endParaRPr lang="fr-FR" sz="2000" dirty="0">
              <a:latin typeface="Arial Unicode MS"/>
              <a:cs typeface="Arial Unicode MS"/>
            </a:endParaRPr>
          </a:p>
        </p:txBody>
      </p:sp>
      <p:grpSp>
        <p:nvGrpSpPr>
          <p:cNvPr id="21" name="Grouper 20"/>
          <p:cNvGrpSpPr/>
          <p:nvPr/>
        </p:nvGrpSpPr>
        <p:grpSpPr>
          <a:xfrm>
            <a:off x="685800" y="3168134"/>
            <a:ext cx="7315200" cy="638818"/>
            <a:chOff x="685800" y="3168134"/>
            <a:chExt cx="6484621" cy="638818"/>
          </a:xfrm>
        </p:grpSpPr>
        <p:sp>
          <p:nvSpPr>
            <p:cNvPr id="13" name="Rectangle à coins arrondis 12"/>
            <p:cNvSpPr/>
            <p:nvPr/>
          </p:nvSpPr>
          <p:spPr>
            <a:xfrm>
              <a:off x="685800" y="3352800"/>
              <a:ext cx="3657600" cy="454152"/>
            </a:xfrm>
            <a:prstGeom prst="roundRect">
              <a:avLst/>
            </a:prstGeom>
            <a:noFill/>
            <a:ln w="28575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5" name="ZoneTexte 14"/>
            <p:cNvSpPr txBox="1"/>
            <p:nvPr/>
          </p:nvSpPr>
          <p:spPr>
            <a:xfrm>
              <a:off x="5029200" y="3168134"/>
              <a:ext cx="214122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fr-FR" i="1" dirty="0" err="1" smtClean="0">
                  <a:solidFill>
                    <a:schemeClr val="accent1"/>
                  </a:solidFill>
                </a:rPr>
                <a:t>constraining</a:t>
              </a:r>
              <a:r>
                <a:rPr lang="fr-FR" i="1" dirty="0" smtClean="0">
                  <a:solidFill>
                    <a:schemeClr val="accent1"/>
                  </a:solidFill>
                </a:rPr>
                <a:t> </a:t>
              </a:r>
              <a:r>
                <a:rPr lang="fr-FR" i="1" dirty="0" err="1" smtClean="0">
                  <a:solidFill>
                    <a:schemeClr val="accent1"/>
                  </a:solidFill>
                </a:rPr>
                <a:t>facet</a:t>
              </a:r>
              <a:r>
                <a:rPr lang="fr-FR" dirty="0" smtClean="0">
                  <a:solidFill>
                    <a:schemeClr val="accent1"/>
                  </a:solidFill>
                </a:rPr>
                <a:t>.</a:t>
              </a:r>
            </a:p>
          </p:txBody>
        </p:sp>
        <p:cxnSp>
          <p:nvCxnSpPr>
            <p:cNvPr id="17" name="Connecteur droit avec flèche 16"/>
            <p:cNvCxnSpPr/>
            <p:nvPr/>
          </p:nvCxnSpPr>
          <p:spPr>
            <a:xfrm rot="10800000">
              <a:off x="4343400" y="3429000"/>
              <a:ext cx="641868" cy="1588"/>
            </a:xfrm>
            <a:prstGeom prst="straightConnector1">
              <a:avLst/>
            </a:prstGeom>
            <a:ln w="38100" cmpd="sng">
              <a:solidFill>
                <a:schemeClr val="accent1"/>
              </a:solidFill>
              <a:prstDash val="solid"/>
              <a:tailEnd type="arrow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5564704" cy="48836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err="1" smtClean="0"/>
              <a:t>C</a:t>
            </a:r>
            <a:r>
              <a:rPr lang="fr-FR" sz="2000" dirty="0" smtClean="0"/>
              <a:t>ontraindre l'espace des valeurs du type</a:t>
            </a:r>
          </a:p>
          <a:p>
            <a:pPr>
              <a:buNone/>
            </a:pPr>
            <a:endParaRPr lang="fr-FR" sz="2000" dirty="0" smtClean="0"/>
          </a:p>
          <a:p>
            <a:r>
              <a:rPr lang="fr-FR" sz="2000" dirty="0" err="1" smtClean="0"/>
              <a:t>length</a:t>
            </a:r>
            <a:endParaRPr lang="fr-FR" sz="2000" dirty="0" smtClean="0"/>
          </a:p>
          <a:p>
            <a:r>
              <a:rPr lang="fr-FR" sz="2000" dirty="0" err="1" smtClean="0"/>
              <a:t>minLength</a:t>
            </a:r>
            <a:endParaRPr lang="fr-FR" sz="2000" dirty="0" smtClean="0"/>
          </a:p>
          <a:p>
            <a:r>
              <a:rPr lang="fr-FR" sz="2000" dirty="0" err="1" smtClean="0"/>
              <a:t>maxLength</a:t>
            </a:r>
            <a:endParaRPr lang="fr-FR" sz="2000" dirty="0" smtClean="0"/>
          </a:p>
          <a:p>
            <a:r>
              <a:rPr lang="fr-FR" sz="2000" dirty="0" smtClean="0"/>
              <a:t>pattern</a:t>
            </a:r>
          </a:p>
          <a:p>
            <a:r>
              <a:rPr lang="fr-FR" sz="2000" dirty="0" err="1" smtClean="0"/>
              <a:t>enumeration</a:t>
            </a:r>
            <a:endParaRPr lang="fr-FR" sz="2000" dirty="0" smtClean="0"/>
          </a:p>
          <a:p>
            <a:r>
              <a:rPr lang="fr-FR" sz="2000" dirty="0" err="1" smtClean="0"/>
              <a:t>whiteSpace</a:t>
            </a:r>
            <a:endParaRPr lang="fr-FR" sz="2000" dirty="0" smtClean="0"/>
          </a:p>
          <a:p>
            <a:r>
              <a:rPr lang="fr-FR" sz="2000" dirty="0" err="1" smtClean="0"/>
              <a:t>maxInclusive</a:t>
            </a:r>
            <a:endParaRPr lang="fr-FR" sz="2000" dirty="0" smtClean="0"/>
          </a:p>
          <a:p>
            <a:r>
              <a:rPr lang="fr-FR" sz="2000" dirty="0" err="1" smtClean="0"/>
              <a:t>maxExclusive</a:t>
            </a:r>
            <a:endParaRPr lang="fr-FR" sz="2000" dirty="0" smtClean="0"/>
          </a:p>
          <a:p>
            <a:r>
              <a:rPr lang="fr-FR" sz="2000" dirty="0" err="1" smtClean="0"/>
              <a:t>minExclusive</a:t>
            </a:r>
            <a:endParaRPr lang="fr-FR" sz="2000" dirty="0" smtClean="0"/>
          </a:p>
          <a:p>
            <a:r>
              <a:rPr lang="fr-FR" sz="2000" dirty="0" err="1" smtClean="0"/>
              <a:t>minInclusive</a:t>
            </a:r>
            <a:endParaRPr lang="fr-FR" sz="2000" dirty="0" smtClean="0"/>
          </a:p>
          <a:p>
            <a:r>
              <a:rPr lang="fr-FR" sz="2000" dirty="0" err="1" smtClean="0"/>
              <a:t>totalDigits</a:t>
            </a:r>
            <a:endParaRPr lang="fr-FR" sz="2000" dirty="0" smtClean="0"/>
          </a:p>
        </p:txBody>
      </p:sp>
      <p:sp>
        <p:nvSpPr>
          <p:cNvPr id="8" name="Espace réservé du contenu 4"/>
          <p:cNvSpPr>
            <a:spLocks noGrp="1"/>
          </p:cNvSpPr>
          <p:nvPr>
            <p:ph sz="quarter" idx="4294967295"/>
          </p:nvPr>
        </p:nvSpPr>
        <p:spPr>
          <a:xfrm>
            <a:off x="5108575" y="3048000"/>
            <a:ext cx="4035425" cy="331311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1600"/>
              <a:t>Un seul "jeu" de facettes interprétées différemment selon le type auquel la facette est appliquée.</a:t>
            </a:r>
          </a:p>
          <a:p>
            <a:pPr>
              <a:buNone/>
            </a:pPr>
            <a:endParaRPr lang="fr-FR" sz="1600"/>
          </a:p>
          <a:p>
            <a:pPr>
              <a:buNone/>
            </a:pPr>
            <a:r>
              <a:rPr lang="fr-FR" sz="1600"/>
              <a:t>Par exemple, </a:t>
            </a:r>
            <a:r>
              <a:rPr lang="fr-FR" sz="1600" i="1"/>
              <a:t>length </a:t>
            </a:r>
            <a:r>
              <a:rPr lang="fr-FR" sz="1600"/>
              <a:t>contraint :</a:t>
            </a:r>
          </a:p>
          <a:p>
            <a:r>
              <a:rPr lang="fr-FR" sz="1600"/>
              <a:t>le nombre de caractères d'un élément </a:t>
            </a:r>
            <a:r>
              <a:rPr lang="fr-FR" sz="1600" i="1"/>
              <a:t>string</a:t>
            </a:r>
          </a:p>
          <a:p>
            <a:r>
              <a:rPr lang="fr-FR" sz="1600"/>
              <a:t>le nombre d'octets d'un </a:t>
            </a:r>
            <a:r>
              <a:rPr lang="fr-FR" sz="1600" i="1"/>
              <a:t>hexBinary</a:t>
            </a:r>
          </a:p>
          <a:p>
            <a:r>
              <a:rPr lang="fr-FR" sz="1600"/>
              <a:t>le nombre d'éléments d'une </a:t>
            </a:r>
            <a:r>
              <a:rPr lang="fr-FR" sz="1600" i="1"/>
              <a:t>séquence</a:t>
            </a:r>
          </a:p>
          <a:p>
            <a:endParaRPr lang="fr-FR" sz="1600" i="1"/>
          </a:p>
          <a:p>
            <a:pPr>
              <a:buNone/>
            </a:pPr>
            <a:r>
              <a:rPr lang="fr-FR" sz="1200" i="1"/>
              <a:t>http://www.w3.org/TR/xmlschema-2/#rf-length</a:t>
            </a:r>
          </a:p>
        </p:txBody>
      </p:sp>
      <p:sp>
        <p:nvSpPr>
          <p:cNvPr id="6" name="ZoneTexte 5"/>
          <p:cNvSpPr txBox="1"/>
          <p:nvPr/>
        </p:nvSpPr>
        <p:spPr>
          <a:xfrm>
            <a:off x="5638800" y="17526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err="1" smtClean="0"/>
              <a:t>lenght</a:t>
            </a:r>
            <a:endParaRPr lang="fr-FR" sz="2000" i="1" dirty="0" smtClean="0"/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productCode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xs:length</a:t>
            </a:r>
            <a:r>
              <a:rPr lang="fr-FR" sz="2000" dirty="0" smtClean="0">
                <a:latin typeface="Arial Unicode MS"/>
                <a:cs typeface="Arial Unicode MS"/>
              </a:rPr>
              <a:t> value='8' 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 lnSpcReduction="10000"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err="1" smtClean="0"/>
              <a:t>minLenght</a:t>
            </a:r>
            <a:r>
              <a:rPr lang="fr-FR" sz="2000" i="1" dirty="0" smtClean="0"/>
              <a:t> </a:t>
            </a:r>
            <a:r>
              <a:rPr lang="fr-FR" sz="2000" dirty="0" smtClean="0"/>
              <a:t>et </a:t>
            </a:r>
            <a:r>
              <a:rPr lang="fr-FR" sz="2000" i="1" dirty="0" err="1" smtClean="0"/>
              <a:t>maxLenght</a:t>
            </a:r>
            <a:endParaRPr lang="fr-FR" sz="2000" i="1" dirty="0" smtClean="0"/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non-empty-string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xs:minLength</a:t>
            </a:r>
            <a:r>
              <a:rPr lang="fr-FR" sz="2000" dirty="0" smtClean="0">
                <a:latin typeface="Arial Unicode MS"/>
                <a:cs typeface="Arial Unicode MS"/>
              </a:rPr>
              <a:t> value='1'/&gt;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2000" dirty="0" smtClean="0"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form-input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xs:maxLength</a:t>
            </a:r>
            <a:r>
              <a:rPr lang="fr-FR" sz="2000" dirty="0" smtClean="0">
                <a:latin typeface="Arial Unicode MS"/>
                <a:cs typeface="Arial Unicode MS"/>
              </a:rPr>
              <a:t> value='50'/&gt;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</a:t>
            </a:r>
            <a:r>
              <a:rPr lang="fr-FR" sz="2000" dirty="0" smtClean="0">
                <a:latin typeface="Arial Unicode MS"/>
                <a:cs typeface="Arial Unicode MS"/>
              </a:rPr>
              <a:t>:/restriction&gt;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04238" cy="4572000"/>
          </a:xfrm>
        </p:spPr>
        <p:txBody>
          <a:bodyPr>
            <a:normAutofit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smtClean="0"/>
              <a:t>pattern</a:t>
            </a:r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better-us-zipcode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xs:pattern</a:t>
            </a:r>
            <a:r>
              <a:rPr lang="fr-FR" sz="2000" dirty="0" smtClean="0">
                <a:latin typeface="Arial Unicode MS"/>
                <a:cs typeface="Arial Unicode MS"/>
              </a:rPr>
              <a:t> value='[0-9]{5}(-[0-9]{4})?'/&gt;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5"/>
            <a:ext cx="8577390" cy="3959226"/>
          </a:xfrm>
        </p:spPr>
        <p:txBody>
          <a:bodyPr>
            <a:normAutofit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err="1" smtClean="0"/>
              <a:t>enumeration</a:t>
            </a:r>
            <a:endParaRPr lang="fr-FR" sz="2000" i="1" dirty="0" smtClean="0"/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holidays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	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xs:gMonthDay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xs:enumeration</a:t>
            </a:r>
            <a:r>
              <a:rPr lang="fr-FR" sz="2000" dirty="0" smtClean="0">
                <a:latin typeface="Arial Unicode MS"/>
                <a:cs typeface="Arial Unicode MS"/>
              </a:rPr>
              <a:t> value='--01-01'&gt; &lt;/</a:t>
            </a:r>
            <a:r>
              <a:rPr lang="fr-FR" sz="2000" dirty="0" err="1" smtClean="0">
                <a:latin typeface="Arial Unicode MS"/>
                <a:cs typeface="Arial Unicode MS"/>
              </a:rPr>
              <a:t>xs:enumeration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xs:enumeration</a:t>
            </a:r>
            <a:r>
              <a:rPr lang="fr-FR" sz="2000" dirty="0" smtClean="0">
                <a:latin typeface="Arial Unicode MS"/>
                <a:cs typeface="Arial Unicode MS"/>
              </a:rPr>
              <a:t> value='--07-04'&gt; &lt;/</a:t>
            </a:r>
            <a:r>
              <a:rPr lang="fr-FR" sz="2000" dirty="0" err="1" smtClean="0">
                <a:latin typeface="Arial Unicode MS"/>
                <a:cs typeface="Arial Unicode MS"/>
              </a:rPr>
              <a:t>xs:enumeration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xs:enumeration</a:t>
            </a:r>
            <a:r>
              <a:rPr lang="fr-FR" sz="2000" dirty="0" smtClean="0">
                <a:latin typeface="Arial Unicode MS"/>
                <a:cs typeface="Arial Unicode MS"/>
              </a:rPr>
              <a:t> value='--12-25'&gt; &lt;/</a:t>
            </a:r>
            <a:r>
              <a:rPr lang="fr-FR" sz="2000" dirty="0" err="1" smtClean="0">
                <a:latin typeface="Arial Unicode MS"/>
                <a:cs typeface="Arial Unicode MS"/>
              </a:rPr>
              <a:t>xs:enumeration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	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</a:t>
            </a:r>
            <a:r>
              <a:rPr lang="fr-FR" sz="2800" dirty="0" smtClean="0"/>
              <a:t> simples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err="1" smtClean="0"/>
              <a:t>whitespace</a:t>
            </a:r>
            <a:endParaRPr lang="fr-FR" sz="2000" i="1" dirty="0" smtClean="0"/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token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xs:normalizedString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xs:whiteSpace</a:t>
            </a:r>
            <a:r>
              <a:rPr lang="fr-FR" sz="2000" dirty="0" smtClean="0">
                <a:latin typeface="Arial Unicode MS"/>
                <a:cs typeface="Arial Unicode MS"/>
              </a:rPr>
              <a:t> value='</a:t>
            </a:r>
            <a:r>
              <a:rPr lang="fr-FR" sz="2000" dirty="0" err="1" smtClean="0">
                <a:latin typeface="Arial Unicode MS"/>
                <a:cs typeface="Arial Unicode MS"/>
              </a:rPr>
              <a:t>xs:collapse</a:t>
            </a:r>
            <a:r>
              <a:rPr lang="fr-FR" sz="2000" dirty="0" smtClean="0">
                <a:latin typeface="Arial Unicode MS"/>
                <a:cs typeface="Arial Unicode MS"/>
              </a:rPr>
              <a:t>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  <p:grpSp>
        <p:nvGrpSpPr>
          <p:cNvPr id="7" name="Grouper 6"/>
          <p:cNvGrpSpPr/>
          <p:nvPr/>
        </p:nvGrpSpPr>
        <p:grpSpPr>
          <a:xfrm>
            <a:off x="5153599" y="2971800"/>
            <a:ext cx="3782197" cy="923330"/>
            <a:chOff x="6324600" y="4234934"/>
            <a:chExt cx="3782197" cy="923330"/>
          </a:xfrm>
        </p:grpSpPr>
        <p:cxnSp>
          <p:nvCxnSpPr>
            <p:cNvPr id="8" name="Connecteur droit avec flèche 7"/>
            <p:cNvCxnSpPr/>
            <p:nvPr/>
          </p:nvCxnSpPr>
          <p:spPr>
            <a:xfrm rot="10800000">
              <a:off x="6324600" y="4419600"/>
              <a:ext cx="9328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ZoneTexte 8"/>
            <p:cNvSpPr txBox="1"/>
            <p:nvPr/>
          </p:nvSpPr>
          <p:spPr>
            <a:xfrm>
              <a:off x="7257414" y="4234934"/>
              <a:ext cx="2849383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  <a:latin typeface="Arial Narrow"/>
                  <a:cs typeface="Arial Narrow"/>
                </a:rPr>
                <a:t>Indication pour le processeur</a:t>
              </a:r>
            </a:p>
            <a:p>
              <a:r>
                <a:rPr lang="fr-FR">
                  <a:solidFill>
                    <a:schemeClr val="accent1"/>
                  </a:solidFill>
                  <a:latin typeface="Arial Narrow"/>
                  <a:cs typeface="Arial Narrow"/>
                </a:rPr>
                <a:t>qui traitera les éléments</a:t>
              </a:r>
            </a:p>
            <a:p>
              <a:r>
                <a:rPr lang="fr-FR">
                  <a:solidFill>
                    <a:schemeClr val="accent1"/>
                  </a:solidFill>
                  <a:latin typeface="Arial Narrow"/>
                  <a:cs typeface="Arial Narrow"/>
                  <a:sym typeface="Wingdings"/>
                </a:rPr>
                <a:t> pas vraiment du "schéma"…</a:t>
              </a:r>
              <a:endParaRPr lang="fr-FR">
                <a:solidFill>
                  <a:schemeClr val="accent1"/>
                </a:solidFill>
                <a:latin typeface="Arial Narrow"/>
                <a:cs typeface="Arial Narrow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2800" dirty="0" smtClean="0"/>
              <a:t>Types </a:t>
            </a:r>
            <a:r>
              <a:rPr lang="fr-FR" sz="3200" dirty="0" smtClean="0"/>
              <a:t>simples</a:t>
            </a:r>
            <a:r>
              <a:rPr lang="fr-FR" sz="2800" dirty="0" smtClean="0"/>
              <a:t> : dérivation par restriction</a:t>
            </a:r>
            <a:endParaRPr lang="fr-FR" sz="28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err="1" smtClean="0"/>
              <a:t>maxEclusive</a:t>
            </a:r>
            <a:endParaRPr lang="fr-FR" sz="2000" i="1" dirty="0" smtClean="0"/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less-than-one-hundred-and-one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xs:integer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xs:maxExclusive</a:t>
            </a:r>
            <a:r>
              <a:rPr lang="fr-FR" sz="2000" dirty="0" smtClean="0">
                <a:latin typeface="Arial Unicode MS"/>
                <a:cs typeface="Arial Unicode MS"/>
              </a:rPr>
              <a:t> value='101'/&gt;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  <p:grpSp>
        <p:nvGrpSpPr>
          <p:cNvPr id="6" name="Grouper 5"/>
          <p:cNvGrpSpPr/>
          <p:nvPr/>
        </p:nvGrpSpPr>
        <p:grpSpPr>
          <a:xfrm>
            <a:off x="4433501" y="2971800"/>
            <a:ext cx="3640519" cy="369332"/>
            <a:chOff x="6324600" y="4234934"/>
            <a:chExt cx="3640519" cy="369332"/>
          </a:xfrm>
        </p:grpSpPr>
        <p:cxnSp>
          <p:nvCxnSpPr>
            <p:cNvPr id="7" name="Connecteur droit avec flèche 6"/>
            <p:cNvCxnSpPr/>
            <p:nvPr/>
          </p:nvCxnSpPr>
          <p:spPr>
            <a:xfrm rot="10800000">
              <a:off x="6324600" y="4419600"/>
              <a:ext cx="9328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/>
            <p:cNvSpPr txBox="1"/>
            <p:nvPr/>
          </p:nvSpPr>
          <p:spPr>
            <a:xfrm>
              <a:off x="7257414" y="4234934"/>
              <a:ext cx="270770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  <a:latin typeface="Arial Narrow"/>
                  <a:cs typeface="Arial Narrow"/>
                </a:rPr>
                <a:t>"la valeur max est 101 exclus"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simples : dérivation par restriction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err="1" smtClean="0"/>
              <a:t>minInclusive</a:t>
            </a:r>
            <a:endParaRPr lang="fr-FR" sz="2000" i="1" dirty="0" smtClean="0"/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one-hundred-or-more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xs:integer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xs:minInclusive</a:t>
            </a:r>
            <a:r>
              <a:rPr lang="fr-FR" sz="2000" dirty="0" smtClean="0">
                <a:latin typeface="Arial Unicode MS"/>
                <a:cs typeface="Arial Unicode MS"/>
              </a:rPr>
              <a:t> value='100'/&gt;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  <p:grpSp>
        <p:nvGrpSpPr>
          <p:cNvPr id="6" name="Grouper 5"/>
          <p:cNvGrpSpPr/>
          <p:nvPr/>
        </p:nvGrpSpPr>
        <p:grpSpPr>
          <a:xfrm>
            <a:off x="4433501" y="2971800"/>
            <a:ext cx="3535247" cy="369332"/>
            <a:chOff x="6324600" y="4234934"/>
            <a:chExt cx="3535247" cy="369332"/>
          </a:xfrm>
        </p:grpSpPr>
        <p:cxnSp>
          <p:nvCxnSpPr>
            <p:cNvPr id="7" name="Connecteur droit avec flèche 6"/>
            <p:cNvCxnSpPr/>
            <p:nvPr/>
          </p:nvCxnSpPr>
          <p:spPr>
            <a:xfrm rot="10800000">
              <a:off x="6324600" y="4419600"/>
              <a:ext cx="9328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ZoneTexte 7"/>
            <p:cNvSpPr txBox="1"/>
            <p:nvPr/>
          </p:nvSpPr>
          <p:spPr>
            <a:xfrm>
              <a:off x="7257414" y="4234934"/>
              <a:ext cx="26024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>
                  <a:solidFill>
                    <a:schemeClr val="accent1"/>
                  </a:solidFill>
                  <a:latin typeface="Arial Narrow"/>
                  <a:cs typeface="Arial Narrow"/>
                </a:rPr>
                <a:t>"la valeur min est 100 inclus"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simples : dérivation par restriction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r>
              <a:rPr lang="fr-FR" sz="2000" dirty="0" err="1" smtClean="0"/>
              <a:t>Constraining</a:t>
            </a:r>
            <a:r>
              <a:rPr lang="fr-FR" sz="2000" dirty="0" smtClean="0"/>
              <a:t> </a:t>
            </a:r>
            <a:r>
              <a:rPr lang="fr-FR" sz="2000" dirty="0" err="1" smtClean="0"/>
              <a:t>facet</a:t>
            </a:r>
            <a:r>
              <a:rPr lang="fr-FR" sz="2000" dirty="0" smtClean="0"/>
              <a:t> </a:t>
            </a:r>
            <a:r>
              <a:rPr lang="fr-FR" sz="2000" i="1" dirty="0" err="1" smtClean="0"/>
              <a:t>totalDigit</a:t>
            </a:r>
            <a:endParaRPr lang="fr-FR" sz="2000" i="1" dirty="0" smtClean="0"/>
          </a:p>
          <a:p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celsiusBodyTemp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base='</a:t>
            </a:r>
            <a:r>
              <a:rPr lang="fr-FR" sz="2000" dirty="0" err="1" smtClean="0">
                <a:latin typeface="Arial Unicode MS"/>
                <a:cs typeface="Arial Unicode MS"/>
              </a:rPr>
              <a:t>xs:decimal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xs:totalDigits</a:t>
            </a:r>
            <a:r>
              <a:rPr lang="fr-FR" sz="2000" dirty="0" smtClean="0">
                <a:latin typeface="Arial Unicode MS"/>
                <a:cs typeface="Arial Unicode MS"/>
              </a:rPr>
              <a:t> value='3'/&gt;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xs:fractionDigits</a:t>
            </a:r>
            <a:r>
              <a:rPr lang="fr-FR" sz="2000" dirty="0" smtClean="0">
                <a:latin typeface="Arial Unicode MS"/>
                <a:cs typeface="Arial Unicode MS"/>
              </a:rPr>
              <a:t> value='1'/&gt;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xs:minInclusive</a:t>
            </a:r>
            <a:r>
              <a:rPr lang="fr-FR" sz="2000" dirty="0" smtClean="0">
                <a:latin typeface="Arial Unicode MS"/>
                <a:cs typeface="Arial Unicode MS"/>
              </a:rPr>
              <a:t> value='36.4'/&gt;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xs:maxInclusive</a:t>
            </a:r>
            <a:r>
              <a:rPr lang="fr-FR" sz="2000" dirty="0" smtClean="0">
                <a:latin typeface="Arial Unicode MS"/>
                <a:cs typeface="Arial Unicode MS"/>
              </a:rPr>
              <a:t> value='40.5'/&gt;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simples : dérivation par liste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listOfFloats</a:t>
            </a:r>
            <a:r>
              <a:rPr lang="fr-FR" sz="2000" dirty="0" smtClean="0">
                <a:latin typeface="Arial Unicode MS"/>
                <a:cs typeface="Arial Unicode MS"/>
              </a:rPr>
              <a:t>'&gt;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xs:list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itemType</a:t>
            </a:r>
            <a:r>
              <a:rPr lang="fr-FR" sz="2000" dirty="0" smtClean="0">
                <a:latin typeface="Arial Unicode MS"/>
                <a:cs typeface="Arial Unicode MS"/>
              </a:rPr>
              <a:t>='</a:t>
            </a:r>
            <a:r>
              <a:rPr lang="fr-FR" sz="2000" dirty="0" err="1" smtClean="0">
                <a:latin typeface="Arial Unicode MS"/>
                <a:cs typeface="Arial Unicode MS"/>
              </a:rPr>
              <a:t>xs:float</a:t>
            </a:r>
            <a:r>
              <a:rPr lang="fr-FR" sz="2000" dirty="0" smtClean="0">
                <a:latin typeface="Arial Unicode MS"/>
                <a:cs typeface="Arial Unicode MS"/>
              </a:rPr>
              <a:t>'/&gt;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xs:simpleType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2000" dirty="0" smtClean="0"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2000" dirty="0" err="1" smtClean="0"/>
              <a:t>Exemples de </a:t>
            </a:r>
            <a:r>
              <a:rPr lang="fr-FR" sz="2000" i="1" dirty="0" err="1" smtClean="0"/>
              <a:t>Constraining</a:t>
            </a:r>
            <a:r>
              <a:rPr lang="fr-FR" sz="2000" i="1" dirty="0" smtClean="0"/>
              <a:t> </a:t>
            </a:r>
            <a:r>
              <a:rPr lang="fr-FR" sz="2000" i="1" dirty="0" err="1" smtClean="0"/>
              <a:t>facets</a:t>
            </a:r>
            <a:r>
              <a:rPr lang="fr-FR" sz="2000" i="1" dirty="0" smtClean="0"/>
              <a:t> </a:t>
            </a:r>
            <a:r>
              <a:rPr lang="fr-FR" sz="2000" dirty="0" smtClean="0"/>
              <a:t>applicables :</a:t>
            </a:r>
          </a:p>
          <a:p>
            <a:r>
              <a:rPr lang="fr-FR" sz="2000" dirty="0" err="1" smtClean="0"/>
              <a:t>length</a:t>
            </a:r>
            <a:endParaRPr lang="fr-FR" sz="2000" dirty="0" smtClean="0"/>
          </a:p>
          <a:p>
            <a:r>
              <a:rPr lang="fr-FR" sz="2000" dirty="0" err="1" smtClean="0"/>
              <a:t>maxLength</a:t>
            </a:r>
            <a:endParaRPr lang="fr-FR" sz="2000" dirty="0" smtClean="0"/>
          </a:p>
          <a:p>
            <a:r>
              <a:rPr lang="fr-FR" sz="2000" dirty="0" err="1" smtClean="0"/>
              <a:t>minLength</a:t>
            </a:r>
            <a:endParaRPr lang="fr-FR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simples : dérivation par union</a:t>
            </a:r>
            <a:endParaRPr lang="fr-FR" sz="3200" dirty="0"/>
          </a:p>
        </p:txBody>
      </p:sp>
      <p:sp>
        <p:nvSpPr>
          <p:cNvPr id="12" name="Espace réservé du pied de page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NFE 204 - Virginie Thion, CNAM</a:t>
            </a:r>
          </a:p>
        </p:txBody>
      </p:sp>
      <p:sp>
        <p:nvSpPr>
          <p:cNvPr id="5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AEE28-E0FC-2B48-9C78-E329D5B8D768}" type="slidenum">
              <a:rPr lang="fr-FR" smtClean="0"/>
              <a:pPr/>
              <a:t>23</a:t>
            </a:fld>
            <a:endParaRPr lang="fr-FR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721352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fr-FR" dirty="0" smtClean="0"/>
              <a:t>&lt;</a:t>
            </a:r>
            <a:r>
              <a:rPr lang="fr-FR" dirty="0" err="1" smtClean="0"/>
              <a:t>xsd:attribute</a:t>
            </a:r>
            <a:r>
              <a:rPr lang="fr-FR" dirty="0" smtClean="0"/>
              <a:t> </a:t>
            </a:r>
            <a:r>
              <a:rPr lang="fr-FR" dirty="0" err="1" smtClean="0"/>
              <a:t>name</a:t>
            </a:r>
            <a:r>
              <a:rPr lang="fr-FR" dirty="0" smtClean="0"/>
              <a:t>="size"&gt;</a:t>
            </a:r>
          </a:p>
          <a:p>
            <a:pPr>
              <a:buNone/>
            </a:pPr>
            <a:r>
              <a:rPr lang="fr-FR" dirty="0" smtClean="0"/>
              <a:t>  &lt;</a:t>
            </a:r>
            <a:r>
              <a:rPr lang="fr-FR" dirty="0" err="1" smtClean="0"/>
              <a:t>xsd:simpleType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&lt;</a:t>
            </a:r>
            <a:r>
              <a:rPr lang="fr-FR" dirty="0" err="1" smtClean="0"/>
              <a:t>xsd:union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  &lt;</a:t>
            </a:r>
            <a:r>
              <a:rPr lang="fr-FR" dirty="0" err="1" smtClean="0"/>
              <a:t>xsd:simpleType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    &lt;</a:t>
            </a:r>
            <a:r>
              <a:rPr lang="fr-FR" dirty="0" err="1" smtClean="0"/>
              <a:t>xsd:restriction</a:t>
            </a:r>
            <a:r>
              <a:rPr lang="fr-FR" dirty="0" smtClean="0"/>
              <a:t> base="</a:t>
            </a:r>
            <a:r>
              <a:rPr lang="fr-FR" dirty="0" err="1" smtClean="0"/>
              <a:t>xsd:positiveInteger</a:t>
            </a:r>
            <a:r>
              <a:rPr lang="fr-FR" dirty="0" smtClean="0"/>
              <a:t>"&gt;</a:t>
            </a:r>
          </a:p>
          <a:p>
            <a:pPr>
              <a:buNone/>
            </a:pPr>
            <a:r>
              <a:rPr lang="fr-FR" dirty="0" smtClean="0"/>
              <a:t>          &lt;</a:t>
            </a:r>
            <a:r>
              <a:rPr lang="fr-FR" dirty="0" err="1" smtClean="0"/>
              <a:t>xsd:minInclusive</a:t>
            </a:r>
            <a:r>
              <a:rPr lang="fr-FR" dirty="0" smtClean="0"/>
              <a:t> value="8"/&gt;</a:t>
            </a:r>
          </a:p>
          <a:p>
            <a:pPr>
              <a:buNone/>
            </a:pPr>
            <a:r>
              <a:rPr lang="fr-FR" dirty="0" smtClean="0"/>
              <a:t>          &lt;</a:t>
            </a:r>
            <a:r>
              <a:rPr lang="fr-FR" dirty="0" err="1" smtClean="0"/>
              <a:t>xsd:maxInclusive</a:t>
            </a:r>
            <a:r>
              <a:rPr lang="fr-FR" dirty="0" smtClean="0"/>
              <a:t> value="72"/&gt;</a:t>
            </a:r>
          </a:p>
          <a:p>
            <a:pPr>
              <a:buNone/>
            </a:pPr>
            <a:r>
              <a:rPr lang="fr-FR" dirty="0" smtClean="0"/>
              <a:t>        &lt;/</a:t>
            </a:r>
            <a:r>
              <a:rPr lang="fr-FR" dirty="0" err="1" smtClean="0"/>
              <a:t>xsd:restriction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  &lt;/</a:t>
            </a:r>
            <a:r>
              <a:rPr lang="fr-FR" dirty="0" err="1" smtClean="0"/>
              <a:t>xsd:simpleType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  &lt;</a:t>
            </a:r>
            <a:r>
              <a:rPr lang="fr-FR" dirty="0" err="1" smtClean="0"/>
              <a:t>xsd:simpleType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    &lt;</a:t>
            </a:r>
            <a:r>
              <a:rPr lang="fr-FR" dirty="0" err="1" smtClean="0"/>
              <a:t>xsd:restriction</a:t>
            </a:r>
            <a:r>
              <a:rPr lang="fr-FR" dirty="0" smtClean="0"/>
              <a:t> base="</a:t>
            </a:r>
            <a:r>
              <a:rPr lang="fr-FR" dirty="0" err="1" smtClean="0"/>
              <a:t>xsd:NMTOKEN</a:t>
            </a:r>
            <a:r>
              <a:rPr lang="fr-FR" dirty="0" smtClean="0"/>
              <a:t>"&gt;</a:t>
            </a:r>
          </a:p>
          <a:p>
            <a:pPr>
              <a:buNone/>
            </a:pPr>
            <a:r>
              <a:rPr lang="fr-FR" dirty="0" smtClean="0"/>
              <a:t>          &lt;</a:t>
            </a:r>
            <a:r>
              <a:rPr lang="fr-FR" dirty="0" err="1" smtClean="0"/>
              <a:t>xsd:enumeration</a:t>
            </a:r>
            <a:r>
              <a:rPr lang="fr-FR" dirty="0" smtClean="0"/>
              <a:t> value="</a:t>
            </a:r>
            <a:r>
              <a:rPr lang="fr-FR" dirty="0" err="1" smtClean="0"/>
              <a:t>small</a:t>
            </a:r>
            <a:r>
              <a:rPr lang="fr-FR" dirty="0" smtClean="0"/>
              <a:t>"/&gt;</a:t>
            </a:r>
          </a:p>
          <a:p>
            <a:pPr>
              <a:buNone/>
            </a:pPr>
            <a:r>
              <a:rPr lang="fr-FR" dirty="0" smtClean="0"/>
              <a:t>          &lt;</a:t>
            </a:r>
            <a:r>
              <a:rPr lang="fr-FR" dirty="0" err="1" smtClean="0"/>
              <a:t>xsd:enumeration</a:t>
            </a:r>
            <a:r>
              <a:rPr lang="fr-FR" dirty="0" smtClean="0"/>
              <a:t> value="medium"/&gt;</a:t>
            </a:r>
          </a:p>
          <a:p>
            <a:pPr>
              <a:buNone/>
            </a:pPr>
            <a:r>
              <a:rPr lang="fr-FR" dirty="0" smtClean="0"/>
              <a:t>          &lt;</a:t>
            </a:r>
            <a:r>
              <a:rPr lang="fr-FR" dirty="0" err="1" smtClean="0"/>
              <a:t>xsd:enumeration</a:t>
            </a:r>
            <a:r>
              <a:rPr lang="fr-FR" dirty="0" smtClean="0"/>
              <a:t> value="large"/&gt;</a:t>
            </a:r>
          </a:p>
          <a:p>
            <a:pPr>
              <a:buNone/>
            </a:pPr>
            <a:r>
              <a:rPr lang="fr-FR" dirty="0" smtClean="0"/>
              <a:t>        &lt;/</a:t>
            </a:r>
            <a:r>
              <a:rPr lang="fr-FR" dirty="0" err="1" smtClean="0"/>
              <a:t>xsd:restriction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  &lt;/</a:t>
            </a:r>
            <a:r>
              <a:rPr lang="fr-FR" dirty="0" err="1" smtClean="0"/>
              <a:t>xsd:simpleType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  &lt;/</a:t>
            </a:r>
            <a:r>
              <a:rPr lang="fr-FR" dirty="0" err="1" smtClean="0"/>
              <a:t>xsd:union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  &lt;/</a:t>
            </a:r>
            <a:r>
              <a:rPr lang="fr-FR" dirty="0" err="1" smtClean="0"/>
              <a:t>xsd:simpleType</a:t>
            </a:r>
            <a:r>
              <a:rPr lang="fr-FR" dirty="0" smtClean="0"/>
              <a:t>&gt;</a:t>
            </a:r>
          </a:p>
          <a:p>
            <a:pPr>
              <a:buNone/>
            </a:pPr>
            <a:r>
              <a:rPr lang="fr-FR" dirty="0" smtClean="0"/>
              <a:t>&lt;/</a:t>
            </a:r>
            <a:r>
              <a:rPr lang="fr-FR" dirty="0" err="1" smtClean="0"/>
              <a:t>xsd:attribute</a:t>
            </a:r>
            <a:r>
              <a:rPr lang="fr-FR" dirty="0" smtClean="0"/>
              <a:t>&gt;</a:t>
            </a:r>
          </a:p>
        </p:txBody>
      </p:sp>
      <p:grpSp>
        <p:nvGrpSpPr>
          <p:cNvPr id="15" name="Grouper 14"/>
          <p:cNvGrpSpPr/>
          <p:nvPr/>
        </p:nvGrpSpPr>
        <p:grpSpPr>
          <a:xfrm>
            <a:off x="533400" y="1524000"/>
            <a:ext cx="4846263" cy="4247317"/>
            <a:chOff x="502636" y="1447800"/>
            <a:chExt cx="4846263" cy="4247317"/>
          </a:xfrm>
        </p:grpSpPr>
        <p:sp>
          <p:nvSpPr>
            <p:cNvPr id="7" name="Rectangle à coins arrondis 6"/>
            <p:cNvSpPr/>
            <p:nvPr/>
          </p:nvSpPr>
          <p:spPr>
            <a:xfrm>
              <a:off x="502636" y="1981200"/>
              <a:ext cx="1143000" cy="152400"/>
            </a:xfrm>
            <a:prstGeom prst="roundRect">
              <a:avLst/>
            </a:prstGeom>
            <a:noFill/>
            <a:ln w="28575" cmpd="sng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" name="Rectangle à coins arrondis 7"/>
            <p:cNvSpPr/>
            <p:nvPr/>
          </p:nvSpPr>
          <p:spPr>
            <a:xfrm>
              <a:off x="609600" y="5181600"/>
              <a:ext cx="1143000" cy="152400"/>
            </a:xfrm>
            <a:prstGeom prst="roundRect">
              <a:avLst/>
            </a:prstGeom>
            <a:noFill/>
            <a:ln w="28575" cmpd="sng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" name="Rectangle à coins arrondis 8"/>
            <p:cNvSpPr/>
            <p:nvPr/>
          </p:nvSpPr>
          <p:spPr>
            <a:xfrm>
              <a:off x="655036" y="2209800"/>
              <a:ext cx="4114800" cy="1357200"/>
            </a:xfrm>
            <a:prstGeom prst="roundRect">
              <a:avLst/>
            </a:prstGeom>
            <a:noFill/>
            <a:ln w="28575" cmpd="sng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" name="Rectangle à coins arrondis 9"/>
            <p:cNvSpPr/>
            <p:nvPr/>
          </p:nvSpPr>
          <p:spPr>
            <a:xfrm>
              <a:off x="655036" y="3581399"/>
              <a:ext cx="4114800" cy="1559719"/>
            </a:xfrm>
            <a:prstGeom prst="roundRect">
              <a:avLst/>
            </a:prstGeom>
            <a:noFill/>
            <a:ln w="28575" cmpd="sng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ZoneTexte 10"/>
            <p:cNvSpPr txBox="1"/>
            <p:nvPr/>
          </p:nvSpPr>
          <p:spPr>
            <a:xfrm>
              <a:off x="2842158" y="1447800"/>
              <a:ext cx="2506741" cy="424731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>
                  <a:solidFill>
                    <a:schemeClr val="accent1"/>
                  </a:solidFill>
                </a:rPr>
                <a:t>taille de fonte</a:t>
              </a:r>
            </a:p>
            <a:p>
              <a:r>
                <a:rPr lang="fr-FR" dirty="0" smtClean="0">
                  <a:solidFill>
                    <a:schemeClr val="accent1"/>
                  </a:solidFill>
                </a:rPr>
                <a:t>exprimée en entiers </a:t>
              </a: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endParaRPr lang="fr-FR" dirty="0" smtClean="0">
                <a:solidFill>
                  <a:schemeClr val="accent1"/>
                </a:solidFill>
              </a:endParaRPr>
            </a:p>
            <a:p>
              <a:r>
                <a:rPr lang="fr-FR" dirty="0" smtClean="0">
                  <a:solidFill>
                    <a:schemeClr val="accent3">
                      <a:lumMod val="75000"/>
                    </a:schemeClr>
                  </a:solidFill>
                </a:rPr>
                <a:t>en </a:t>
              </a:r>
              <a:r>
                <a:rPr lang="fr-FR" dirty="0" err="1" smtClean="0">
                  <a:solidFill>
                    <a:schemeClr val="accent3">
                      <a:lumMod val="75000"/>
                    </a:schemeClr>
                  </a:solidFill>
                </a:rPr>
                <a:t>small</a:t>
              </a:r>
              <a:r>
                <a:rPr lang="fr-FR" dirty="0" smtClean="0">
                  <a:solidFill>
                    <a:schemeClr val="accent3">
                      <a:lumMod val="75000"/>
                    </a:schemeClr>
                  </a:solidFill>
                </a:rPr>
                <a:t>/medium/large</a:t>
              </a:r>
              <a:endParaRPr lang="fr-FR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</p:grpSp>
      <p:sp>
        <p:nvSpPr>
          <p:cNvPr id="16" name="ZoneTexte 15"/>
          <p:cNvSpPr txBox="1"/>
          <p:nvPr/>
        </p:nvSpPr>
        <p:spPr>
          <a:xfrm>
            <a:off x="5105400" y="2514600"/>
            <a:ext cx="3833689" cy="175432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mtClean="0"/>
              <a:t>&lt;p&gt;</a:t>
            </a:r>
          </a:p>
          <a:p>
            <a:r>
              <a:rPr lang="fr-FR" smtClean="0"/>
              <a:t>&lt;font size='large'&gt;A header&lt;/font&gt;</a:t>
            </a:r>
          </a:p>
          <a:p>
            <a:r>
              <a:rPr lang="fr-FR" smtClean="0"/>
              <a:t>&lt;/p&gt;</a:t>
            </a:r>
          </a:p>
          <a:p>
            <a:r>
              <a:rPr lang="fr-FR" smtClean="0"/>
              <a:t>&lt;p&gt;</a:t>
            </a:r>
          </a:p>
          <a:p>
            <a:r>
              <a:rPr lang="fr-FR" smtClean="0"/>
              <a:t>&lt;font size='12'&gt;this is a test&lt;/font&gt;</a:t>
            </a:r>
          </a:p>
          <a:p>
            <a:r>
              <a:rPr lang="fr-FR" smtClean="0"/>
              <a:t>&lt;/p&gt;</a:t>
            </a:r>
            <a:endParaRPr lang="fr-F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quand ?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477345"/>
            <a:ext cx="8504238" cy="493350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000" b="1" u="sng" dirty="0" smtClean="0"/>
              <a:t>Quand passer en type complexe ? </a:t>
            </a:r>
          </a:p>
          <a:p>
            <a:pPr lvl="1">
              <a:buNone/>
            </a:pPr>
            <a:r>
              <a:rPr lang="fr-FR" sz="1800" dirty="0" smtClean="0"/>
              <a:t>Quand pas un type </a:t>
            </a:r>
            <a:r>
              <a:rPr lang="fr-FR" sz="1800" dirty="0" err="1" smtClean="0"/>
              <a:t>simpe</a:t>
            </a:r>
            <a:r>
              <a:rPr lang="fr-FR" sz="1800" dirty="0" smtClean="0"/>
              <a:t> c.-à-d. quand on veut qu'un élément vérifiant le type :</a:t>
            </a:r>
          </a:p>
          <a:p>
            <a:pPr lvl="2"/>
            <a:r>
              <a:rPr lang="fr-FR" sz="1800" dirty="0" smtClean="0"/>
              <a:t>contienne au moins un attribut</a:t>
            </a:r>
          </a:p>
          <a:p>
            <a:pPr lvl="2">
              <a:buNone/>
            </a:pPr>
            <a:r>
              <a:rPr lang="fr-FR" sz="1800" dirty="0" smtClean="0"/>
              <a:t>ou (non exclusif)</a:t>
            </a:r>
          </a:p>
          <a:p>
            <a:pPr lvl="2"/>
            <a:r>
              <a:rPr lang="fr-FR" sz="1800" dirty="0" smtClean="0"/>
              <a:t>soit composé de sous-éléments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Exemples (non exhaustif) :</a:t>
            </a:r>
          </a:p>
          <a:p>
            <a:pPr>
              <a:buNone/>
            </a:pPr>
            <a:endParaRPr lang="fr-FR" sz="2000" dirty="0" smtClean="0">
              <a:solidFill>
                <a:schemeClr val="accent5"/>
              </a:solidFill>
            </a:endParaRPr>
          </a:p>
          <a:p>
            <a:pPr lvl="1">
              <a:buNone/>
            </a:pPr>
            <a:r>
              <a:rPr lang="fr-FR" sz="1500" dirty="0" smtClean="0">
                <a:solidFill>
                  <a:schemeClr val="accent3"/>
                </a:solidFill>
                <a:latin typeface="Arial Unicode MS"/>
                <a:cs typeface="Arial Unicode MS"/>
              </a:rPr>
              <a:t>&lt;</a:t>
            </a:r>
            <a:r>
              <a:rPr lang="fr-FR" sz="1500" dirty="0" err="1" smtClean="0">
                <a:solidFill>
                  <a:schemeClr val="accent3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chemeClr val="accent3"/>
                </a:solidFill>
                <a:latin typeface="Arial Unicode MS"/>
                <a:cs typeface="Arial Unicode MS"/>
              </a:rPr>
              <a:t> </a:t>
            </a:r>
            <a:r>
              <a:rPr lang="fr-FR" sz="1500" dirty="0" err="1" smtClean="0">
                <a:solidFill>
                  <a:schemeClr val="accent3"/>
                </a:solidFill>
                <a:latin typeface="Arial Unicode MS"/>
                <a:cs typeface="Arial Unicode MS"/>
              </a:rPr>
              <a:t>currency</a:t>
            </a:r>
            <a:r>
              <a:rPr lang="fr-FR" sz="1500" dirty="0" smtClean="0">
                <a:solidFill>
                  <a:schemeClr val="accent3"/>
                </a:solidFill>
                <a:latin typeface="Arial Unicode MS"/>
                <a:cs typeface="Arial Unicode MS"/>
              </a:rPr>
              <a:t>="</a:t>
            </a:r>
            <a:r>
              <a:rPr lang="fr-FR" sz="1500" dirty="0" err="1" smtClean="0">
                <a:solidFill>
                  <a:schemeClr val="accent3"/>
                </a:solidFill>
                <a:latin typeface="Arial Unicode MS"/>
                <a:cs typeface="Arial Unicode MS"/>
              </a:rPr>
              <a:t>dolars</a:t>
            </a:r>
            <a:r>
              <a:rPr lang="fr-FR" sz="1500" dirty="0" smtClean="0">
                <a:solidFill>
                  <a:schemeClr val="accent3"/>
                </a:solidFill>
                <a:latin typeface="Arial Unicode MS"/>
                <a:cs typeface="Arial Unicode MS"/>
              </a:rPr>
              <a:t>"&gt;345,67&lt;/</a:t>
            </a:r>
            <a:r>
              <a:rPr lang="fr-FR" sz="1500" dirty="0" err="1" smtClean="0">
                <a:solidFill>
                  <a:schemeClr val="accent3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chemeClr val="accent3"/>
                </a:solidFill>
                <a:latin typeface="Arial Unicode MS"/>
                <a:cs typeface="Arial Unicode MS"/>
              </a:rPr>
              <a:t>&gt;</a:t>
            </a:r>
            <a:endParaRPr lang="fr-FR" sz="2000" dirty="0" smtClean="0">
              <a:solidFill>
                <a:schemeClr val="accent3"/>
              </a:solidFill>
            </a:endParaRPr>
          </a:p>
          <a:p>
            <a:pPr>
              <a:buNone/>
            </a:pPr>
            <a:endParaRPr lang="fr-FR" sz="1500" dirty="0" smtClean="0">
              <a:solidFill>
                <a:schemeClr val="tx2"/>
              </a:solidFill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1500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&gt;EUR&lt;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&lt;value&gt;345,67&lt;value&gt;</a:t>
            </a:r>
          </a:p>
          <a:p>
            <a:pPr>
              <a:buNone/>
            </a:pP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&lt;/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  <a:endParaRPr lang="fr-FR" sz="1500" dirty="0" err="1" smtClean="0">
              <a:solidFill>
                <a:srgbClr val="1B587C"/>
              </a:solidFill>
              <a:latin typeface="Arial Unicode MS"/>
              <a:cs typeface="Arial Unicode M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er 14"/>
          <p:cNvGrpSpPr/>
          <p:nvPr/>
        </p:nvGrpSpPr>
        <p:grpSpPr>
          <a:xfrm>
            <a:off x="838200" y="1981200"/>
            <a:ext cx="6400800" cy="838200"/>
            <a:chOff x="914400" y="1981200"/>
            <a:chExt cx="6400800" cy="838200"/>
          </a:xfrm>
        </p:grpSpPr>
        <p:sp>
          <p:nvSpPr>
            <p:cNvPr id="10" name="Rectangle à coins arrondis 9"/>
            <p:cNvSpPr/>
            <p:nvPr/>
          </p:nvSpPr>
          <p:spPr>
            <a:xfrm>
              <a:off x="914400" y="1981200"/>
              <a:ext cx="2362200" cy="3048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" name="Rectangle à coins arrondis 10"/>
            <p:cNvSpPr/>
            <p:nvPr/>
          </p:nvSpPr>
          <p:spPr>
            <a:xfrm>
              <a:off x="4953000" y="2514600"/>
              <a:ext cx="2362200" cy="304800"/>
            </a:xfrm>
            <a:prstGeom prst="round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3" name="Connecteur droit avec flèche 12"/>
            <p:cNvCxnSpPr>
              <a:stCxn id="10" idx="3"/>
              <a:endCxn id="11" idx="1"/>
            </p:cNvCxnSpPr>
            <p:nvPr/>
          </p:nvCxnSpPr>
          <p:spPr>
            <a:xfrm>
              <a:off x="3276600" y="2133600"/>
              <a:ext cx="1676400" cy="53340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3600" dirty="0" smtClean="0"/>
              <a:t>2 notations équivalentes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&lt;</a:t>
            </a:r>
            <a:r>
              <a:rPr lang="fr-FR" sz="1600" dirty="0" err="1" smtClean="0"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latin typeface="Arial Unicode MS"/>
                <a:cs typeface="Arial Unicode MS"/>
              </a:rPr>
              <a:t>="</a:t>
            </a:r>
            <a:r>
              <a:rPr lang="fr-FR" sz="16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16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		&lt;</a:t>
            </a:r>
            <a:r>
              <a:rPr lang="fr-FR" sz="16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6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		…</a:t>
            </a:r>
          </a:p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		&lt;/</a:t>
            </a:r>
            <a:r>
              <a:rPr lang="fr-FR" sz="16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6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&lt;/</a:t>
            </a:r>
            <a:r>
              <a:rPr lang="fr-FR" sz="1600" dirty="0" err="1" smtClean="0"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1600" dirty="0">
              <a:latin typeface="Arial Unicode MS"/>
              <a:cs typeface="Arial Unicode MS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&lt;</a:t>
            </a:r>
            <a:r>
              <a:rPr lang="fr-FR" sz="1600" dirty="0" err="1" smtClean="0"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latin typeface="Arial Unicode MS"/>
                <a:cs typeface="Arial Unicode MS"/>
              </a:rPr>
              <a:t>="</a:t>
            </a:r>
            <a:r>
              <a:rPr lang="fr-FR" sz="16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1600" dirty="0" smtClean="0">
                <a:latin typeface="Arial Unicode MS"/>
                <a:cs typeface="Arial Unicode MS"/>
              </a:rPr>
              <a:t>" type=‘’</a:t>
            </a:r>
            <a:r>
              <a:rPr lang="fr-FR" sz="1600" dirty="0" err="1" smtClean="0">
                <a:latin typeface="Arial Unicode MS"/>
                <a:cs typeface="Arial Unicode MS"/>
              </a:rPr>
              <a:t>ipriceType</a:t>
            </a:r>
            <a:r>
              <a:rPr lang="fr-FR" sz="1600" dirty="0" smtClean="0">
                <a:latin typeface="Arial Unicode MS"/>
                <a:cs typeface="Arial Unicode MS"/>
              </a:rPr>
              <a:t>’’ /&gt;</a:t>
            </a:r>
          </a:p>
          <a:p>
            <a:pPr>
              <a:buNone/>
            </a:pPr>
            <a:endParaRPr lang="fr-FR" sz="1600" dirty="0" smtClean="0"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&lt;</a:t>
            </a:r>
            <a:r>
              <a:rPr lang="fr-FR" sz="16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600" dirty="0" smtClean="0"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latin typeface="Arial Unicode MS"/>
                <a:cs typeface="Arial Unicode MS"/>
              </a:rPr>
              <a:t>=‘’</a:t>
            </a:r>
            <a:r>
              <a:rPr lang="fr-FR" sz="1600" dirty="0" err="1" smtClean="0">
                <a:latin typeface="Arial Unicode MS"/>
                <a:cs typeface="Arial Unicode MS"/>
              </a:rPr>
              <a:t>ipriceType</a:t>
            </a:r>
            <a:r>
              <a:rPr lang="fr-FR" sz="1600" dirty="0" smtClean="0">
                <a:latin typeface="Arial Unicode MS"/>
                <a:cs typeface="Arial Unicode MS"/>
              </a:rPr>
              <a:t>’’&gt;</a:t>
            </a:r>
          </a:p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	…</a:t>
            </a:r>
          </a:p>
          <a:p>
            <a:pPr>
              <a:buNone/>
            </a:pPr>
            <a:r>
              <a:rPr lang="fr-FR" sz="1600" dirty="0" smtClean="0">
                <a:latin typeface="Arial Unicode MS"/>
                <a:cs typeface="Arial Unicode MS"/>
              </a:rPr>
              <a:t>&lt;/</a:t>
            </a:r>
            <a:r>
              <a:rPr lang="fr-FR" sz="16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6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1600" dirty="0">
              <a:latin typeface="Arial Unicode MS"/>
              <a:cs typeface="Arial Unicode MS"/>
            </a:endParaRPr>
          </a:p>
        </p:txBody>
      </p:sp>
      <p:sp>
        <p:nvSpPr>
          <p:cNvPr id="5" name="ZoneTexte 4"/>
          <p:cNvSpPr txBox="1"/>
          <p:nvPr/>
        </p:nvSpPr>
        <p:spPr>
          <a:xfrm>
            <a:off x="1219200" y="5638800"/>
            <a:ext cx="1576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/>
              <a:t>Plus "intuitif"</a:t>
            </a:r>
            <a:endParaRPr lang="fr-FR" dirty="0"/>
          </a:p>
        </p:txBody>
      </p:sp>
      <p:cxnSp>
        <p:nvCxnSpPr>
          <p:cNvPr id="7" name="Connecteur droit avec flèche 6"/>
          <p:cNvCxnSpPr/>
          <p:nvPr/>
        </p:nvCxnSpPr>
        <p:spPr>
          <a:xfrm rot="16200000" flipV="1">
            <a:off x="685800" y="4343400"/>
            <a:ext cx="2209800" cy="3810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ZoneTexte 7"/>
          <p:cNvSpPr txBox="1"/>
          <p:nvPr/>
        </p:nvSpPr>
        <p:spPr>
          <a:xfrm>
            <a:off x="5772910" y="5181600"/>
            <a:ext cx="28901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 dirty="0" smtClean="0"/>
              <a:t>Plus clair (plus propre) </a:t>
            </a:r>
          </a:p>
          <a:p>
            <a:pPr algn="ctr"/>
            <a:r>
              <a:rPr lang="fr-FR" dirty="0" smtClean="0"/>
              <a:t>si schéma compliqué</a:t>
            </a:r>
          </a:p>
          <a:p>
            <a:pPr algn="ctr"/>
            <a:r>
              <a:rPr lang="fr-FR" dirty="0" smtClean="0"/>
              <a:t>p.e. type utilisé à plusieurs</a:t>
            </a:r>
          </a:p>
          <a:p>
            <a:pPr algn="ctr"/>
            <a:r>
              <a:rPr lang="fr-FR" dirty="0" smtClean="0"/>
              <a:t>endroits dans le schéma</a:t>
            </a:r>
            <a:endParaRPr lang="fr-FR" dirty="0"/>
          </a:p>
        </p:txBody>
      </p:sp>
      <p:cxnSp>
        <p:nvCxnSpPr>
          <p:cNvPr id="9" name="Connecteur droit avec flèche 8"/>
          <p:cNvCxnSpPr/>
          <p:nvPr/>
        </p:nvCxnSpPr>
        <p:spPr>
          <a:xfrm rot="16200000" flipV="1">
            <a:off x="6003667" y="4022467"/>
            <a:ext cx="1632466" cy="381000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plusieurs cas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295400"/>
            <a:ext cx="8504238" cy="511544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b="1" u="sng" dirty="0" smtClean="0"/>
              <a:t>2 principaux cas de figure</a:t>
            </a:r>
            <a:endParaRPr lang="fr-FR" sz="2000" dirty="0" smtClean="0"/>
          </a:p>
          <a:p>
            <a:r>
              <a:rPr lang="fr-FR" sz="2000" dirty="0" smtClean="0"/>
              <a:t>simple content : le contenu de l'élément vérifiant le type est une valeur (pas de sous éléments) + au moins un attribut.</a:t>
            </a:r>
          </a:p>
          <a:p>
            <a:pPr lvl="1">
              <a:buNone/>
            </a:pP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="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dolars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"&gt;345,67&lt;/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  <a:endParaRPr lang="fr-FR" sz="2000" dirty="0" smtClean="0">
              <a:solidFill>
                <a:srgbClr val="1B587C"/>
              </a:solidFill>
            </a:endParaRPr>
          </a:p>
          <a:p>
            <a:r>
              <a:rPr lang="fr-FR" sz="2000" dirty="0" err="1" smtClean="0"/>
              <a:t>complex</a:t>
            </a:r>
            <a:r>
              <a:rPr lang="fr-FR" sz="2000" dirty="0" smtClean="0"/>
              <a:t> content : l'élément vérifiant le type est vide ou contient un ou plusieurs sous-élément(s) + éventuellement des attributs</a:t>
            </a:r>
          </a:p>
          <a:p>
            <a:pPr>
              <a:buNone/>
            </a:pPr>
            <a:r>
              <a:rPr lang="fr-FR" sz="1500" dirty="0" smtClean="0">
                <a:solidFill>
                  <a:schemeClr val="tx2"/>
                </a:solidFill>
                <a:latin typeface="Arial Unicode MS"/>
                <a:cs typeface="Arial Unicode MS"/>
              </a:rPr>
              <a:t>	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&gt;EUR&lt;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&lt;value&gt;345,67&lt;value&gt;</a:t>
            </a:r>
          </a:p>
          <a:p>
            <a:pPr>
              <a:buNone/>
            </a:pP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&lt;/</a:t>
            </a:r>
            <a:r>
              <a:rPr lang="fr-FR" sz="15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5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à coins arrondis 6"/>
          <p:cNvSpPr/>
          <p:nvPr/>
        </p:nvSpPr>
        <p:spPr>
          <a:xfrm>
            <a:off x="304800" y="3688380"/>
            <a:ext cx="6446838" cy="22860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533400" y="4038600"/>
            <a:ext cx="6096000" cy="160020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</a:t>
            </a:r>
            <a:r>
              <a:rPr lang="fr-FR" sz="3200" i="1" dirty="0" smtClean="0"/>
              <a:t>simple content</a:t>
            </a:r>
            <a:endParaRPr lang="fr-FR" sz="3200" i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685800" y="4419600"/>
            <a:ext cx="5562600" cy="83820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000" i="1" dirty="0" smtClean="0"/>
              <a:t>Simple content </a:t>
            </a:r>
            <a:r>
              <a:rPr lang="fr-FR" sz="2000" dirty="0" smtClean="0"/>
              <a:t>: l'élément vérifiant le type contient une valeur + au moins un attribut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18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18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8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</a:t>
            </a:r>
            <a:r>
              <a:rPr lang="fr-FR" sz="18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18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="</a:t>
            </a:r>
            <a:r>
              <a:rPr lang="fr-FR" sz="18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dolars</a:t>
            </a:r>
            <a:r>
              <a:rPr lang="fr-FR" sz="18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"&gt;345,67&lt;/</a:t>
            </a:r>
            <a:r>
              <a:rPr lang="fr-FR" sz="18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18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2000" dirty="0" smtClean="0">
              <a:solidFill>
                <a:schemeClr val="accent4"/>
              </a:solidFill>
            </a:endParaRP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&lt;</a:t>
            </a:r>
            <a:r>
              <a:rPr lang="fr-FR" sz="1800" dirty="0" err="1" smtClean="0">
                <a:latin typeface="Arial Unicode MS"/>
                <a:cs typeface="Arial Unicode MS"/>
              </a:rPr>
              <a:t>xs:element</a:t>
            </a:r>
            <a:r>
              <a:rPr lang="fr-FR" sz="1800" dirty="0" smtClean="0">
                <a:latin typeface="Arial Unicode MS"/>
                <a:cs typeface="Arial Unicode MS"/>
              </a:rPr>
              <a:t> </a:t>
            </a:r>
            <a:r>
              <a:rPr lang="fr-FR" sz="1800" dirty="0" err="1" smtClean="0">
                <a:latin typeface="Arial Unicode MS"/>
                <a:cs typeface="Arial Unicode MS"/>
              </a:rPr>
              <a:t>name</a:t>
            </a:r>
            <a:r>
              <a:rPr lang="fr-FR" sz="1800" dirty="0" smtClean="0">
                <a:latin typeface="Arial Unicode MS"/>
                <a:cs typeface="Arial Unicode MS"/>
              </a:rPr>
              <a:t>="</a:t>
            </a:r>
            <a:r>
              <a:rPr lang="fr-FR" sz="18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18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  &lt;</a:t>
            </a:r>
            <a:r>
              <a:rPr lang="fr-FR" sz="1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8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    &lt;</a:t>
            </a:r>
            <a:r>
              <a:rPr lang="fr-FR" sz="1800" dirty="0" err="1" smtClean="0">
                <a:latin typeface="Arial Unicode MS"/>
                <a:cs typeface="Arial Unicode MS"/>
              </a:rPr>
              <a:t>xs:simpleContent</a:t>
            </a:r>
            <a:r>
              <a:rPr lang="fr-FR" sz="18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      &lt;</a:t>
            </a:r>
            <a:r>
              <a:rPr lang="fr-FR" sz="1800" dirty="0" err="1" smtClean="0">
                <a:latin typeface="Arial Unicode MS"/>
                <a:cs typeface="Arial Unicode MS"/>
              </a:rPr>
              <a:t>xs:extension</a:t>
            </a:r>
            <a:r>
              <a:rPr lang="fr-FR" sz="1800" dirty="0" smtClean="0">
                <a:latin typeface="Arial Unicode MS"/>
                <a:cs typeface="Arial Unicode MS"/>
              </a:rPr>
              <a:t> base="</a:t>
            </a:r>
            <a:r>
              <a:rPr lang="fr-FR" sz="1800" dirty="0" err="1" smtClean="0">
                <a:latin typeface="Arial Unicode MS"/>
                <a:cs typeface="Arial Unicode MS"/>
              </a:rPr>
              <a:t>xs:decimal</a:t>
            </a:r>
            <a:r>
              <a:rPr lang="fr-FR" sz="18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        &lt;</a:t>
            </a:r>
            <a:r>
              <a:rPr lang="fr-FR" sz="1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1800" dirty="0" smtClean="0">
                <a:latin typeface="Arial Unicode MS"/>
                <a:cs typeface="Arial Unicode MS"/>
              </a:rPr>
              <a:t> </a:t>
            </a:r>
            <a:r>
              <a:rPr lang="fr-FR" sz="1800" dirty="0" err="1" smtClean="0">
                <a:latin typeface="Arial Unicode MS"/>
                <a:cs typeface="Arial Unicode MS"/>
              </a:rPr>
              <a:t>name</a:t>
            </a:r>
            <a:r>
              <a:rPr lang="fr-FR" sz="1800" dirty="0" smtClean="0">
                <a:latin typeface="Arial Unicode MS"/>
                <a:cs typeface="Arial Unicode MS"/>
              </a:rPr>
              <a:t>="</a:t>
            </a:r>
            <a:r>
              <a:rPr lang="fr-FR" sz="1800" dirty="0" err="1" smtClean="0">
                <a:latin typeface="Arial Unicode MS"/>
                <a:cs typeface="Arial Unicode MS"/>
              </a:rPr>
              <a:t>currency</a:t>
            </a:r>
            <a:r>
              <a:rPr lang="fr-FR" sz="1800" dirty="0" smtClean="0">
                <a:latin typeface="Arial Unicode MS"/>
                <a:cs typeface="Arial Unicode MS"/>
              </a:rPr>
              <a:t>" type="</a:t>
            </a:r>
            <a:r>
              <a:rPr lang="fr-FR" sz="1800" dirty="0" err="1" smtClean="0">
                <a:latin typeface="Arial Unicode MS"/>
                <a:cs typeface="Arial Unicode MS"/>
              </a:rPr>
              <a:t>xs:string</a:t>
            </a:r>
            <a:r>
              <a:rPr lang="fr-FR" sz="18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      &lt;/</a:t>
            </a:r>
            <a:r>
              <a:rPr lang="fr-FR" sz="1800" dirty="0" err="1" smtClean="0">
                <a:latin typeface="Arial Unicode MS"/>
                <a:cs typeface="Arial Unicode MS"/>
              </a:rPr>
              <a:t>xs:extension</a:t>
            </a:r>
            <a:r>
              <a:rPr lang="fr-FR" sz="18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    &lt;/</a:t>
            </a:r>
            <a:r>
              <a:rPr lang="fr-FR" sz="1800" dirty="0" err="1" smtClean="0">
                <a:latin typeface="Arial Unicode MS"/>
                <a:cs typeface="Arial Unicode MS"/>
              </a:rPr>
              <a:t>xs:simpleContent</a:t>
            </a:r>
            <a:r>
              <a:rPr lang="fr-FR" sz="18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  &lt;/</a:t>
            </a:r>
            <a:r>
              <a:rPr lang="fr-FR" sz="1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18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1800" dirty="0" smtClean="0">
                <a:latin typeface="Arial Unicode MS"/>
                <a:cs typeface="Arial Unicode MS"/>
              </a:rPr>
              <a:t>&lt;/</a:t>
            </a:r>
            <a:r>
              <a:rPr lang="fr-FR" sz="1800" dirty="0" err="1" smtClean="0">
                <a:latin typeface="Arial Unicode MS"/>
                <a:cs typeface="Arial Unicode MS"/>
              </a:rPr>
              <a:t>xs:element</a:t>
            </a:r>
            <a:r>
              <a:rPr lang="fr-FR" sz="18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1800" dirty="0" smtClean="0">
              <a:latin typeface="Arial Unicode MS"/>
              <a:cs typeface="Arial Unicode MS"/>
            </a:endParaRPr>
          </a:p>
        </p:txBody>
      </p:sp>
      <p:sp>
        <p:nvSpPr>
          <p:cNvPr id="6" name="Espace réservé du pied de page 2"/>
          <p:cNvSpPr txBox="1">
            <a:spLocks/>
          </p:cNvSpPr>
          <p:nvPr/>
        </p:nvSpPr>
        <p:spPr>
          <a:xfrm>
            <a:off x="7696200" y="6410847"/>
            <a:ext cx="1139952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Exemple W3C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</a:t>
            </a:r>
            <a:r>
              <a:rPr lang="fr-FR" sz="3200" i="1" dirty="0" err="1" smtClean="0"/>
              <a:t>complex</a:t>
            </a:r>
            <a:r>
              <a:rPr lang="fr-FR" sz="3200" i="1" dirty="0" smtClean="0"/>
              <a:t> content</a:t>
            </a:r>
            <a:endParaRPr lang="fr-FR" sz="3200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i="1" dirty="0" smtClean="0"/>
              <a:t>Complexe content </a:t>
            </a:r>
            <a:r>
              <a:rPr lang="fr-FR" sz="2000" dirty="0" smtClean="0"/>
              <a:t>:  l'élément  vérifiant le type est vide ou contient un ou plusieurs sous-élément(s) + éventuellement des attributs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Exemples (non exhaustif) :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date="2009-05-12" value="345,67"/&gt;</a:t>
            </a:r>
          </a:p>
          <a:p>
            <a:pPr>
              <a:buNone/>
            </a:pPr>
            <a:endParaRPr lang="fr-FR" sz="2000" dirty="0" smtClean="0">
              <a:solidFill>
                <a:srgbClr val="1B587C"/>
              </a:solidFill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date="2009-05-12"&gt;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&gt;EUR&lt;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&lt;value&gt;345,67&lt;value&gt;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endParaRPr lang="fr-FR" sz="2000" dirty="0" smtClean="0"/>
          </a:p>
        </p:txBody>
      </p:sp>
      <p:cxnSp>
        <p:nvCxnSpPr>
          <p:cNvPr id="15" name="Connecteur droit avec flèche 14"/>
          <p:cNvCxnSpPr/>
          <p:nvPr/>
        </p:nvCxnSpPr>
        <p:spPr>
          <a:xfrm rot="10800000">
            <a:off x="5791200" y="3429000"/>
            <a:ext cx="9144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/>
          <p:cNvSpPr txBox="1"/>
          <p:nvPr/>
        </p:nvSpPr>
        <p:spPr>
          <a:xfrm>
            <a:off x="6324600" y="3962400"/>
            <a:ext cx="193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chemeClr val="accent1"/>
                </a:solidFill>
              </a:rPr>
              <a:t>Que des attributs</a:t>
            </a:r>
          </a:p>
        </p:txBody>
      </p:sp>
      <p:cxnSp>
        <p:nvCxnSpPr>
          <p:cNvPr id="17" name="Connecteur droit avec flèche 16"/>
          <p:cNvCxnSpPr/>
          <p:nvPr/>
        </p:nvCxnSpPr>
        <p:spPr>
          <a:xfrm rot="10800000">
            <a:off x="4008192" y="4484132"/>
            <a:ext cx="914400" cy="533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/>
          <p:cNvSpPr txBox="1"/>
          <p:nvPr/>
        </p:nvSpPr>
        <p:spPr>
          <a:xfrm>
            <a:off x="4541592" y="5017532"/>
            <a:ext cx="28296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solidFill>
                  <a:schemeClr val="accent1"/>
                </a:solidFill>
              </a:rPr>
              <a:t>sous-éléments et attributs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301752" y="3124200"/>
            <a:ext cx="7013448" cy="2819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530351" y="3550620"/>
            <a:ext cx="6631775" cy="19357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682751" y="3855420"/>
            <a:ext cx="6251449" cy="13261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</a:t>
            </a:r>
            <a:r>
              <a:rPr lang="fr-FR" sz="3200" i="1" dirty="0" err="1" smtClean="0"/>
              <a:t>complex</a:t>
            </a:r>
            <a:r>
              <a:rPr lang="fr-FR" sz="3200" i="1" dirty="0" smtClean="0"/>
              <a:t> content</a:t>
            </a:r>
            <a:endParaRPr lang="fr-FR" sz="3200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000" i="1" dirty="0" smtClean="0"/>
              <a:t>Complexe content </a:t>
            </a:r>
            <a:r>
              <a:rPr lang="fr-FR" sz="2000" dirty="0" smtClean="0"/>
              <a:t>: l'élément  vérifiant le type est vide ou contient un ou plusieurs sous-élément(s) + éventuellement des attributs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Que des attributs :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xs:complexContent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base="</a:t>
            </a:r>
            <a:r>
              <a:rPr lang="fr-FR" sz="2000" dirty="0" err="1" smtClean="0">
                <a:latin typeface="Arial Unicode MS"/>
                <a:cs typeface="Arial Unicode MS"/>
              </a:rPr>
              <a:t>xs:anyType</a:t>
            </a:r>
            <a:r>
              <a:rPr lang="fr-FR" sz="20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="value"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xs:decimal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&lt;/</a:t>
            </a:r>
            <a:r>
              <a:rPr lang="fr-FR" sz="2000" dirty="0" err="1" smtClean="0">
                <a:latin typeface="Arial Unicode MS"/>
                <a:cs typeface="Arial Unicode MS"/>
              </a:rPr>
              <a:t>xs:complexContent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  <p:sp>
        <p:nvSpPr>
          <p:cNvPr id="9" name="Rectangle 8"/>
          <p:cNvSpPr/>
          <p:nvPr/>
        </p:nvSpPr>
        <p:spPr>
          <a:xfrm>
            <a:off x="3048000" y="2221468"/>
            <a:ext cx="6096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date="2009-05-12" value="345,67"/&gt;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301752" y="3124200"/>
            <a:ext cx="7013448" cy="2819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Rectangle à coins arrondis 6"/>
          <p:cNvSpPr/>
          <p:nvPr/>
        </p:nvSpPr>
        <p:spPr>
          <a:xfrm>
            <a:off x="530351" y="3550620"/>
            <a:ext cx="6631775" cy="19357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Rectangle à coins arrondis 7"/>
          <p:cNvSpPr/>
          <p:nvPr/>
        </p:nvSpPr>
        <p:spPr>
          <a:xfrm>
            <a:off x="682751" y="3855420"/>
            <a:ext cx="6251449" cy="132618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</a:t>
            </a:r>
            <a:r>
              <a:rPr lang="fr-FR" sz="3200" dirty="0" err="1" smtClean="0"/>
              <a:t>complex</a:t>
            </a:r>
            <a:r>
              <a:rPr lang="fr-FR" sz="3200" dirty="0" smtClean="0"/>
              <a:t> content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2000" dirty="0" smtClean="0"/>
              <a:t>Raccourcis d'écriture 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Que des attributs :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xs:complexContent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 base="</a:t>
            </a:r>
            <a:r>
              <a:rPr lang="fr-FR" sz="2000" dirty="0" err="1" smtClean="0">
                <a:latin typeface="Arial Unicode MS"/>
                <a:cs typeface="Arial Unicode MS"/>
              </a:rPr>
              <a:t>xs:anyType</a:t>
            </a:r>
            <a:r>
              <a:rPr lang="fr-FR" sz="20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="value"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xs:decimal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  &lt;/</a:t>
            </a:r>
            <a:r>
              <a:rPr lang="fr-FR" sz="2000" dirty="0" err="1" smtClean="0">
                <a:latin typeface="Arial Unicode MS"/>
                <a:cs typeface="Arial Unicode MS"/>
              </a:rPr>
              <a:t>xs:restriction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&lt;/</a:t>
            </a:r>
            <a:r>
              <a:rPr lang="fr-FR" sz="2000" dirty="0" err="1" smtClean="0">
                <a:latin typeface="Arial Unicode MS"/>
                <a:cs typeface="Arial Unicode MS"/>
              </a:rPr>
              <a:t>xs:complexContent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618" y="838200"/>
            <a:ext cx="1208182" cy="1079500"/>
          </a:xfrm>
          <a:prstGeom prst="rect">
            <a:avLst/>
          </a:prstGeom>
        </p:spPr>
      </p:pic>
      <p:sp>
        <p:nvSpPr>
          <p:cNvPr id="10" name="Bulle ronde 9"/>
          <p:cNvSpPr/>
          <p:nvPr/>
        </p:nvSpPr>
        <p:spPr>
          <a:xfrm>
            <a:off x="6324600" y="1036020"/>
            <a:ext cx="990600" cy="441325"/>
          </a:xfrm>
          <a:prstGeom prst="wedgeEllipseCallout">
            <a:avLst>
              <a:gd name="adj1" fmla="val -84139"/>
              <a:gd name="adj2" fmla="val 210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youpi!</a:t>
            </a:r>
            <a:endParaRPr 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6" dur="indefinite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7" dur="indefinite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9" dur="indefinite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0" dur="indefinite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2" dur="indefinite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3" dur="indefinite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rctx="PPT">
                                        <p:cTn id="15" dur="indefinit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5"/>
                                      </p:to>
                                    </p:set>
                                    <p:animEffect filter="image" prLst="opacity: 0.5">
                                      <p:cBhvr rctx="IE">
                                        <p:cTn id="16" dur="indefinite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à coins arrondis 5"/>
          <p:cNvSpPr/>
          <p:nvPr/>
        </p:nvSpPr>
        <p:spPr>
          <a:xfrm>
            <a:off x="228600" y="3048000"/>
            <a:ext cx="6705600" cy="14478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</a:t>
            </a:r>
            <a:r>
              <a:rPr lang="fr-FR" sz="3200" dirty="0" err="1" smtClean="0"/>
              <a:t>complex</a:t>
            </a:r>
            <a:r>
              <a:rPr lang="fr-FR" sz="3200" dirty="0" smtClean="0"/>
              <a:t> content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/>
              <a:t>Raccourcis d'écriture 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Que des attributs :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 &lt;</a:t>
            </a:r>
            <a:r>
              <a:rPr lang="fr-FR" sz="20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="value"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xs:decimal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1618" y="838200"/>
            <a:ext cx="1208182" cy="1079500"/>
          </a:xfrm>
          <a:prstGeom prst="rect">
            <a:avLst/>
          </a:prstGeom>
        </p:spPr>
      </p:pic>
      <p:sp>
        <p:nvSpPr>
          <p:cNvPr id="11" name="Bulle ronde 10"/>
          <p:cNvSpPr/>
          <p:nvPr/>
        </p:nvSpPr>
        <p:spPr>
          <a:xfrm>
            <a:off x="6324600" y="1036020"/>
            <a:ext cx="990600" cy="441325"/>
          </a:xfrm>
          <a:prstGeom prst="wedgeEllipseCallout">
            <a:avLst>
              <a:gd name="adj1" fmla="val -84139"/>
              <a:gd name="adj2" fmla="val 2101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400" dirty="0" smtClean="0"/>
              <a:t>youpi!</a:t>
            </a:r>
            <a:endParaRPr lang="fr-FR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</a:t>
            </a:r>
            <a:r>
              <a:rPr lang="fr-FR" sz="3200" i="1" dirty="0" err="1" smtClean="0"/>
              <a:t>complex</a:t>
            </a:r>
            <a:r>
              <a:rPr lang="fr-FR" sz="3200" i="1" dirty="0" smtClean="0"/>
              <a:t> content</a:t>
            </a:r>
            <a:endParaRPr lang="fr-FR" sz="3200" i="1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i="1" dirty="0" smtClean="0"/>
              <a:t>Complexe content </a:t>
            </a:r>
            <a:r>
              <a:rPr lang="fr-FR" sz="2000" dirty="0" smtClean="0"/>
              <a:t>: :  l'élément  vérifiant le type est vide ou contient un ou plusieurs sous-élément(s) + éventuellement des attributs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/>
              <a:t>Exemples :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="EUR" value="345,67"/&gt;</a:t>
            </a:r>
          </a:p>
          <a:p>
            <a:pPr>
              <a:buNone/>
            </a:pPr>
            <a:endParaRPr lang="fr-FR" sz="2000" dirty="0" smtClean="0">
              <a:solidFill>
                <a:srgbClr val="1B587C"/>
              </a:solidFill>
              <a:latin typeface="Arial Unicode MS"/>
              <a:cs typeface="Arial Unicode MS"/>
            </a:endParaRPr>
          </a:p>
          <a:p>
            <a:pPr>
              <a:buNone/>
            </a:pPr>
            <a:endParaRPr lang="fr-FR" sz="2000" dirty="0" smtClean="0">
              <a:solidFill>
                <a:srgbClr val="1B587C"/>
              </a:solidFill>
              <a:latin typeface="Arial Unicode MS"/>
              <a:cs typeface="Arial Unicode MS"/>
            </a:endParaRP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date="2009-05-12"&gt;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&gt;EUR&lt;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&lt;value&gt;345,67&lt;value&gt;</a:t>
            </a:r>
          </a:p>
          <a:p>
            <a:pPr>
              <a:buNone/>
            </a:pP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&lt;/</a:t>
            </a:r>
            <a:r>
              <a:rPr lang="fr-FR" sz="2000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endParaRPr lang="fr-FR" sz="2000" dirty="0" smtClean="0"/>
          </a:p>
        </p:txBody>
      </p:sp>
      <p:cxnSp>
        <p:nvCxnSpPr>
          <p:cNvPr id="10" name="Connecteur droit avec flèche 9"/>
          <p:cNvCxnSpPr/>
          <p:nvPr/>
        </p:nvCxnSpPr>
        <p:spPr>
          <a:xfrm rot="10800000">
            <a:off x="5867400" y="33528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ZoneTexte 10"/>
          <p:cNvSpPr txBox="1"/>
          <p:nvPr/>
        </p:nvSpPr>
        <p:spPr>
          <a:xfrm>
            <a:off x="6324600" y="3886200"/>
            <a:ext cx="1935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accent2"/>
                </a:solidFill>
              </a:rPr>
              <a:t>Que des attributs</a:t>
            </a:r>
            <a:endParaRPr lang="fr-FR" dirty="0">
              <a:solidFill>
                <a:schemeClr val="accent2"/>
              </a:solidFill>
            </a:endParaRPr>
          </a:p>
        </p:txBody>
      </p:sp>
      <p:cxnSp>
        <p:nvCxnSpPr>
          <p:cNvPr id="12" name="Connecteur droit avec flèche 11"/>
          <p:cNvCxnSpPr/>
          <p:nvPr/>
        </p:nvCxnSpPr>
        <p:spPr>
          <a:xfrm rot="10800000">
            <a:off x="4343400" y="4724400"/>
            <a:ext cx="1066800" cy="533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ZoneTexte 12"/>
          <p:cNvSpPr txBox="1"/>
          <p:nvPr/>
        </p:nvSpPr>
        <p:spPr>
          <a:xfrm>
            <a:off x="4800600" y="5257800"/>
            <a:ext cx="2859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>
                <a:solidFill>
                  <a:schemeClr val="accent2"/>
                </a:solidFill>
              </a:rPr>
              <a:t>Sous-éléments et attributs</a:t>
            </a:r>
            <a:endParaRPr lang="fr-FR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à coins arrondis 14"/>
          <p:cNvSpPr/>
          <p:nvPr/>
        </p:nvSpPr>
        <p:spPr>
          <a:xfrm>
            <a:off x="148678" y="2342971"/>
            <a:ext cx="7013448" cy="25527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à coins arrondis 15"/>
          <p:cNvSpPr/>
          <p:nvPr/>
        </p:nvSpPr>
        <p:spPr>
          <a:xfrm>
            <a:off x="377277" y="2685871"/>
            <a:ext cx="6631775" cy="1523999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Rectangle à coins arrondis 17"/>
          <p:cNvSpPr/>
          <p:nvPr/>
        </p:nvSpPr>
        <p:spPr>
          <a:xfrm>
            <a:off x="381000" y="4209871"/>
            <a:ext cx="6628052" cy="304801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200" dirty="0" smtClean="0"/>
              <a:t>Types complexes : </a:t>
            </a:r>
            <a:r>
              <a:rPr lang="fr-FR" sz="3200" i="1" dirty="0" err="1" smtClean="0"/>
              <a:t>complex</a:t>
            </a:r>
            <a:r>
              <a:rPr lang="fr-FR" sz="3200" i="1" dirty="0" smtClean="0"/>
              <a:t> content</a:t>
            </a:r>
            <a:endParaRPr lang="fr-FR" sz="3200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258762" y="1527174"/>
            <a:ext cx="8504238" cy="48836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2000" dirty="0" smtClean="0"/>
              <a:t>Sous-éléments et attributs ("directement" en raccourcis d'écriture) :</a:t>
            </a:r>
          </a:p>
          <a:p>
            <a:pPr>
              <a:buNone/>
            </a:pPr>
            <a:endParaRPr lang="fr-FR" sz="2000" dirty="0" smtClean="0"/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&lt;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InternationalPrice</a:t>
            </a:r>
            <a:r>
              <a:rPr lang="fr-FR" sz="2000" dirty="0" smtClean="0">
                <a:latin typeface="Arial Unicode MS"/>
                <a:cs typeface="Arial Unicode MS"/>
              </a:rPr>
              <a:t>"&gt;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xs:sequence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</a:t>
            </a:r>
            <a:r>
              <a:rPr lang="fr-FR" sz="2000" dirty="0" err="1" smtClean="0">
                <a:latin typeface="Arial Unicode MS"/>
                <a:cs typeface="Arial Unicode MS"/>
              </a:rPr>
              <a:t>currency</a:t>
            </a:r>
            <a:r>
              <a:rPr lang="fr-FR" sz="2000" dirty="0" smtClean="0">
                <a:latin typeface="Arial Unicode MS"/>
                <a:cs typeface="Arial Unicode MS"/>
              </a:rPr>
              <a:t>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xs:string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 &lt;</a:t>
            </a:r>
            <a:r>
              <a:rPr lang="fr-FR" sz="2000" dirty="0" err="1" smtClean="0">
                <a:latin typeface="Arial Unicode MS"/>
                <a:cs typeface="Arial Unicode MS"/>
              </a:rPr>
              <a:t>xs:element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="value"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xs:decimal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&lt;/</a:t>
            </a:r>
            <a:r>
              <a:rPr lang="fr-FR" sz="2000" dirty="0" err="1" smtClean="0">
                <a:latin typeface="Arial Unicode MS"/>
                <a:cs typeface="Arial Unicode MS"/>
              </a:rPr>
              <a:t>xs:sequence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 &lt;</a:t>
            </a:r>
            <a:r>
              <a:rPr lang="fr-FR" sz="20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000" dirty="0" smtClean="0">
                <a:latin typeface="Arial Unicode MS"/>
                <a:cs typeface="Arial Unicode MS"/>
              </a:rPr>
              <a:t> </a:t>
            </a:r>
            <a:r>
              <a:rPr lang="fr-FR" sz="2000" dirty="0" err="1" smtClean="0">
                <a:latin typeface="Arial Unicode MS"/>
                <a:cs typeface="Arial Unicode MS"/>
              </a:rPr>
              <a:t>name</a:t>
            </a:r>
            <a:r>
              <a:rPr lang="fr-FR" sz="2000" dirty="0" smtClean="0">
                <a:latin typeface="Arial Unicode MS"/>
                <a:cs typeface="Arial Unicode MS"/>
              </a:rPr>
              <a:t>="date" type="</a:t>
            </a:r>
            <a:r>
              <a:rPr lang="fr-FR" sz="2000" dirty="0" err="1" smtClean="0">
                <a:latin typeface="Arial Unicode MS"/>
                <a:cs typeface="Arial Unicode MS"/>
              </a:rPr>
              <a:t>xs:date</a:t>
            </a:r>
            <a:r>
              <a:rPr lang="fr-FR" sz="2000" dirty="0" smtClean="0">
                <a:latin typeface="Arial Unicode MS"/>
                <a:cs typeface="Arial Unicode MS"/>
              </a:rPr>
              <a:t>"/&gt;</a:t>
            </a:r>
          </a:p>
          <a:p>
            <a:pPr>
              <a:buNone/>
            </a:pPr>
            <a:r>
              <a:rPr lang="fr-FR" sz="2000" dirty="0" smtClean="0">
                <a:latin typeface="Arial Unicode MS"/>
                <a:cs typeface="Arial Unicode MS"/>
              </a:rPr>
              <a:t> &lt;/</a:t>
            </a:r>
            <a:r>
              <a:rPr lang="fr-FR" sz="20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000" dirty="0" smtClean="0">
                <a:latin typeface="Arial Unicode MS"/>
                <a:cs typeface="Arial Unicode MS"/>
              </a:rPr>
              <a:t>&gt;</a:t>
            </a:r>
          </a:p>
        </p:txBody>
      </p:sp>
      <p:grpSp>
        <p:nvGrpSpPr>
          <p:cNvPr id="34" name="Grouper 33"/>
          <p:cNvGrpSpPr/>
          <p:nvPr/>
        </p:nvGrpSpPr>
        <p:grpSpPr>
          <a:xfrm>
            <a:off x="4800601" y="3295471"/>
            <a:ext cx="3962399" cy="2800529"/>
            <a:chOff x="4800601" y="2895600"/>
            <a:chExt cx="3962399" cy="2800529"/>
          </a:xfrm>
        </p:grpSpPr>
        <p:cxnSp>
          <p:nvCxnSpPr>
            <p:cNvPr id="6" name="Connecteur droit avec flèche 5"/>
            <p:cNvCxnSpPr>
              <a:stCxn id="7" idx="0"/>
            </p:cNvCxnSpPr>
            <p:nvPr/>
          </p:nvCxnSpPr>
          <p:spPr>
            <a:xfrm rot="16200000" flipV="1">
              <a:off x="5734050" y="2800350"/>
              <a:ext cx="1143000" cy="2247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7" name="ZoneTexte 6"/>
            <p:cNvSpPr txBox="1"/>
            <p:nvPr/>
          </p:nvSpPr>
          <p:spPr>
            <a:xfrm>
              <a:off x="6096000" y="4495800"/>
              <a:ext cx="2667000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fr-FR" dirty="0" smtClean="0">
                  <a:solidFill>
                    <a:schemeClr val="accent2"/>
                  </a:solidFill>
                </a:rPr>
                <a:t>type simples ici mais aurait pu être des appels à des types complexes définis précédemment</a:t>
              </a:r>
              <a:endParaRPr lang="fr-FR" dirty="0">
                <a:solidFill>
                  <a:schemeClr val="accent2"/>
                </a:solidFill>
              </a:endParaRPr>
            </a:p>
          </p:txBody>
        </p:sp>
        <p:cxnSp>
          <p:nvCxnSpPr>
            <p:cNvPr id="8" name="Connecteur droit avec flèche 7"/>
            <p:cNvCxnSpPr>
              <a:stCxn id="7" idx="0"/>
            </p:cNvCxnSpPr>
            <p:nvPr/>
          </p:nvCxnSpPr>
          <p:spPr>
            <a:xfrm rot="16200000" flipV="1">
              <a:off x="5811774" y="2878074"/>
              <a:ext cx="1600200" cy="163525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1" name="Connecteur droit avec flèche 10"/>
            <p:cNvCxnSpPr>
              <a:stCxn id="7" idx="0"/>
            </p:cNvCxnSpPr>
            <p:nvPr/>
          </p:nvCxnSpPr>
          <p:spPr>
            <a:xfrm rot="16200000" flipV="1">
              <a:off x="5924551" y="2990851"/>
              <a:ext cx="380999" cy="262890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sp>
        <p:nvSpPr>
          <p:cNvPr id="12" name="Rectangle 11"/>
          <p:cNvSpPr/>
          <p:nvPr/>
        </p:nvSpPr>
        <p:spPr>
          <a:xfrm>
            <a:off x="609600" y="549583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</a:t>
            </a:r>
            <a:r>
              <a:rPr lang="fr-FR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 date="2009-05-12"&gt;</a:t>
            </a:r>
          </a:p>
          <a:p>
            <a:pPr>
              <a:buNone/>
            </a:pP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</a:t>
            </a:r>
            <a:r>
              <a:rPr lang="fr-FR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&gt;EUR&lt;</a:t>
            </a:r>
            <a:r>
              <a:rPr lang="fr-FR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currency</a:t>
            </a: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  <a:p>
            <a:pPr>
              <a:buNone/>
            </a:pP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		&lt;value&gt;345,67&lt;value&gt;</a:t>
            </a:r>
          </a:p>
          <a:p>
            <a:pPr>
              <a:buNone/>
            </a:pP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&lt;/</a:t>
            </a:r>
            <a:r>
              <a:rPr lang="fr-FR" dirty="0" err="1" smtClean="0">
                <a:solidFill>
                  <a:srgbClr val="1B587C"/>
                </a:solidFill>
                <a:latin typeface="Arial Unicode MS"/>
                <a:cs typeface="Arial Unicode MS"/>
              </a:rPr>
              <a:t>InternationalPrice</a:t>
            </a:r>
            <a:r>
              <a:rPr lang="fr-FR" dirty="0" smtClean="0">
                <a:solidFill>
                  <a:srgbClr val="1B587C"/>
                </a:solidFill>
                <a:latin typeface="Arial Unicode MS"/>
                <a:cs typeface="Arial Unicode MS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8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 smtClean="0"/>
              <a:t>Types complexes : </a:t>
            </a:r>
            <a:r>
              <a:rPr lang="fr-FR" sz="3600" i="1" dirty="0" err="1" smtClean="0"/>
              <a:t>complex</a:t>
            </a:r>
            <a:r>
              <a:rPr lang="fr-FR" sz="3600" i="1" dirty="0" smtClean="0"/>
              <a:t> content</a:t>
            </a:r>
            <a:endParaRPr lang="fr-F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marL="6350" indent="-6350">
              <a:buNone/>
            </a:pPr>
            <a:r>
              <a:rPr lang="fr-FR" dirty="0" smtClean="0"/>
              <a:t>G</a:t>
            </a:r>
            <a:r>
              <a:rPr lang="fr-FR" dirty="0" smtClean="0"/>
              <a:t>rammaire plus complète des </a:t>
            </a:r>
            <a:r>
              <a:rPr lang="fr-FR" dirty="0" err="1" smtClean="0"/>
              <a:t>complex</a:t>
            </a:r>
            <a:r>
              <a:rPr lang="fr-FR" dirty="0" smtClean="0"/>
              <a:t> content </a:t>
            </a:r>
            <a:r>
              <a:rPr lang="fr-FR" sz="1800" dirty="0" smtClean="0"/>
              <a:t>("directement" en raccourcis d'écriture)</a:t>
            </a:r>
            <a:endParaRPr lang="fr-FR" dirty="0" smtClean="0"/>
          </a:p>
          <a:p>
            <a:endParaRPr lang="fr-FR" dirty="0" smtClean="0"/>
          </a:p>
          <a:p>
            <a:r>
              <a:rPr lang="fr-FR" i="1" dirty="0" err="1" smtClean="0"/>
              <a:t>Complex</a:t>
            </a:r>
            <a:r>
              <a:rPr lang="fr-FR" i="1" dirty="0" smtClean="0"/>
              <a:t> content</a:t>
            </a:r>
          </a:p>
          <a:p>
            <a:pPr lvl="1"/>
            <a:r>
              <a:rPr lang="fr-FR" dirty="0" smtClean="0"/>
              <a:t>Sans sous-élément, un </a:t>
            </a:r>
            <a:r>
              <a:rPr lang="fr-FR" i="1" dirty="0" err="1" smtClean="0"/>
              <a:t>complex</a:t>
            </a:r>
            <a:r>
              <a:rPr lang="fr-FR" i="1" dirty="0" smtClean="0"/>
              <a:t> content </a:t>
            </a:r>
            <a:r>
              <a:rPr lang="fr-FR" dirty="0" smtClean="0"/>
              <a:t>définit des attributs</a:t>
            </a:r>
          </a:p>
          <a:p>
            <a:pPr lvl="2"/>
            <a:r>
              <a:rPr lang="en-US" dirty="0" smtClean="0"/>
              <a:t>&lt;</a:t>
            </a:r>
            <a:r>
              <a:rPr lang="en-US" dirty="0" err="1" smtClean="0"/>
              <a:t>xs:attribute</a:t>
            </a:r>
            <a:r>
              <a:rPr lang="en-US" dirty="0" smtClean="0"/>
              <a:t> name=“</a:t>
            </a:r>
            <a:r>
              <a:rPr lang="en-US" dirty="0" err="1" smtClean="0"/>
              <a:t>n</a:t>
            </a:r>
            <a:r>
              <a:rPr lang="en-US" dirty="0" smtClean="0"/>
              <a:t>" type="</a:t>
            </a:r>
            <a:r>
              <a:rPr lang="en-US" dirty="0" err="1" smtClean="0"/>
              <a:t>xs:t</a:t>
            </a:r>
            <a:r>
              <a:rPr lang="en-US" dirty="0" smtClean="0"/>
              <a:t>" use=“</a:t>
            </a:r>
            <a:r>
              <a:rPr lang="en-US" dirty="0" err="1" smtClean="0"/>
              <a:t>u</a:t>
            </a:r>
            <a:r>
              <a:rPr lang="en-US" dirty="0" smtClean="0"/>
              <a:t>" /&gt;</a:t>
            </a:r>
          </a:p>
          <a:p>
            <a:pPr lvl="3"/>
            <a:r>
              <a:rPr lang="fr-FR" dirty="0" smtClean="0"/>
              <a:t>n est le nom de l’attribut</a:t>
            </a:r>
          </a:p>
          <a:p>
            <a:pPr lvl="3"/>
            <a:r>
              <a:rPr lang="fr-FR" dirty="0" smtClean="0"/>
              <a:t>t est le type XML </a:t>
            </a:r>
            <a:r>
              <a:rPr lang="fr-FR" dirty="0" err="1" smtClean="0"/>
              <a:t>schema</a:t>
            </a:r>
            <a:r>
              <a:rPr lang="fr-FR" dirty="0" smtClean="0"/>
              <a:t> de l’attribut</a:t>
            </a:r>
          </a:p>
          <a:p>
            <a:pPr lvl="4">
              <a:buNone/>
            </a:pPr>
            <a:r>
              <a:rPr lang="fr-FR" dirty="0" smtClean="0"/>
              <a:t>ENTITY, ID, IDREF(S), string, restriction de string </a:t>
            </a:r>
          </a:p>
          <a:p>
            <a:pPr lvl="3"/>
            <a:r>
              <a:rPr lang="fr-FR" dirty="0" smtClean="0"/>
              <a:t>u définit la nécessité de l’attribut</a:t>
            </a:r>
          </a:p>
          <a:p>
            <a:pPr lvl="4">
              <a:buNone/>
            </a:pPr>
            <a:r>
              <a:rPr lang="fr-FR" dirty="0" smtClean="0"/>
              <a:t>u </a:t>
            </a:r>
            <a:r>
              <a:rPr lang="fr-FR" dirty="0" err="1" smtClean="0">
                <a:sym typeface="Symbol" charset="2"/>
              </a:rPr>
              <a:t>{optional,required</a:t>
            </a:r>
            <a:r>
              <a:rPr lang="fr-FR" dirty="0" smtClean="0">
                <a:sym typeface="Symbol" charset="2"/>
              </a:rPr>
              <a:t>} et u=</a:t>
            </a:r>
            <a:r>
              <a:rPr lang="fr-FR" dirty="0" err="1" smtClean="0">
                <a:sym typeface="Symbol" charset="2"/>
              </a:rPr>
              <a:t>optional</a:t>
            </a:r>
            <a:r>
              <a:rPr lang="fr-FR" dirty="0" smtClean="0">
                <a:sym typeface="Symbol" charset="2"/>
              </a:rPr>
              <a:t> par défaut</a:t>
            </a:r>
            <a:endParaRPr lang="fr-FR" dirty="0">
              <a:sym typeface="Symbol" charset="2"/>
            </a:endParaRPr>
          </a:p>
        </p:txBody>
      </p:sp>
      <p:sp>
        <p:nvSpPr>
          <p:cNvPr id="11" name="Espace réservé du pied de page 2"/>
          <p:cNvSpPr txBox="1">
            <a:spLocks/>
          </p:cNvSpPr>
          <p:nvPr/>
        </p:nvSpPr>
        <p:spPr>
          <a:xfrm>
            <a:off x="7350252" y="6410848"/>
            <a:ext cx="2250948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 F. </a:t>
            </a:r>
            <a:r>
              <a:rPr kumimoji="0" lang="fr-FR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Goasdoué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 smtClean="0"/>
              <a:t>Types complexes : </a:t>
            </a:r>
            <a:r>
              <a:rPr lang="fr-FR" sz="3600" i="1" dirty="0" err="1" smtClean="0"/>
              <a:t>complex</a:t>
            </a:r>
            <a:r>
              <a:rPr lang="fr-FR" sz="3600" i="1" dirty="0" smtClean="0"/>
              <a:t> content</a:t>
            </a:r>
            <a:endParaRPr lang="fr-FR" dirty="0"/>
          </a:p>
        </p:txBody>
      </p:sp>
      <p:sp>
        <p:nvSpPr>
          <p:cNvPr id="72707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6200" y="1527048"/>
            <a:ext cx="4498848" cy="4572000"/>
          </a:xfrm>
        </p:spPr>
        <p:txBody>
          <a:bodyPr>
            <a:normAutofit fontScale="85000" lnSpcReduction="10000"/>
          </a:bodyPr>
          <a:lstStyle/>
          <a:p>
            <a:r>
              <a:rPr lang="fr-FR" i="1" dirty="0" err="1" smtClean="0"/>
              <a:t>Complex</a:t>
            </a:r>
            <a:r>
              <a:rPr lang="fr-FR" i="1" dirty="0" smtClean="0"/>
              <a:t> content</a:t>
            </a:r>
          </a:p>
          <a:p>
            <a:pPr lvl="1"/>
            <a:r>
              <a:rPr lang="fr-FR" dirty="0" smtClean="0"/>
              <a:t>Avec sous-éléments et éventuellement des attributs</a:t>
            </a:r>
          </a:p>
          <a:p>
            <a:pPr lvl="2"/>
            <a:r>
              <a:rPr lang="fr-FR" dirty="0" smtClean="0"/>
              <a:t>On peut avoir</a:t>
            </a:r>
          </a:p>
          <a:p>
            <a:pPr lvl="3"/>
            <a:r>
              <a:rPr lang="fr-FR" dirty="0" smtClean="0"/>
              <a:t>Une séquence (</a:t>
            </a:r>
            <a:r>
              <a:rPr lang="fr-FR" dirty="0" err="1" smtClean="0"/>
              <a:t>sequence</a:t>
            </a:r>
            <a:r>
              <a:rPr lang="fr-FR" dirty="0" smtClean="0"/>
              <a:t>) de sous-éléments dans l'ordre de la définition</a:t>
            </a:r>
          </a:p>
          <a:p>
            <a:pPr lvl="3"/>
            <a:r>
              <a:rPr lang="fr-FR" dirty="0" smtClean="0"/>
              <a:t>Exactement un choix (</a:t>
            </a:r>
            <a:r>
              <a:rPr lang="fr-FR" dirty="0" err="1" smtClean="0"/>
              <a:t>choice</a:t>
            </a:r>
            <a:r>
              <a:rPr lang="fr-FR" dirty="0" smtClean="0"/>
              <a:t>) de sous-éléments</a:t>
            </a:r>
          </a:p>
          <a:p>
            <a:pPr lvl="3"/>
            <a:r>
              <a:rPr lang="fr-FR" dirty="0" smtClean="0"/>
              <a:t>Un ensemble (all) de sous-éléments dans n'importe quel ordre</a:t>
            </a:r>
          </a:p>
          <a:p>
            <a:pPr lvl="3"/>
            <a:r>
              <a:rPr lang="fr-FR" dirty="0" smtClean="0"/>
              <a:t>Suivi d’attributs</a:t>
            </a:r>
            <a:endParaRPr lang="fr-FR" dirty="0"/>
          </a:p>
        </p:txBody>
      </p:sp>
      <p:sp>
        <p:nvSpPr>
          <p:cNvPr id="12" name="ZoneTexte 11"/>
          <p:cNvSpPr txBox="1"/>
          <p:nvPr/>
        </p:nvSpPr>
        <p:spPr>
          <a:xfrm>
            <a:off x="4575047" y="1752600"/>
            <a:ext cx="464515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xs:all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ref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="cats"/&gt;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ref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dogs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"/&gt;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&lt;/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xs:all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&gt;</a:t>
            </a:r>
          </a:p>
          <a:p>
            <a:endParaRPr lang="fr-FR" sz="1600" dirty="0" smtClean="0">
              <a:solidFill>
                <a:schemeClr val="bg1">
                  <a:lumMod val="50000"/>
                </a:schemeClr>
              </a:solidFill>
              <a:latin typeface="Arial Unicode MS"/>
              <a:cs typeface="Arial Unicode MS"/>
            </a:endParaRP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xs:sequence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xs:choice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 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left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 type="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posType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"/&gt;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 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="right" type="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posType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"/&gt;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&lt;/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xs:choice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xs:element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="orientation" 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                     type="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xs:string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"/&gt;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&lt;/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xs:sequence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xs:attribute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="date" type="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xs:date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"/&gt;</a:t>
            </a:r>
          </a:p>
          <a:p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&lt;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xs:attribute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 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name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iref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 type="</a:t>
            </a:r>
            <a:r>
              <a:rPr lang="fr-FR" sz="1600" dirty="0" err="1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irefType</a:t>
            </a:r>
            <a:r>
              <a:rPr lang="fr-FR" sz="1600" dirty="0" smtClean="0">
                <a:solidFill>
                  <a:schemeClr val="bg1">
                    <a:lumMod val="50000"/>
                  </a:schemeClr>
                </a:solidFill>
                <a:latin typeface="Arial Unicode MS"/>
                <a:cs typeface="Arial Unicode MS"/>
              </a:rPr>
              <a:t>"/&gt;</a:t>
            </a:r>
            <a:endParaRPr lang="fr-FR" sz="1600" dirty="0">
              <a:solidFill>
                <a:schemeClr val="bg1">
                  <a:lumMod val="50000"/>
                </a:schemeClr>
              </a:solidFill>
              <a:latin typeface="Arial Unicode MS"/>
              <a:cs typeface="Arial Unicode MS"/>
            </a:endParaRPr>
          </a:p>
        </p:txBody>
      </p:sp>
      <p:sp>
        <p:nvSpPr>
          <p:cNvPr id="9" name="Espace réservé du pied de page 2"/>
          <p:cNvSpPr txBox="1">
            <a:spLocks/>
          </p:cNvSpPr>
          <p:nvPr/>
        </p:nvSpPr>
        <p:spPr>
          <a:xfrm>
            <a:off x="7350252" y="6410848"/>
            <a:ext cx="2250948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 F. </a:t>
            </a:r>
            <a:r>
              <a:rPr kumimoji="0" lang="fr-FR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Goasdoué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 smtClean="0"/>
              <a:t>Types complexes : </a:t>
            </a:r>
            <a:r>
              <a:rPr lang="fr-FR" sz="3600" i="1" dirty="0" err="1" smtClean="0"/>
              <a:t>complex</a:t>
            </a:r>
            <a:r>
              <a:rPr lang="fr-FR" sz="3600" i="1" dirty="0" smtClean="0"/>
              <a:t> content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7375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library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libtype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libtype</a:t>
            </a:r>
            <a:r>
              <a:rPr lang="fr-FR" sz="2800" dirty="0" smtClean="0">
                <a:latin typeface="Arial Unicode MS"/>
                <a:cs typeface="Arial Unicode MS"/>
              </a:rPr>
              <a:t>"&gt;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xs:choice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="0"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unbounded</a:t>
            </a:r>
            <a:r>
              <a:rPr lang="fr-FR" sz="2800" dirty="0" smtClean="0">
                <a:latin typeface="Arial Unicode MS"/>
                <a:cs typeface="Arial Unicode MS"/>
              </a:rPr>
              <a:t>"&gt;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="document" type="</a:t>
            </a:r>
            <a:r>
              <a:rPr lang="fr-FR" sz="2800" dirty="0" err="1" smtClean="0">
                <a:latin typeface="Arial Unicode MS"/>
                <a:cs typeface="Arial Unicode MS"/>
              </a:rPr>
              <a:t>doctype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publisher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pubtype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&lt;/</a:t>
            </a:r>
            <a:r>
              <a:rPr lang="fr-FR" sz="2800" dirty="0" err="1" smtClean="0">
                <a:latin typeface="Arial Unicode MS"/>
                <a:cs typeface="Arial Unicode MS"/>
              </a:rPr>
              <a:t>xs:choice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&lt;/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endParaRPr lang="fr-FR" sz="2800" dirty="0" smtClean="0">
              <a:latin typeface="Arial Unicode MS"/>
              <a:cs typeface="Arial Unicode MS"/>
            </a:endParaRP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doctype</a:t>
            </a:r>
            <a:r>
              <a:rPr lang="fr-FR" sz="2800" dirty="0" smtClean="0">
                <a:latin typeface="Arial Unicode MS"/>
                <a:cs typeface="Arial Unicode MS"/>
              </a:rPr>
              <a:t>"&gt;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xs:sequence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="ISBN"  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="0"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="1"/&gt;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author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="1"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unbounded</a:t>
            </a:r>
            <a:r>
              <a:rPr lang="fr-FR" sz="2800" dirty="0" smtClean="0">
                <a:latin typeface="Arial Unicode MS"/>
                <a:cs typeface="Arial Unicode MS"/>
              </a:rPr>
              <a:t>"/&gt;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title</a:t>
            </a:r>
            <a:r>
              <a:rPr lang="fr-FR" sz="2800" dirty="0" smtClean="0">
                <a:latin typeface="Arial Unicode MS"/>
                <a:cs typeface="Arial Unicode MS"/>
              </a:rPr>
              <a:t>"     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="1"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="1"/&gt;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="date"     type="</a:t>
            </a:r>
            <a:r>
              <a:rPr lang="fr-FR" sz="2800" dirty="0" err="1" smtClean="0">
                <a:latin typeface="Arial Unicode MS"/>
                <a:cs typeface="Arial Unicode MS"/>
              </a:rPr>
              <a:t>xs:date</a:t>
            </a:r>
            <a:r>
              <a:rPr lang="fr-FR" sz="2800" dirty="0" smtClean="0">
                <a:latin typeface="Arial Unicode MS"/>
                <a:cs typeface="Arial Unicode MS"/>
              </a:rPr>
              <a:t>"  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="0"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="1"/&gt;		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&lt;/</a:t>
            </a:r>
            <a:r>
              <a:rPr lang="fr-FR" sz="2800" dirty="0" err="1" smtClean="0">
                <a:latin typeface="Arial Unicode MS"/>
                <a:cs typeface="Arial Unicode MS"/>
              </a:rPr>
              <a:t>xs:sequence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callnumber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xs:ID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required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language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optional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status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statype</a:t>
            </a:r>
            <a:r>
              <a:rPr lang="fr-FR" sz="2800" dirty="0" smtClean="0">
                <a:latin typeface="Arial Unicode MS"/>
                <a:cs typeface="Arial Unicode MS"/>
              </a:rPr>
              <a:t>" default="</a:t>
            </a:r>
            <a:r>
              <a:rPr lang="fr-FR" sz="2800" dirty="0" err="1" smtClean="0">
                <a:latin typeface="Arial Unicode MS"/>
                <a:cs typeface="Arial Unicode MS"/>
              </a:rPr>
              <a:t>average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publishedby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xs:IDREF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optional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related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xs:IDREFS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optional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&lt;/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</p:txBody>
      </p:sp>
      <p:sp>
        <p:nvSpPr>
          <p:cNvPr id="6" name="Espace réservé du pied de page 2"/>
          <p:cNvSpPr txBox="1">
            <a:spLocks/>
          </p:cNvSpPr>
          <p:nvPr/>
        </p:nvSpPr>
        <p:spPr>
          <a:xfrm>
            <a:off x="7350252" y="6410848"/>
            <a:ext cx="2250948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 F. </a:t>
            </a:r>
            <a:r>
              <a:rPr kumimoji="0" lang="fr-FR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Goasdoué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 smtClean="0"/>
              <a:t>Conclusion</a:t>
            </a:r>
            <a:endParaRPr lang="fr-FR" dirty="0"/>
          </a:p>
        </p:txBody>
      </p:sp>
      <p:graphicFrame>
        <p:nvGraphicFramePr>
          <p:cNvPr id="5" name="Espace réservé du contenu 4"/>
          <p:cNvGraphicFramePr>
            <a:graphicFrameLocks noGrp="1"/>
          </p:cNvGraphicFramePr>
          <p:nvPr>
            <p:ph sz="quarter" idx="1"/>
          </p:nvPr>
        </p:nvGraphicFramePr>
        <p:xfrm>
          <a:off x="685800" y="3058160"/>
          <a:ext cx="7699375" cy="2123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4545"/>
                <a:gridCol w="1594545"/>
                <a:gridCol w="1594545"/>
                <a:gridCol w="291574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Contenu de l'élément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Attribut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Type</a:t>
                      </a:r>
                      <a:endParaRPr lang="fr-F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Contenu</a:t>
                      </a:r>
                      <a:endParaRPr lang="fr-FR" dirty="0"/>
                    </a:p>
                  </a:txBody>
                  <a:tcPr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Texte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Sans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Simple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i="1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pas</a:t>
                      </a:r>
                      <a:r>
                        <a:rPr lang="fr-FR" i="1" baseline="0" dirty="0" smtClean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</a:rPr>
                        <a:t> un type complexe</a:t>
                      </a:r>
                      <a:endParaRPr lang="fr-FR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Avec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Complexe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simple content</a:t>
                      </a:r>
                      <a:endParaRPr lang="fr-FR" i="1" dirty="0"/>
                    </a:p>
                  </a:txBody>
                  <a:tcPr anchor="ctr"/>
                </a:tc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Vide ou sous-éléments</a:t>
                      </a:r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Sans</a:t>
                      </a:r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Complexe</a:t>
                      </a:r>
                      <a:endParaRPr lang="fr-FR" dirty="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dirty="0" err="1" smtClean="0"/>
                        <a:t>complex</a:t>
                      </a:r>
                      <a:r>
                        <a:rPr lang="fr-FR" baseline="0" dirty="0" smtClean="0"/>
                        <a:t> content</a:t>
                      </a:r>
                      <a:endParaRPr lang="fr-FR" i="1" dirty="0"/>
                    </a:p>
                  </a:txBody>
                  <a:tcPr anchor="ctr"/>
                </a:tc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fr-F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smtClean="0"/>
                        <a:t>Avec</a:t>
                      </a:r>
                      <a:endParaRPr lang="fr-FR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fr-FR" i="1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ZoneTexte 6"/>
          <p:cNvSpPr txBox="1"/>
          <p:nvPr/>
        </p:nvSpPr>
        <p:spPr>
          <a:xfrm>
            <a:off x="685800" y="2209800"/>
            <a:ext cx="40252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Quel type contenu de type complexe 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re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ID, IDREF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r>
              <a:rPr lang="fr-FR" i="1" dirty="0" err="1" smtClean="0"/>
              <a:t>Complex</a:t>
            </a:r>
            <a:r>
              <a:rPr lang="fr-FR" i="1" dirty="0" smtClean="0"/>
              <a:t> content</a:t>
            </a:r>
          </a:p>
          <a:p>
            <a:pPr lvl="1"/>
            <a:r>
              <a:rPr lang="fr-FR" dirty="0" smtClean="0"/>
              <a:t>Sans sous élément, un </a:t>
            </a:r>
            <a:r>
              <a:rPr lang="fr-FR" i="1" dirty="0" err="1" smtClean="0"/>
              <a:t>complex</a:t>
            </a:r>
            <a:r>
              <a:rPr lang="fr-FR" i="1" dirty="0" smtClean="0"/>
              <a:t> content </a:t>
            </a:r>
            <a:r>
              <a:rPr lang="fr-FR" dirty="0" smtClean="0"/>
              <a:t>définit des attributs</a:t>
            </a:r>
          </a:p>
          <a:p>
            <a:pPr lvl="2"/>
            <a:r>
              <a:rPr lang="en-US" dirty="0" smtClean="0"/>
              <a:t>&lt;</a:t>
            </a:r>
            <a:r>
              <a:rPr lang="en-US" dirty="0" err="1" smtClean="0"/>
              <a:t>xs:attribute</a:t>
            </a:r>
            <a:r>
              <a:rPr lang="en-US" dirty="0" smtClean="0"/>
              <a:t> name=“</a:t>
            </a:r>
            <a:r>
              <a:rPr lang="en-US" dirty="0" err="1" smtClean="0"/>
              <a:t>n</a:t>
            </a:r>
            <a:r>
              <a:rPr lang="en-US" dirty="0" smtClean="0"/>
              <a:t>" type="</a:t>
            </a:r>
            <a:r>
              <a:rPr lang="en-US" dirty="0" err="1" smtClean="0"/>
              <a:t>xs:t</a:t>
            </a:r>
            <a:r>
              <a:rPr lang="en-US" dirty="0" smtClean="0"/>
              <a:t>" use=“</a:t>
            </a:r>
            <a:r>
              <a:rPr lang="en-US" dirty="0" err="1" smtClean="0"/>
              <a:t>u</a:t>
            </a:r>
            <a:r>
              <a:rPr lang="en-US" dirty="0" smtClean="0"/>
              <a:t>" /&gt;</a:t>
            </a:r>
          </a:p>
          <a:p>
            <a:pPr lvl="3"/>
            <a:r>
              <a:rPr lang="fr-FR" dirty="0" smtClean="0"/>
              <a:t>n est le nom de l’attribut</a:t>
            </a:r>
          </a:p>
          <a:p>
            <a:pPr lvl="3"/>
            <a:r>
              <a:rPr lang="fr-FR" dirty="0" smtClean="0"/>
              <a:t>t est le type XML </a:t>
            </a:r>
            <a:r>
              <a:rPr lang="fr-FR" dirty="0" err="1" smtClean="0"/>
              <a:t>schema</a:t>
            </a:r>
            <a:r>
              <a:rPr lang="fr-FR" dirty="0" smtClean="0"/>
              <a:t> de l’attribut</a:t>
            </a:r>
          </a:p>
          <a:p>
            <a:pPr lvl="4">
              <a:buNone/>
            </a:pPr>
            <a:r>
              <a:rPr lang="fr-FR" dirty="0" smtClean="0"/>
              <a:t>ENTITY, ID, IDREF(S), string, restriction de string </a:t>
            </a:r>
          </a:p>
          <a:p>
            <a:pPr lvl="3"/>
            <a:r>
              <a:rPr lang="fr-FR" dirty="0" smtClean="0"/>
              <a:t>u définit la nécessité de l’attribut</a:t>
            </a:r>
          </a:p>
          <a:p>
            <a:pPr lvl="4">
              <a:buNone/>
            </a:pPr>
            <a:r>
              <a:rPr lang="fr-FR" dirty="0" smtClean="0"/>
              <a:t>u </a:t>
            </a:r>
            <a:r>
              <a:rPr lang="fr-FR" dirty="0" err="1" smtClean="0">
                <a:sym typeface="Symbol" charset="2"/>
              </a:rPr>
              <a:t>{optional,required</a:t>
            </a:r>
            <a:r>
              <a:rPr lang="fr-FR" dirty="0" smtClean="0">
                <a:sym typeface="Symbol" charset="2"/>
              </a:rPr>
              <a:t>} et u=</a:t>
            </a:r>
            <a:r>
              <a:rPr lang="fr-FR" dirty="0" err="1" smtClean="0">
                <a:sym typeface="Symbol" charset="2"/>
              </a:rPr>
              <a:t>optional</a:t>
            </a:r>
            <a:r>
              <a:rPr lang="fr-FR" dirty="0" smtClean="0">
                <a:sym typeface="Symbol" charset="2"/>
              </a:rPr>
              <a:t> par défaut</a:t>
            </a:r>
            <a:endParaRPr lang="fr-FR" dirty="0">
              <a:sym typeface="Symbol" charset="2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7665" y="4696827"/>
            <a:ext cx="814490" cy="732455"/>
          </a:xfrm>
          <a:prstGeom prst="rect">
            <a:avLst/>
          </a:prstGeom>
        </p:spPr>
      </p:pic>
      <p:sp>
        <p:nvSpPr>
          <p:cNvPr id="11" name="Espace réservé du pied de page 2"/>
          <p:cNvSpPr txBox="1">
            <a:spLocks/>
          </p:cNvSpPr>
          <p:nvPr/>
        </p:nvSpPr>
        <p:spPr>
          <a:xfrm>
            <a:off x="7350252" y="6410848"/>
            <a:ext cx="2250948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 F. </a:t>
            </a:r>
            <a:r>
              <a:rPr kumimoji="0" lang="fr-FR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Goasdoué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12" name="Grouper 12"/>
          <p:cNvGrpSpPr/>
          <p:nvPr/>
        </p:nvGrpSpPr>
        <p:grpSpPr>
          <a:xfrm>
            <a:off x="7040185" y="4876800"/>
            <a:ext cx="1117480" cy="369332"/>
            <a:chOff x="6324600" y="4234934"/>
            <a:chExt cx="1117480" cy="369332"/>
          </a:xfrm>
        </p:grpSpPr>
        <p:cxnSp>
          <p:nvCxnSpPr>
            <p:cNvPr id="13" name="Connecteur droit avec flèche 12"/>
            <p:cNvCxnSpPr/>
            <p:nvPr/>
          </p:nvCxnSpPr>
          <p:spPr>
            <a:xfrm rot="10800000">
              <a:off x="6324600" y="4419600"/>
              <a:ext cx="9328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ZoneTexte 13"/>
            <p:cNvSpPr txBox="1"/>
            <p:nvPr/>
          </p:nvSpPr>
          <p:spPr>
            <a:xfrm>
              <a:off x="7257414" y="4234934"/>
              <a:ext cx="1846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>
                <a:solidFill>
                  <a:schemeClr val="accent1"/>
                </a:solidFill>
                <a:latin typeface="Arial Narrow"/>
                <a:cs typeface="Arial Narrow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3600" dirty="0" smtClean="0"/>
              <a:t>Types complexes : </a:t>
            </a:r>
            <a:r>
              <a:rPr lang="fr-FR" sz="3600" i="1" dirty="0" err="1" smtClean="0"/>
              <a:t>complex</a:t>
            </a:r>
            <a:r>
              <a:rPr lang="fr-FR" sz="3600" i="1" dirty="0" smtClean="0"/>
              <a:t> content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873752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library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libtype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libtype</a:t>
            </a:r>
            <a:r>
              <a:rPr lang="fr-FR" sz="2800" dirty="0" smtClean="0">
                <a:latin typeface="Arial Unicode MS"/>
                <a:cs typeface="Arial Unicode MS"/>
              </a:rPr>
              <a:t>"&gt;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xs:choice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="0"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unbounded</a:t>
            </a:r>
            <a:r>
              <a:rPr lang="fr-FR" sz="2800" dirty="0" smtClean="0">
                <a:latin typeface="Arial Unicode MS"/>
                <a:cs typeface="Arial Unicode MS"/>
              </a:rPr>
              <a:t>"&gt;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="document" type="</a:t>
            </a:r>
            <a:r>
              <a:rPr lang="fr-FR" sz="2800" dirty="0" err="1" smtClean="0">
                <a:latin typeface="Arial Unicode MS"/>
                <a:cs typeface="Arial Unicode MS"/>
              </a:rPr>
              <a:t>doctype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publisher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pubtype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&lt;/</a:t>
            </a:r>
            <a:r>
              <a:rPr lang="fr-FR" sz="2800" dirty="0" err="1" smtClean="0">
                <a:latin typeface="Arial Unicode MS"/>
                <a:cs typeface="Arial Unicode MS"/>
              </a:rPr>
              <a:t>xs:choice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&lt;/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endParaRPr lang="fr-FR" sz="2800" dirty="0" smtClean="0">
              <a:latin typeface="Arial Unicode MS"/>
              <a:cs typeface="Arial Unicode MS"/>
            </a:endParaRP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doctype</a:t>
            </a:r>
            <a:r>
              <a:rPr lang="fr-FR" sz="2800" dirty="0" smtClean="0">
                <a:latin typeface="Arial Unicode MS"/>
                <a:cs typeface="Arial Unicode MS"/>
              </a:rPr>
              <a:t>"&gt;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xs:sequence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="ISBN"  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="0"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="1"/&gt;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author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="1"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unbounded</a:t>
            </a:r>
            <a:r>
              <a:rPr lang="fr-FR" sz="2800" dirty="0" smtClean="0">
                <a:latin typeface="Arial Unicode MS"/>
                <a:cs typeface="Arial Unicode MS"/>
              </a:rPr>
              <a:t>"/&gt;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title</a:t>
            </a:r>
            <a:r>
              <a:rPr lang="fr-FR" sz="2800" dirty="0" smtClean="0">
                <a:latin typeface="Arial Unicode MS"/>
                <a:cs typeface="Arial Unicode MS"/>
              </a:rPr>
              <a:t>"     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="1"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="1"/&gt;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	&lt;</a:t>
            </a:r>
            <a:r>
              <a:rPr lang="fr-FR" sz="2800" dirty="0" err="1" smtClean="0">
                <a:latin typeface="Arial Unicode MS"/>
                <a:cs typeface="Arial Unicode MS"/>
              </a:rPr>
              <a:t>xs:element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="date"     type="</a:t>
            </a:r>
            <a:r>
              <a:rPr lang="fr-FR" sz="2800" dirty="0" err="1" smtClean="0">
                <a:latin typeface="Arial Unicode MS"/>
                <a:cs typeface="Arial Unicode MS"/>
              </a:rPr>
              <a:t>xs:date</a:t>
            </a:r>
            <a:r>
              <a:rPr lang="fr-FR" sz="2800" dirty="0" smtClean="0">
                <a:latin typeface="Arial Unicode MS"/>
                <a:cs typeface="Arial Unicode MS"/>
              </a:rPr>
              <a:t>"   </a:t>
            </a:r>
            <a:r>
              <a:rPr lang="fr-FR" sz="2800" dirty="0" err="1" smtClean="0">
                <a:latin typeface="Arial Unicode MS"/>
                <a:cs typeface="Arial Unicode MS"/>
              </a:rPr>
              <a:t>minOccurs</a:t>
            </a:r>
            <a:r>
              <a:rPr lang="fr-FR" sz="2800" dirty="0" smtClean="0">
                <a:latin typeface="Arial Unicode MS"/>
                <a:cs typeface="Arial Unicode MS"/>
              </a:rPr>
              <a:t>="0" </a:t>
            </a:r>
            <a:r>
              <a:rPr lang="fr-FR" sz="2800" dirty="0" err="1" smtClean="0">
                <a:latin typeface="Arial Unicode MS"/>
                <a:cs typeface="Arial Unicode MS"/>
              </a:rPr>
              <a:t>maxOccurs</a:t>
            </a:r>
            <a:r>
              <a:rPr lang="fr-FR" sz="2800" dirty="0" smtClean="0">
                <a:latin typeface="Arial Unicode MS"/>
                <a:cs typeface="Arial Unicode MS"/>
              </a:rPr>
              <a:t>="1"/&gt;		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&lt;/</a:t>
            </a:r>
            <a:r>
              <a:rPr lang="fr-FR" sz="2800" dirty="0" err="1" smtClean="0">
                <a:latin typeface="Arial Unicode MS"/>
                <a:cs typeface="Arial Unicode MS"/>
              </a:rPr>
              <a:t>xs:sequence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callnumber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xs:ID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required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language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xs:string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optional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status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statype</a:t>
            </a:r>
            <a:r>
              <a:rPr lang="fr-FR" sz="2800" dirty="0" smtClean="0">
                <a:latin typeface="Arial Unicode MS"/>
                <a:cs typeface="Arial Unicode MS"/>
              </a:rPr>
              <a:t>" default="</a:t>
            </a:r>
            <a:r>
              <a:rPr lang="fr-FR" sz="2800" dirty="0" err="1" smtClean="0">
                <a:latin typeface="Arial Unicode MS"/>
                <a:cs typeface="Arial Unicode MS"/>
              </a:rPr>
              <a:t>average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publishedby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xs:IDREF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optional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	&lt;</a:t>
            </a:r>
            <a:r>
              <a:rPr lang="fr-FR" sz="2800" dirty="0" err="1" smtClean="0">
                <a:latin typeface="Arial Unicode MS"/>
                <a:cs typeface="Arial Unicode MS"/>
              </a:rPr>
              <a:t>xs:attribute</a:t>
            </a:r>
            <a:r>
              <a:rPr lang="fr-FR" sz="2800" dirty="0" smtClean="0">
                <a:latin typeface="Arial Unicode MS"/>
                <a:cs typeface="Arial Unicode MS"/>
              </a:rPr>
              <a:t> </a:t>
            </a:r>
            <a:r>
              <a:rPr lang="fr-FR" sz="2800" dirty="0" err="1" smtClean="0">
                <a:latin typeface="Arial Unicode MS"/>
                <a:cs typeface="Arial Unicode MS"/>
              </a:rPr>
              <a:t>name</a:t>
            </a:r>
            <a:r>
              <a:rPr lang="fr-FR" sz="2800" dirty="0" smtClean="0">
                <a:latin typeface="Arial Unicode MS"/>
                <a:cs typeface="Arial Unicode MS"/>
              </a:rPr>
              <a:t>="</a:t>
            </a:r>
            <a:r>
              <a:rPr lang="fr-FR" sz="2800" dirty="0" err="1" smtClean="0">
                <a:latin typeface="Arial Unicode MS"/>
                <a:cs typeface="Arial Unicode MS"/>
              </a:rPr>
              <a:t>related</a:t>
            </a:r>
            <a:r>
              <a:rPr lang="fr-FR" sz="2800" dirty="0" smtClean="0">
                <a:latin typeface="Arial Unicode MS"/>
                <a:cs typeface="Arial Unicode MS"/>
              </a:rPr>
              <a:t>" type="</a:t>
            </a:r>
            <a:r>
              <a:rPr lang="fr-FR" sz="2800" dirty="0" err="1" smtClean="0">
                <a:latin typeface="Arial Unicode MS"/>
                <a:cs typeface="Arial Unicode MS"/>
              </a:rPr>
              <a:t>xs:IDREFS</a:t>
            </a:r>
            <a:r>
              <a:rPr lang="fr-FR" sz="2800" dirty="0" smtClean="0">
                <a:latin typeface="Arial Unicode MS"/>
                <a:cs typeface="Arial Unicode MS"/>
              </a:rPr>
              <a:t>" use="</a:t>
            </a:r>
            <a:r>
              <a:rPr lang="fr-FR" sz="2800" dirty="0" err="1" smtClean="0">
                <a:latin typeface="Arial Unicode MS"/>
                <a:cs typeface="Arial Unicode MS"/>
              </a:rPr>
              <a:t>optional</a:t>
            </a:r>
            <a:r>
              <a:rPr lang="fr-FR" sz="2800" dirty="0" smtClean="0">
                <a:latin typeface="Arial Unicode MS"/>
                <a:cs typeface="Arial Unicode MS"/>
              </a:rPr>
              <a:t>" /&gt;</a:t>
            </a:r>
          </a:p>
          <a:p>
            <a:pPr>
              <a:lnSpc>
                <a:spcPct val="80000"/>
              </a:lnSpc>
              <a:buFont typeface="Wingdings" charset="2"/>
              <a:buNone/>
            </a:pPr>
            <a:r>
              <a:rPr lang="fr-FR" sz="2800" dirty="0" smtClean="0">
                <a:latin typeface="Arial Unicode MS"/>
                <a:cs typeface="Arial Unicode MS"/>
              </a:rPr>
              <a:t>&lt;/</a:t>
            </a:r>
            <a:r>
              <a:rPr lang="fr-FR" sz="2800" dirty="0" err="1" smtClean="0">
                <a:latin typeface="Arial Unicode MS"/>
                <a:cs typeface="Arial Unicode MS"/>
              </a:rPr>
              <a:t>xs:complexType</a:t>
            </a:r>
            <a:r>
              <a:rPr lang="fr-FR" sz="2800" dirty="0" smtClean="0">
                <a:latin typeface="Arial Unicode MS"/>
                <a:cs typeface="Arial Unicode MS"/>
              </a:rPr>
              <a:t>&gt;</a:t>
            </a:r>
          </a:p>
        </p:txBody>
      </p:sp>
      <p:sp>
        <p:nvSpPr>
          <p:cNvPr id="6" name="Espace réservé du pied de page 2"/>
          <p:cNvSpPr txBox="1">
            <a:spLocks/>
          </p:cNvSpPr>
          <p:nvPr/>
        </p:nvSpPr>
        <p:spPr>
          <a:xfrm>
            <a:off x="7350252" y="6410848"/>
            <a:ext cx="2250948" cy="365760"/>
          </a:xfrm>
          <a:prstGeom prst="rect">
            <a:avLst/>
          </a:prstGeom>
        </p:spPr>
        <p:txBody>
          <a:bodyPr vert="horz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Cours F. </a:t>
            </a:r>
            <a:r>
              <a:rPr kumimoji="0" lang="fr-FR" sz="1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Goasdoué</a:t>
            </a:r>
            <a:endParaRPr kumimoji="0" lang="fr-FR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pSp>
        <p:nvGrpSpPr>
          <p:cNvPr id="7" name="Grouper 12"/>
          <p:cNvGrpSpPr/>
          <p:nvPr/>
        </p:nvGrpSpPr>
        <p:grpSpPr>
          <a:xfrm>
            <a:off x="6324600" y="4878389"/>
            <a:ext cx="1117480" cy="369332"/>
            <a:chOff x="6324600" y="4234934"/>
            <a:chExt cx="1117480" cy="369332"/>
          </a:xfrm>
        </p:grpSpPr>
        <p:cxnSp>
          <p:nvCxnSpPr>
            <p:cNvPr id="8" name="Connecteur droit avec flèche 7"/>
            <p:cNvCxnSpPr/>
            <p:nvPr/>
          </p:nvCxnSpPr>
          <p:spPr>
            <a:xfrm rot="10800000">
              <a:off x="6324600" y="4419600"/>
              <a:ext cx="93281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ZoneTexte 8"/>
            <p:cNvSpPr txBox="1"/>
            <p:nvPr/>
          </p:nvSpPr>
          <p:spPr>
            <a:xfrm>
              <a:off x="7257414" y="4234934"/>
              <a:ext cx="18466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FR">
                <a:solidFill>
                  <a:schemeClr val="accent1"/>
                </a:solidFill>
                <a:latin typeface="Arial Narrow"/>
                <a:cs typeface="Arial Narrow"/>
              </a:endParaRPr>
            </a:p>
          </p:txBody>
        </p:sp>
      </p:grp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1310" y="4696827"/>
            <a:ext cx="814490" cy="73245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/>
              <a:t>Prenons un peu de hauteur…</a:t>
            </a:r>
          </a:p>
        </p:txBody>
      </p:sp>
      <p:sp>
        <p:nvSpPr>
          <p:cNvPr id="2" name="Sous-titr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/>
              <a:t>Vérification de documents XML: </a:t>
            </a:r>
          </a:p>
          <a:p>
            <a:r>
              <a:rPr lang="fr-FR" u="sng"/>
              <a:t>intuition</a:t>
            </a:r>
            <a:r>
              <a:rPr lang="fr-FR"/>
              <a:t> des fondements théoriques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Deux types de vérifications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042756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fr-FR" dirty="0" smtClean="0"/>
              <a:t>Deux types de vérification :</a:t>
            </a:r>
          </a:p>
          <a:p>
            <a:pPr>
              <a:buNone/>
            </a:pPr>
            <a:endParaRPr lang="fr-FR" dirty="0" smtClean="0"/>
          </a:p>
          <a:p>
            <a:r>
              <a:rPr lang="fr-FR" b="1" dirty="0" smtClean="0"/>
              <a:t>Vérification dynamique </a:t>
            </a:r>
            <a:r>
              <a:rPr lang="fr-FR" dirty="0" smtClean="0"/>
              <a:t>Un validateur vérifie le type des documents en entrée et éventuellement en sortie de l'application. </a:t>
            </a:r>
          </a:p>
          <a:p>
            <a:pPr>
              <a:buNone/>
            </a:pPr>
            <a:r>
              <a:rPr lang="fr-FR" dirty="0" smtClean="0"/>
              <a:t>	</a:t>
            </a:r>
            <a:r>
              <a:rPr lang="fr-FR" i="1" dirty="0" smtClean="0"/>
              <a:t>Au moment de l'exécution.</a:t>
            </a:r>
          </a:p>
          <a:p>
            <a:r>
              <a:rPr lang="fr-FR" b="1" dirty="0" smtClean="0"/>
              <a:t>Vérification statique </a:t>
            </a:r>
            <a:r>
              <a:rPr lang="fr-FR" dirty="0" smtClean="0"/>
              <a:t>On vérifie que le programme (l'application) sachant qu'elle prend un certain type en entrée, renvoie bien un type attendu en sortie.</a:t>
            </a:r>
          </a:p>
          <a:p>
            <a:pPr>
              <a:buNone/>
            </a:pPr>
            <a:r>
              <a:rPr lang="fr-FR" dirty="0" smtClean="0"/>
              <a:t>	</a:t>
            </a:r>
            <a:r>
              <a:rPr lang="fr-FR" i="1" dirty="0" smtClean="0"/>
              <a:t>Avant exécution, à la "compilation" (partiel).</a:t>
            </a:r>
          </a:p>
          <a:p>
            <a:pPr>
              <a:buNone/>
            </a:pPr>
            <a:endParaRPr lang="fr-FR" dirty="0" smtClean="0"/>
          </a:p>
        </p:txBody>
      </p:sp>
      <p:sp>
        <p:nvSpPr>
          <p:cNvPr id="6" name="ZoneTexte 5"/>
          <p:cNvSpPr txBox="1"/>
          <p:nvPr/>
        </p:nvSpPr>
        <p:spPr>
          <a:xfrm>
            <a:off x="381001" y="5569804"/>
            <a:ext cx="85222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b="1">
                <a:latin typeface="Papyrus"/>
                <a:cs typeface="Papyrus"/>
              </a:rPr>
              <a:t>Réf : Section "Typing" de </a:t>
            </a:r>
            <a:r>
              <a:rPr lang="fr-FR" sz="1600" b="1" i="1">
                <a:latin typeface="Papyrus"/>
                <a:cs typeface="Papyrus"/>
              </a:rPr>
              <a:t>Web Data Management and Distribution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Serge Abiteboul, Ioana Manolescu, Philippe Rigaux, 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Marie-Christine Rousset, Pierre Senellart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Vérification dynamique</a:t>
            </a:r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6553200" y="1523832"/>
            <a:ext cx="2362200" cy="4419768"/>
          </a:xfrm>
          <a:prstGeom prst="round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763" algn="ctr"/>
            <a:r>
              <a:rPr lang="fr-FR" sz="2400" dirty="0" smtClean="0"/>
              <a:t>Application gérant des données de schéma S</a:t>
            </a:r>
          </a:p>
          <a:p>
            <a:pPr algn="ctr"/>
            <a:endParaRPr lang="fr-FR" sz="1600" dirty="0"/>
          </a:p>
        </p:txBody>
      </p:sp>
      <p:sp>
        <p:nvSpPr>
          <p:cNvPr id="7" name="Carré corné 6"/>
          <p:cNvSpPr/>
          <p:nvPr/>
        </p:nvSpPr>
        <p:spPr>
          <a:xfrm>
            <a:off x="304800" y="2249488"/>
            <a:ext cx="914400" cy="1600200"/>
          </a:xfrm>
          <a:prstGeom prst="foldedCorner">
            <a:avLst/>
          </a:prstGeom>
          <a:solidFill>
            <a:srgbClr val="CC66FF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document XML</a:t>
            </a:r>
          </a:p>
        </p:txBody>
      </p:sp>
      <p:cxnSp>
        <p:nvCxnSpPr>
          <p:cNvPr id="9" name="Connecteur droit avec flèche 8"/>
          <p:cNvCxnSpPr/>
          <p:nvPr/>
        </p:nvCxnSpPr>
        <p:spPr>
          <a:xfrm>
            <a:off x="1219200" y="3051176"/>
            <a:ext cx="685800" cy="1588"/>
          </a:xfrm>
          <a:prstGeom prst="straightConnector1">
            <a:avLst/>
          </a:prstGeom>
          <a:ln w="28575" cmpd="sng">
            <a:solidFill>
              <a:srgbClr val="6283AD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Imag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343400" y="1524000"/>
            <a:ext cx="1152000" cy="1188000"/>
          </a:xfrm>
          <a:prstGeom prst="rect">
            <a:avLst/>
          </a:prstGeom>
        </p:spPr>
      </p:pic>
      <p:sp>
        <p:nvSpPr>
          <p:cNvPr id="14" name="Octogone 13"/>
          <p:cNvSpPr/>
          <p:nvPr/>
        </p:nvSpPr>
        <p:spPr>
          <a:xfrm>
            <a:off x="1600200" y="1447800"/>
            <a:ext cx="1905000" cy="3931200"/>
          </a:xfrm>
          <a:prstGeom prst="octagon">
            <a:avLst/>
          </a:prstGeom>
          <a:effectLst>
            <a:innerShdw blurRad="63500" dist="50800" dir="5400000">
              <a:srgbClr val="000000">
                <a:alpha val="50000"/>
              </a:srgbClr>
            </a:innerShdw>
          </a:effectLst>
          <a:scene3d>
            <a:camera prst="isometricLeftUp">
              <a:rot lat="2100000" lon="2700000" rev="0"/>
            </a:camera>
            <a:lightRig rig="threePt" dir="t"/>
          </a:scene3d>
          <a:sp3d>
            <a:bevelT w="114300" prst="hardEdge"/>
          </a:sp3d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fr-FR" sz="3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Validateur</a:t>
            </a:r>
            <a:endParaRPr lang="fr-FR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18" name="Connecteur droit avec flèche 17"/>
          <p:cNvCxnSpPr/>
          <p:nvPr/>
        </p:nvCxnSpPr>
        <p:spPr>
          <a:xfrm flipV="1">
            <a:off x="3276600" y="2305510"/>
            <a:ext cx="1134000" cy="415858"/>
          </a:xfrm>
          <a:prstGeom prst="straightConnector1">
            <a:avLst/>
          </a:prstGeom>
          <a:ln w="28575" cmpd="sng">
            <a:solidFill>
              <a:srgbClr val="0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ZoneTexte 18"/>
          <p:cNvSpPr txBox="1"/>
          <p:nvPr/>
        </p:nvSpPr>
        <p:spPr>
          <a:xfrm>
            <a:off x="3429000" y="1695691"/>
            <a:ext cx="793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/>
              <a:t>non</a:t>
            </a:r>
          </a:p>
          <a:p>
            <a:r>
              <a:rPr lang="fr-FR"/>
              <a:t>valide</a:t>
            </a:r>
          </a:p>
        </p:txBody>
      </p:sp>
      <p:cxnSp>
        <p:nvCxnSpPr>
          <p:cNvPr id="21" name="Connecteur droit avec flèche 20"/>
          <p:cNvCxnSpPr/>
          <p:nvPr/>
        </p:nvCxnSpPr>
        <p:spPr>
          <a:xfrm>
            <a:off x="3276600" y="4586857"/>
            <a:ext cx="3276600" cy="1588"/>
          </a:xfrm>
          <a:prstGeom prst="straightConnector1">
            <a:avLst/>
          </a:prstGeom>
          <a:ln w="28575" cmpd="sng">
            <a:solidFill>
              <a:srgbClr val="000000"/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ZoneTexte 23"/>
          <p:cNvSpPr txBox="1"/>
          <p:nvPr/>
        </p:nvSpPr>
        <p:spPr>
          <a:xfrm>
            <a:off x="4495800" y="4732669"/>
            <a:ext cx="7934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/>
              <a:t>valide</a:t>
            </a:r>
          </a:p>
        </p:txBody>
      </p:sp>
      <p:sp>
        <p:nvSpPr>
          <p:cNvPr id="27" name="Carré corné 26"/>
          <p:cNvSpPr/>
          <p:nvPr/>
        </p:nvSpPr>
        <p:spPr>
          <a:xfrm>
            <a:off x="5289219" y="3789933"/>
            <a:ext cx="914400" cy="1600200"/>
          </a:xfrm>
          <a:prstGeom prst="foldedCorner">
            <a:avLst/>
          </a:prstGeom>
          <a:solidFill>
            <a:srgbClr val="CC66FF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1200" dirty="0" smtClean="0"/>
              <a:t>document XML</a:t>
            </a:r>
          </a:p>
        </p:txBody>
      </p:sp>
      <p:pic>
        <p:nvPicPr>
          <p:cNvPr id="17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3657600" y="3615977"/>
            <a:ext cx="1122759" cy="1172714"/>
          </a:xfrm>
          <a:prstGeom prst="rect">
            <a:avLst/>
          </a:prstGeom>
        </p:spPr>
      </p:pic>
      <p:sp>
        <p:nvSpPr>
          <p:cNvPr id="29" name="ZoneTexte 28"/>
          <p:cNvSpPr txBox="1"/>
          <p:nvPr/>
        </p:nvSpPr>
        <p:spPr>
          <a:xfrm>
            <a:off x="990600" y="5257800"/>
            <a:ext cx="31697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fr-FR"/>
              <a:t>par exemple sur serveur</a:t>
            </a:r>
          </a:p>
          <a:p>
            <a:pPr algn="ctr"/>
            <a:r>
              <a:rPr lang="fr-FR"/>
              <a:t>web ou intégré à l'application</a:t>
            </a:r>
          </a:p>
          <a:p>
            <a:pPr algn="ctr"/>
            <a:r>
              <a:rPr lang="fr-FR"/>
              <a:t>elle-même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Vérification : intuition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301752" y="1371600"/>
            <a:ext cx="8503920" cy="4495800"/>
          </a:xfrm>
        </p:spPr>
        <p:txBody>
          <a:bodyPr>
            <a:normAutofit fontScale="62500" lnSpcReduction="20000"/>
          </a:bodyPr>
          <a:lstStyle/>
          <a:p>
            <a:pPr algn="just">
              <a:buNone/>
            </a:pPr>
            <a:r>
              <a:rPr lang="fr-FR" dirty="0" smtClean="0"/>
              <a:t>S'appuie sur la théorie des automates.</a:t>
            </a:r>
          </a:p>
          <a:p>
            <a:pPr algn="just">
              <a:buNone/>
            </a:pPr>
            <a:r>
              <a:rPr lang="fr-FR" dirty="0" smtClean="0"/>
              <a:t>Un automate décrit un language.</a:t>
            </a:r>
          </a:p>
          <a:p>
            <a:pPr algn="just">
              <a:buNone/>
            </a:pPr>
            <a:endParaRPr lang="fr-FR" dirty="0" smtClean="0"/>
          </a:p>
          <a:p>
            <a:pPr algn="just">
              <a:buNone/>
            </a:pPr>
            <a:r>
              <a:rPr lang="fr-FR" b="1" smtClean="0"/>
              <a:t>Definition:</a:t>
            </a:r>
          </a:p>
          <a:p>
            <a:pPr algn="just">
              <a:buNone/>
            </a:pPr>
            <a:r>
              <a:rPr lang="fr-FR" smtClean="0"/>
              <a:t>A </a:t>
            </a:r>
            <a:r>
              <a:rPr lang="fr-FR" i="1" smtClean="0"/>
              <a:t>finite state automata is a 5-tuple (Σ,Q,q0,F,δ) where</a:t>
            </a:r>
          </a:p>
          <a:p>
            <a:pPr algn="just"/>
            <a:r>
              <a:rPr lang="fr-FR" i="1" smtClean="0"/>
              <a:t>Σ is a finite alphabet; </a:t>
            </a:r>
          </a:p>
          <a:p>
            <a:pPr algn="just"/>
            <a:r>
              <a:rPr lang="fr-FR" i="1" smtClean="0"/>
              <a:t>Q is a finite set of states; </a:t>
            </a:r>
          </a:p>
          <a:p>
            <a:pPr algn="just"/>
            <a:r>
              <a:rPr lang="fr-FR" i="1" smtClean="0"/>
              <a:t>q0 ∈ Q is the initial state; </a:t>
            </a:r>
          </a:p>
          <a:p>
            <a:pPr algn="just"/>
            <a:r>
              <a:rPr lang="fr-FR" i="1" smtClean="0"/>
              <a:t>F⊆Q is the set of final states; and </a:t>
            </a:r>
          </a:p>
          <a:p>
            <a:pPr algn="just"/>
            <a:r>
              <a:rPr lang="fr-FR" i="1" smtClean="0"/>
              <a:t>δ, the transition function, is a mapping from (Σ∪{ε})×Q to 2</a:t>
            </a:r>
            <a:r>
              <a:rPr lang="fr-FR" i="1" baseline="30000" smtClean="0"/>
              <a:t>Q</a:t>
            </a:r>
            <a:r>
              <a:rPr lang="fr-FR" i="1" smtClean="0"/>
              <a:t> (Set of subsets of Q).</a:t>
            </a:r>
          </a:p>
          <a:p>
            <a:pPr algn="just"/>
            <a:endParaRPr lang="fr-FR" i="1" dirty="0" smtClean="0"/>
          </a:p>
          <a:p>
            <a:pPr algn="just">
              <a:buNone/>
            </a:pPr>
            <a:r>
              <a:rPr lang="fr-FR" smtClean="0"/>
              <a:t>Exercice - Consider the FSA </a:t>
            </a:r>
            <a:r>
              <a:rPr lang="fr-FR" i="1" smtClean="0"/>
              <a:t>A with Σ={a,b}, Q={q0,q1,q2,q3}, F={q2}, δ(a,q0)={q0,q1},  δ(b,q1) = {q0}, δ(ε,q1) = {q2}, δ(ε,q2) = {q3}, δ(ε,q3) = {q3}. </a:t>
            </a:r>
            <a:r>
              <a:rPr lang="fr-FR" smtClean="0"/>
              <a:t>Then </a:t>
            </a:r>
            <a:r>
              <a:rPr lang="fr-FR" i="1" smtClean="0"/>
              <a:t>abaab is in L(A) and aba is not in L(A).</a:t>
            </a:r>
            <a:endParaRPr lang="fr-FR" dirty="0" smtClean="0"/>
          </a:p>
        </p:txBody>
      </p:sp>
      <p:sp>
        <p:nvSpPr>
          <p:cNvPr id="6" name="ZoneTexte 5"/>
          <p:cNvSpPr txBox="1"/>
          <p:nvPr/>
        </p:nvSpPr>
        <p:spPr>
          <a:xfrm>
            <a:off x="240746" y="6056293"/>
            <a:ext cx="89032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>
                <a:latin typeface="Papyrus"/>
                <a:cs typeface="Papyrus"/>
              </a:rPr>
              <a:t>Réfs  : Section "Typing" de </a:t>
            </a:r>
            <a:r>
              <a:rPr lang="fr-FR" sz="1400" b="1" i="1">
                <a:latin typeface="Papyrus"/>
                <a:cs typeface="Papyrus"/>
              </a:rPr>
              <a:t>Web Data Management and Distribution </a:t>
            </a:r>
            <a:r>
              <a:rPr lang="fr-FR" sz="1400" b="1">
                <a:latin typeface="Papyrus"/>
                <a:cs typeface="Papyrus"/>
              </a:rPr>
              <a:t>de Serge Abiteboul, Ioana Manolescu, Philippe Rigaux, Marie-Christine Rousset, Pierre Senellart </a:t>
            </a:r>
          </a:p>
          <a:p>
            <a:r>
              <a:rPr lang="fr-FR" sz="1400" b="1">
                <a:latin typeface="Papyrus"/>
                <a:cs typeface="Papyrus"/>
              </a:rPr>
              <a:t>Cours de Mirian Halfeld-Ferrari : http://www.info.univ-tours.fr/~bouchou/pagesDess/val2004.pdf</a:t>
            </a:r>
          </a:p>
          <a:p>
            <a:endParaRPr lang="fr-FR" sz="1400" b="1">
              <a:latin typeface="Papyrus"/>
              <a:cs typeface="Papyru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Vérification : intuition</a:t>
            </a:r>
            <a:endParaRPr lang="fr-FR" dirty="0"/>
          </a:p>
        </p:txBody>
      </p:sp>
      <p:sp>
        <p:nvSpPr>
          <p:cNvPr id="7" name="Ellipse 6"/>
          <p:cNvSpPr/>
          <p:nvPr/>
        </p:nvSpPr>
        <p:spPr>
          <a:xfrm>
            <a:off x="1371600" y="3200400"/>
            <a:ext cx="762000" cy="6858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/>
              <a:t>q0</a:t>
            </a:r>
          </a:p>
        </p:txBody>
      </p:sp>
      <p:sp>
        <p:nvSpPr>
          <p:cNvPr id="8" name="Ellipse 7"/>
          <p:cNvSpPr/>
          <p:nvPr/>
        </p:nvSpPr>
        <p:spPr>
          <a:xfrm>
            <a:off x="3165009" y="3200400"/>
            <a:ext cx="762000" cy="6858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/>
              <a:t>q1</a:t>
            </a:r>
          </a:p>
        </p:txBody>
      </p:sp>
      <p:sp>
        <p:nvSpPr>
          <p:cNvPr id="9" name="Ellipse 8"/>
          <p:cNvSpPr/>
          <p:nvPr/>
        </p:nvSpPr>
        <p:spPr>
          <a:xfrm>
            <a:off x="5181600" y="3200402"/>
            <a:ext cx="762000" cy="685800"/>
          </a:xfrm>
          <a:prstGeom prst="ellipse">
            <a:avLst/>
          </a:prstGeom>
          <a:ln w="98425" cap="flat" cmpd="dbl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/>
              <a:t>q2</a:t>
            </a:r>
          </a:p>
        </p:txBody>
      </p:sp>
      <p:sp>
        <p:nvSpPr>
          <p:cNvPr id="10" name="Ellipse 9"/>
          <p:cNvSpPr/>
          <p:nvPr/>
        </p:nvSpPr>
        <p:spPr>
          <a:xfrm>
            <a:off x="7052002" y="3200400"/>
            <a:ext cx="762000" cy="685800"/>
          </a:xfrm>
          <a:prstGeom prst="ellipse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/>
              <a:t>q3</a:t>
            </a:r>
          </a:p>
        </p:txBody>
      </p:sp>
      <p:cxnSp>
        <p:nvCxnSpPr>
          <p:cNvPr id="12" name="Connecteur droit avec flèche 11"/>
          <p:cNvCxnSpPr>
            <a:endCxn id="7" idx="1"/>
          </p:cNvCxnSpPr>
          <p:nvPr/>
        </p:nvCxnSpPr>
        <p:spPr>
          <a:xfrm>
            <a:off x="914402" y="3200402"/>
            <a:ext cx="568790" cy="100431"/>
          </a:xfrm>
          <a:prstGeom prst="straightConnector1">
            <a:avLst/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en arc 16"/>
          <p:cNvCxnSpPr>
            <a:stCxn id="7" idx="4"/>
            <a:endCxn id="7" idx="2"/>
          </p:cNvCxnSpPr>
          <p:nvPr/>
        </p:nvCxnSpPr>
        <p:spPr>
          <a:xfrm rot="5400000" flipH="1">
            <a:off x="1390650" y="3524250"/>
            <a:ext cx="342900" cy="381000"/>
          </a:xfrm>
          <a:prstGeom prst="curvedConnector4">
            <a:avLst>
              <a:gd name="adj1" fmla="val -66667"/>
              <a:gd name="adj2" fmla="val 160000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en arc 19"/>
          <p:cNvCxnSpPr>
            <a:stCxn id="7" idx="5"/>
            <a:endCxn id="8" idx="3"/>
          </p:cNvCxnSpPr>
          <p:nvPr/>
        </p:nvCxnSpPr>
        <p:spPr>
          <a:xfrm rot="16200000" flipH="1">
            <a:off x="2649304" y="3158470"/>
            <a:ext cx="1588" cy="1254593"/>
          </a:xfrm>
          <a:prstGeom prst="curvedConnector3">
            <a:avLst>
              <a:gd name="adj1" fmla="val 20719962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en arc 25"/>
          <p:cNvCxnSpPr>
            <a:stCxn id="8" idx="1"/>
            <a:endCxn id="7" idx="7"/>
          </p:cNvCxnSpPr>
          <p:nvPr/>
        </p:nvCxnSpPr>
        <p:spPr>
          <a:xfrm rot="16200000" flipV="1">
            <a:off x="2649305" y="2673536"/>
            <a:ext cx="1588" cy="1254593"/>
          </a:xfrm>
          <a:prstGeom prst="curvedConnector3">
            <a:avLst>
              <a:gd name="adj1" fmla="val 20719962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eur en arc 30"/>
          <p:cNvCxnSpPr>
            <a:stCxn id="8" idx="7"/>
            <a:endCxn id="9" idx="1"/>
          </p:cNvCxnSpPr>
          <p:nvPr/>
        </p:nvCxnSpPr>
        <p:spPr>
          <a:xfrm rot="16200000" flipH="1">
            <a:off x="4554303" y="2561947"/>
            <a:ext cx="2" cy="1477775"/>
          </a:xfrm>
          <a:prstGeom prst="curvedConnector3">
            <a:avLst>
              <a:gd name="adj1" fmla="val -16451650000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Forme 32"/>
          <p:cNvCxnSpPr>
            <a:stCxn id="9" idx="7"/>
            <a:endCxn id="10" idx="1"/>
          </p:cNvCxnSpPr>
          <p:nvPr/>
        </p:nvCxnSpPr>
        <p:spPr>
          <a:xfrm rot="5400000" flipH="1" flipV="1">
            <a:off x="6497800" y="2635041"/>
            <a:ext cx="2" cy="1331586"/>
          </a:xfrm>
          <a:prstGeom prst="curvedConnector3">
            <a:avLst>
              <a:gd name="adj1" fmla="val 16451750000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en arc 34"/>
          <p:cNvCxnSpPr>
            <a:stCxn id="10" idx="3"/>
            <a:endCxn id="10" idx="5"/>
          </p:cNvCxnSpPr>
          <p:nvPr/>
        </p:nvCxnSpPr>
        <p:spPr>
          <a:xfrm rot="16200000" flipH="1">
            <a:off x="7433002" y="3516359"/>
            <a:ext cx="1588" cy="538816"/>
          </a:xfrm>
          <a:prstGeom prst="curvedConnector3">
            <a:avLst>
              <a:gd name="adj1" fmla="val 20719962"/>
            </a:avLst>
          </a:prstGeom>
          <a:ln w="28575" cap="flat" cmpd="sng" algn="ctr">
            <a:solidFill>
              <a:schemeClr val="accent1"/>
            </a:solidFill>
            <a:prstDash val="solid"/>
            <a:round/>
            <a:headEnd type="none" w="med" len="med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ZoneTexte 37"/>
          <p:cNvSpPr txBox="1"/>
          <p:nvPr/>
        </p:nvSpPr>
        <p:spPr>
          <a:xfrm>
            <a:off x="1070616" y="4038600"/>
            <a:ext cx="32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smtClean="0"/>
              <a:t>a</a:t>
            </a:r>
            <a:endParaRPr lang="fr-FR"/>
          </a:p>
        </p:txBody>
      </p:sp>
      <p:sp>
        <p:nvSpPr>
          <p:cNvPr id="39" name="ZoneTexte 38"/>
          <p:cNvSpPr txBox="1"/>
          <p:nvPr/>
        </p:nvSpPr>
        <p:spPr>
          <a:xfrm>
            <a:off x="2514600" y="4114800"/>
            <a:ext cx="328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smtClean="0"/>
              <a:t>a</a:t>
            </a:r>
            <a:endParaRPr lang="fr-FR"/>
          </a:p>
        </p:txBody>
      </p:sp>
      <p:sp>
        <p:nvSpPr>
          <p:cNvPr id="40" name="ZoneTexte 39"/>
          <p:cNvSpPr txBox="1"/>
          <p:nvPr/>
        </p:nvSpPr>
        <p:spPr>
          <a:xfrm>
            <a:off x="2514600" y="2514600"/>
            <a:ext cx="324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smtClean="0"/>
              <a:t>b</a:t>
            </a:r>
            <a:endParaRPr lang="fr-FR"/>
          </a:p>
        </p:txBody>
      </p:sp>
      <p:sp>
        <p:nvSpPr>
          <p:cNvPr id="41" name="ZoneTexte 40"/>
          <p:cNvSpPr txBox="1"/>
          <p:nvPr/>
        </p:nvSpPr>
        <p:spPr>
          <a:xfrm>
            <a:off x="4419600" y="2502932"/>
            <a:ext cx="30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smtClean="0"/>
              <a:t>ε</a:t>
            </a:r>
            <a:endParaRPr lang="fr-FR"/>
          </a:p>
        </p:txBody>
      </p:sp>
      <p:sp>
        <p:nvSpPr>
          <p:cNvPr id="42" name="ZoneTexte 41"/>
          <p:cNvSpPr txBox="1"/>
          <p:nvPr/>
        </p:nvSpPr>
        <p:spPr>
          <a:xfrm>
            <a:off x="6324600" y="2582767"/>
            <a:ext cx="30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smtClean="0"/>
              <a:t>ε</a:t>
            </a:r>
            <a:endParaRPr lang="fr-FR"/>
          </a:p>
        </p:txBody>
      </p:sp>
      <p:sp>
        <p:nvSpPr>
          <p:cNvPr id="43" name="ZoneTexte 42"/>
          <p:cNvSpPr txBox="1"/>
          <p:nvPr/>
        </p:nvSpPr>
        <p:spPr>
          <a:xfrm>
            <a:off x="7239000" y="4191000"/>
            <a:ext cx="303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i="1" smtClean="0"/>
              <a:t>ε</a:t>
            </a:r>
            <a:endParaRPr lang="fr-FR"/>
          </a:p>
        </p:txBody>
      </p:sp>
      <p:sp>
        <p:nvSpPr>
          <p:cNvPr id="50" name="ZoneTexte 49"/>
          <p:cNvSpPr txBox="1"/>
          <p:nvPr/>
        </p:nvSpPr>
        <p:spPr>
          <a:xfrm>
            <a:off x="228600" y="5715000"/>
            <a:ext cx="7327647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1">
                <a:latin typeface="Papyrus"/>
                <a:cs typeface="Papyrus"/>
              </a:rPr>
              <a:t>Un cours en ligne concernant les automates :</a:t>
            </a:r>
          </a:p>
          <a:p>
            <a:r>
              <a:rPr lang="fr-FR" sz="1600" b="1">
                <a:latin typeface="Papyrus"/>
                <a:cs typeface="Papyrus"/>
              </a:rPr>
              <a:t>Jeffrey D. Ullman : http://infolab.stanford.edu/~ullman/ialc/spr10/spr10.html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Vérification : intuition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730752"/>
          </a:xfrm>
        </p:spPr>
        <p:txBody>
          <a:bodyPr>
            <a:normAutofit/>
          </a:bodyPr>
          <a:lstStyle/>
          <a:p>
            <a:pPr algn="just">
              <a:buNone/>
            </a:pPr>
            <a:r>
              <a:rPr lang="fr-FR" dirty="0" smtClean="0"/>
              <a:t>S'appuie sur la théorie des automates d'arbres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Document XML = arbre (</a:t>
            </a:r>
            <a:r>
              <a:rPr lang="fr-FR" i="1" dirty="0" smtClean="0"/>
              <a:t>t</a:t>
            </a:r>
            <a:r>
              <a:rPr lang="fr-FR" dirty="0" smtClean="0"/>
              <a:t>), </a:t>
            </a:r>
          </a:p>
          <a:p>
            <a:pPr marL="1062990" lvl="2" indent="-514350" algn="just">
              <a:buNone/>
            </a:pPr>
            <a:r>
              <a:rPr lang="fr-FR" sz="3200" dirty="0" smtClean="0"/>
              <a:t>Schéma </a:t>
            </a:r>
            <a:r>
              <a:rPr lang="fr-FR" sz="3200" dirty="0" smtClean="0">
                <a:sym typeface="Wingdings"/>
              </a:rPr>
              <a:t>traduit en automate d'arbre (</a:t>
            </a:r>
            <a:r>
              <a:rPr lang="fr-FR" sz="3200" i="1" dirty="0" smtClean="0">
                <a:sym typeface="Wingdings"/>
              </a:rPr>
              <a:t>A</a:t>
            </a:r>
            <a:r>
              <a:rPr lang="fr-FR" sz="3200" dirty="0" smtClean="0">
                <a:sym typeface="Wingdings"/>
              </a:rPr>
              <a:t>).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fr-FR" dirty="0" smtClean="0"/>
              <a:t>Validation = vérification que </a:t>
            </a:r>
            <a:r>
              <a:rPr lang="fr-FR" i="1" dirty="0" smtClean="0"/>
              <a:t>t </a:t>
            </a:r>
            <a:r>
              <a:rPr lang="fr-FR" dirty="0" smtClean="0"/>
              <a:t>appartient au langage défini par </a:t>
            </a:r>
            <a:r>
              <a:rPr lang="fr-FR" i="1" dirty="0" smtClean="0"/>
              <a:t>A</a:t>
            </a:r>
          </a:p>
          <a:p>
            <a:pPr marL="514350" indent="-514350" algn="just">
              <a:buNone/>
            </a:pPr>
            <a:endParaRPr lang="fr-FR" i="1" dirty="0" smtClean="0"/>
          </a:p>
          <a:p>
            <a:pPr marL="514350" indent="-514350" algn="just">
              <a:buNone/>
            </a:pPr>
            <a:endParaRPr lang="fr-FR" smtClean="0"/>
          </a:p>
        </p:txBody>
      </p:sp>
      <p:sp>
        <p:nvSpPr>
          <p:cNvPr id="6" name="ZoneTexte 5"/>
          <p:cNvSpPr txBox="1"/>
          <p:nvPr/>
        </p:nvSpPr>
        <p:spPr>
          <a:xfrm>
            <a:off x="240746" y="5459849"/>
            <a:ext cx="89032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>
                <a:latin typeface="Papyrus"/>
                <a:cs typeface="Papyrus"/>
              </a:rPr>
              <a:t>Réfs </a:t>
            </a:r>
          </a:p>
          <a:p>
            <a:r>
              <a:rPr lang="fr-FR" sz="1400" b="1">
                <a:latin typeface="Papyrus"/>
                <a:cs typeface="Papyrus"/>
              </a:rPr>
              <a:t>Section "Typing" de </a:t>
            </a:r>
            <a:r>
              <a:rPr lang="fr-FR" sz="1400" b="1" i="1">
                <a:latin typeface="Papyrus"/>
                <a:cs typeface="Papyrus"/>
              </a:rPr>
              <a:t>Web Data Management and Distribution </a:t>
            </a:r>
            <a:r>
              <a:rPr lang="fr-FR" sz="1400" b="1">
                <a:latin typeface="Papyrus"/>
                <a:cs typeface="Papyrus"/>
              </a:rPr>
              <a:t>de Serge Abiteboul, Ioana Manolescu, Philippe Rigaux, Marie-Christine Rousset, Pierre Senellart </a:t>
            </a:r>
          </a:p>
          <a:p>
            <a:r>
              <a:rPr lang="fr-FR" sz="1400" b="1">
                <a:latin typeface="Papyrus"/>
                <a:cs typeface="Papyrus"/>
              </a:rPr>
              <a:t>Cours de Mirian Halfeld-Ferrari : http://www.info.univ-tours.fr/~bouchou/pagesDess/val2004.pdf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 smtClean="0"/>
              <a:t>Vérification : intuition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3730752"/>
          </a:xfrm>
        </p:spPr>
        <p:txBody>
          <a:bodyPr>
            <a:normAutofit fontScale="70000" lnSpcReduction="20000"/>
          </a:bodyPr>
          <a:lstStyle/>
          <a:p>
            <a:pPr marL="514350" indent="-514350" algn="just">
              <a:buNone/>
            </a:pPr>
            <a:r>
              <a:rPr lang="fr-FR" smtClean="0"/>
              <a:t>Il existe différentes classes d'automates d'arbres ayant différentes propriétés (par exemple, complexité du processus de vérification).</a:t>
            </a:r>
          </a:p>
          <a:p>
            <a:pPr marL="514350" indent="-514350" algn="just">
              <a:buNone/>
            </a:pPr>
            <a:endParaRPr lang="fr-FR" smtClean="0"/>
          </a:p>
          <a:p>
            <a:pPr marL="514350" indent="-514350" algn="just">
              <a:buNone/>
            </a:pPr>
            <a:r>
              <a:rPr lang="fr-FR" smtClean="0"/>
              <a:t>Selon le language de schéma qu'on considère (DTD, XMLSchema ou autre), on tombe dans une classe ou une autre. </a:t>
            </a:r>
          </a:p>
          <a:p>
            <a:pPr marL="514350" indent="-514350" algn="just">
              <a:buNone/>
            </a:pPr>
            <a:r>
              <a:rPr lang="fr-FR" smtClean="0"/>
              <a:t> </a:t>
            </a:r>
          </a:p>
          <a:p>
            <a:pPr marL="514350" indent="-514350" algn="just">
              <a:buNone/>
            </a:pPr>
            <a:r>
              <a:rPr lang="fr-FR" smtClean="0"/>
              <a:t>Plus un language est expressif, moins il est facile à traiter.</a:t>
            </a:r>
          </a:p>
          <a:p>
            <a:pPr marL="514350" indent="-514350" algn="just">
              <a:buFont typeface="Wingdings" charset="2"/>
              <a:buChar char="à"/>
            </a:pPr>
            <a:r>
              <a:rPr lang="fr-FR" smtClean="0">
                <a:sym typeface="Wingdings"/>
              </a:rPr>
              <a:t>Eviter les languages de schéma pour lesquels le test de vérification est indécidable ou trop complexe.</a:t>
            </a:r>
          </a:p>
          <a:p>
            <a:pPr marL="514350" indent="-514350" algn="just">
              <a:buFont typeface="Wingdings" charset="2"/>
              <a:buChar char="à"/>
            </a:pPr>
            <a:r>
              <a:rPr lang="fr-FR" smtClean="0">
                <a:sym typeface="Wingdings"/>
              </a:rPr>
              <a:t>Compromis expressivité – décidabilité/complexite</a:t>
            </a:r>
            <a:endParaRPr lang="fr-FR" smtClean="0"/>
          </a:p>
        </p:txBody>
      </p:sp>
      <p:sp>
        <p:nvSpPr>
          <p:cNvPr id="6" name="ZoneTexte 5"/>
          <p:cNvSpPr txBox="1"/>
          <p:nvPr/>
        </p:nvSpPr>
        <p:spPr>
          <a:xfrm>
            <a:off x="240746" y="5459849"/>
            <a:ext cx="890325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 b="1">
                <a:latin typeface="Papyrus"/>
                <a:cs typeface="Papyrus"/>
              </a:rPr>
              <a:t>Réfs </a:t>
            </a:r>
          </a:p>
          <a:p>
            <a:r>
              <a:rPr lang="fr-FR" sz="1400" b="1">
                <a:latin typeface="Papyrus"/>
                <a:cs typeface="Papyrus"/>
              </a:rPr>
              <a:t>Section "Typing" de </a:t>
            </a:r>
            <a:r>
              <a:rPr lang="fr-FR" sz="1400" b="1" i="1">
                <a:latin typeface="Papyrus"/>
                <a:cs typeface="Papyrus"/>
              </a:rPr>
              <a:t>Web Data Management and Distribution </a:t>
            </a:r>
            <a:r>
              <a:rPr lang="fr-FR" sz="1400" b="1">
                <a:latin typeface="Papyrus"/>
                <a:cs typeface="Papyrus"/>
              </a:rPr>
              <a:t>de Serge Abiteboul, Ioana Manolescu, Philippe Rigaux, Marie-Christine Rousset, Pierre Senellart </a:t>
            </a:r>
          </a:p>
          <a:p>
            <a:r>
              <a:rPr lang="fr-FR" sz="1400" b="1">
                <a:latin typeface="Papyrus"/>
                <a:cs typeface="Papyrus"/>
              </a:rPr>
              <a:t>Cours de Mirian Halfeld-Ferrari : http://www.info.univ-tours.fr/~bouchou/pagesDess/val2004.pdf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85928" y="4038600"/>
            <a:ext cx="8805672" cy="45536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1600" smtClean="0"/>
              <a:t>XML Schema associé à </a:t>
            </a:r>
            <a:r>
              <a:rPr lang="fr-FR" sz="1600">
                <a:solidFill>
                  <a:schemeClr val="tx1"/>
                </a:solidFill>
              </a:rPr>
              <a:t>PurchaseOrder </a:t>
            </a:r>
            <a:endParaRPr lang="fr-FR" sz="1600" smtClean="0"/>
          </a:p>
          <a:p>
            <a:r>
              <a:rPr lang="fr-FR" sz="1600" smtClean="0"/>
              <a:t>&lt;xs:schema xmlns:xs="http://www.w3.org/2001/XMLSchema" version="1.0"&gt;</a:t>
            </a:r>
          </a:p>
          <a:p>
            <a:r>
              <a:rPr lang="fr-FR" sz="1600" smtClean="0"/>
              <a:t>  &lt;</a:t>
            </a:r>
            <a:r>
              <a:rPr lang="fr-FR" sz="1100" smtClean="0"/>
              <a:t>xs:element name="PurchaseOrder" type="PurchaseOrderType"/&gt;</a:t>
            </a:r>
          </a:p>
          <a:p>
            <a:r>
              <a:rPr lang="fr-FR" sz="1100" smtClean="0"/>
              <a:t>  &lt;xs:complexType name="PurchaseOrderType"&gt;</a:t>
            </a:r>
          </a:p>
          <a:p>
            <a:r>
              <a:rPr lang="fr-FR" sz="1100" smtClean="0"/>
              <a:t>    &lt;xs:sequence&gt;</a:t>
            </a:r>
          </a:p>
          <a:p>
            <a:r>
              <a:rPr lang="fr-FR" sz="1100" smtClean="0"/>
              <a:t>      &lt;xs:element name="Reference" type="ReferenceType"/&gt;</a:t>
            </a:r>
          </a:p>
          <a:p>
            <a:r>
              <a:rPr lang="fr-FR" sz="1100" smtClean="0"/>
              <a:t>      &lt;xs:element name="Actions" type="ActionsType"/&gt;</a:t>
            </a:r>
          </a:p>
          <a:p>
            <a:r>
              <a:rPr lang="fr-FR" sz="1100" smtClean="0"/>
              <a:t>      &lt;xs:element name="Reject" type="RejectionType" minOccurs="0"/&gt;</a:t>
            </a:r>
          </a:p>
          <a:p>
            <a:r>
              <a:rPr lang="fr-FR" sz="1100" smtClean="0"/>
              <a:t>      &lt;xs:element name="Requestor" type="RequestorType"/&gt;</a:t>
            </a:r>
          </a:p>
          <a:p>
            <a:r>
              <a:rPr lang="fr-FR" sz="1100" smtClean="0"/>
              <a:t>      &lt;xs:element name="User" type="UserType"/&gt;</a:t>
            </a:r>
          </a:p>
          <a:p>
            <a:r>
              <a:rPr lang="fr-FR" sz="1100" smtClean="0"/>
              <a:t>      &lt;xs:element name="CostCenter" type="CostCenterType"/&gt;</a:t>
            </a:r>
          </a:p>
          <a:p>
            <a:r>
              <a:rPr lang="fr-FR" sz="1100" smtClean="0"/>
              <a:t>      …</a:t>
            </a:r>
            <a:endParaRPr lang="fr-FR" sz="11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Vérification statique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301752" y="1371600"/>
            <a:ext cx="8503920" cy="2667000"/>
          </a:xfrm>
          <a:noFill/>
        </p:spPr>
        <p:txBody>
          <a:bodyPr>
            <a:normAutofit fontScale="55000" lnSpcReduction="20000"/>
          </a:bodyPr>
          <a:lstStyle/>
          <a:p>
            <a:r>
              <a:rPr lang="fr-FR"/>
              <a:t>Analyse avant exécution. </a:t>
            </a:r>
          </a:p>
          <a:p>
            <a:r>
              <a:rPr lang="fr-FR"/>
              <a:t>Exemple : </a:t>
            </a:r>
            <a:r>
              <a:rPr lang="fr-FR" smtClean="0"/>
              <a:t>XQuery Static Type-Checking in Oracle XML DB</a:t>
            </a:r>
          </a:p>
          <a:p>
            <a:endParaRPr lang="fr-FR" smtClean="0"/>
          </a:p>
          <a:p>
            <a:pPr lvl="0">
              <a:buNone/>
              <a:defRPr/>
            </a:pPr>
            <a:r>
              <a:rPr lang="fr-FR" sz="2545"/>
              <a:t>SELECT xtab.poref, xtab.usr, xtab.requestor</a:t>
            </a:r>
          </a:p>
          <a:p>
            <a:pPr lvl="0">
              <a:buNone/>
              <a:defRPr/>
            </a:pPr>
            <a:r>
              <a:rPr lang="fr-FR" sz="2545"/>
              <a:t>  FROM purchaseorder,</a:t>
            </a:r>
          </a:p>
          <a:p>
            <a:pPr lvl="0">
              <a:buNone/>
              <a:defRPr/>
            </a:pPr>
            <a:r>
              <a:rPr lang="fr-FR" sz="2545"/>
              <a:t>       XMLTable('for $i in /PurchaseOrder where $i/costcenter eq "A10" return $i'</a:t>
            </a:r>
          </a:p>
          <a:p>
            <a:pPr lvl="0">
              <a:buNone/>
              <a:defRPr/>
            </a:pPr>
            <a:r>
              <a:rPr lang="fr-FR" sz="2545"/>
              <a:t>                	          PASSING OBJECT_VALUE</a:t>
            </a:r>
          </a:p>
          <a:p>
            <a:pPr lvl="0">
              <a:buNone/>
              <a:defRPr/>
            </a:pPr>
            <a:r>
              <a:rPr lang="fr-FR" sz="2545"/>
              <a:t>                              COLUMNS poref     VARCHAR2(20) PATH 'Reference',</a:t>
            </a:r>
          </a:p>
          <a:p>
            <a:pPr lvl="0">
              <a:buNone/>
              <a:defRPr/>
            </a:pPr>
            <a:r>
              <a:rPr lang="fr-FR" sz="2545"/>
              <a:t>                                     	              usr       VARCHAR2(20) PATH 'User' DEFAULT 'Unknown',</a:t>
            </a:r>
          </a:p>
          <a:p>
            <a:pPr lvl="0">
              <a:buNone/>
              <a:defRPr/>
            </a:pPr>
            <a:r>
              <a:rPr lang="fr-FR" sz="2545"/>
              <a:t>                      	              requestor      VARCHAR2(20) PATH 'Requestor') </a:t>
            </a:r>
          </a:p>
          <a:p>
            <a:pPr lvl="0">
              <a:buNone/>
              <a:defRPr/>
            </a:pPr>
            <a:r>
              <a:rPr lang="fr-FR" sz="2545"/>
              <a:t>       xtab;</a:t>
            </a:r>
          </a:p>
        </p:txBody>
      </p:sp>
      <p:sp>
        <p:nvSpPr>
          <p:cNvPr id="12" name="ZoneTexte 11"/>
          <p:cNvSpPr txBox="1"/>
          <p:nvPr/>
        </p:nvSpPr>
        <p:spPr>
          <a:xfrm>
            <a:off x="6665322" y="228600"/>
            <a:ext cx="23262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600" b="1">
                <a:latin typeface="Papyrus"/>
                <a:cs typeface="Papyrus"/>
              </a:rPr>
              <a:t>Ref : Oracle® XML DB 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Developer's Guide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11g Release 2 (11.2)</a:t>
            </a:r>
          </a:p>
        </p:txBody>
      </p:sp>
      <p:grpSp>
        <p:nvGrpSpPr>
          <p:cNvPr id="24" name="Grouper 23"/>
          <p:cNvGrpSpPr/>
          <p:nvPr/>
        </p:nvGrpSpPr>
        <p:grpSpPr>
          <a:xfrm>
            <a:off x="609600" y="1944471"/>
            <a:ext cx="5950222" cy="1027331"/>
            <a:chOff x="381000" y="2020669"/>
            <a:chExt cx="5950222" cy="1027331"/>
          </a:xfrm>
        </p:grpSpPr>
        <p:sp>
          <p:nvSpPr>
            <p:cNvPr id="13" name="ZoneTexte 12"/>
            <p:cNvSpPr txBox="1"/>
            <p:nvPr/>
          </p:nvSpPr>
          <p:spPr>
            <a:xfrm>
              <a:off x="3931720" y="2020669"/>
              <a:ext cx="239950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i="1">
                  <a:solidFill>
                    <a:srgbClr val="660066"/>
                  </a:solidFill>
                </a:rPr>
                <a:t>Crée une table à partir </a:t>
              </a:r>
            </a:p>
            <a:p>
              <a:r>
                <a:rPr lang="fr-FR" sz="1200" i="1">
                  <a:solidFill>
                    <a:srgbClr val="660066"/>
                  </a:solidFill>
                </a:rPr>
                <a:t>d'une requête XQuery effectuée </a:t>
              </a:r>
            </a:p>
            <a:p>
              <a:r>
                <a:rPr lang="fr-FR" sz="1200" i="1">
                  <a:solidFill>
                    <a:srgbClr val="660066"/>
                  </a:solidFill>
                </a:rPr>
                <a:t>sur un fichier XML</a:t>
              </a:r>
            </a:p>
          </p:txBody>
        </p:sp>
        <p:sp>
          <p:nvSpPr>
            <p:cNvPr id="14" name="Ellipse 13"/>
            <p:cNvSpPr/>
            <p:nvPr/>
          </p:nvSpPr>
          <p:spPr>
            <a:xfrm>
              <a:off x="381000" y="2643664"/>
              <a:ext cx="1143000" cy="404336"/>
            </a:xfrm>
            <a:prstGeom prst="ellipse">
              <a:avLst/>
            </a:prstGeom>
            <a:noFill/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cxnSp>
          <p:nvCxnSpPr>
            <p:cNvPr id="16" name="Connecteur droit avec flèche 15"/>
            <p:cNvCxnSpPr>
              <a:stCxn id="13" idx="1"/>
              <a:endCxn id="14" idx="7"/>
            </p:cNvCxnSpPr>
            <p:nvPr/>
          </p:nvCxnSpPr>
          <p:spPr>
            <a:xfrm rot="10800000" flipV="1">
              <a:off x="1356612" y="2343834"/>
              <a:ext cx="2575108" cy="359043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Grouper 24"/>
          <p:cNvGrpSpPr/>
          <p:nvPr/>
        </p:nvGrpSpPr>
        <p:grpSpPr>
          <a:xfrm>
            <a:off x="1447800" y="2173925"/>
            <a:ext cx="7263998" cy="830997"/>
            <a:chOff x="1219200" y="2250123"/>
            <a:chExt cx="7263998" cy="830997"/>
          </a:xfrm>
        </p:grpSpPr>
        <p:sp>
          <p:nvSpPr>
            <p:cNvPr id="17" name="Ellipse 16"/>
            <p:cNvSpPr/>
            <p:nvPr/>
          </p:nvSpPr>
          <p:spPr>
            <a:xfrm>
              <a:off x="1219200" y="2617232"/>
              <a:ext cx="5308711" cy="430768"/>
            </a:xfrm>
            <a:prstGeom prst="ellipse">
              <a:avLst/>
            </a:prstGeom>
            <a:noFill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8" name="ZoneTexte 17"/>
            <p:cNvSpPr txBox="1"/>
            <p:nvPr/>
          </p:nvSpPr>
          <p:spPr>
            <a:xfrm>
              <a:off x="7147108" y="2250123"/>
              <a:ext cx="1336090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200" i="1">
                  <a:solidFill>
                    <a:schemeClr val="accent2"/>
                  </a:solidFill>
                </a:rPr>
                <a:t>requête XQuery</a:t>
              </a:r>
            </a:p>
            <a:p>
              <a:r>
                <a:rPr lang="fr-FR" sz="1200" i="1">
                  <a:solidFill>
                    <a:schemeClr val="accent2"/>
                  </a:solidFill>
                </a:rPr>
                <a:t>effectuée sur </a:t>
              </a:r>
            </a:p>
            <a:p>
              <a:r>
                <a:rPr lang="fr-FR" sz="1200" i="1">
                  <a:solidFill>
                    <a:schemeClr val="accent2"/>
                  </a:solidFill>
                </a:rPr>
                <a:t>PurchaseOrder</a:t>
              </a:r>
            </a:p>
            <a:p>
              <a:endParaRPr lang="fr-FR" sz="1200" i="1">
                <a:solidFill>
                  <a:schemeClr val="accent2"/>
                </a:solidFill>
              </a:endParaRPr>
            </a:p>
          </p:txBody>
        </p:sp>
        <p:cxnSp>
          <p:nvCxnSpPr>
            <p:cNvPr id="19" name="Connecteur droit avec flèche 18"/>
            <p:cNvCxnSpPr/>
            <p:nvPr/>
          </p:nvCxnSpPr>
          <p:spPr>
            <a:xfrm rot="10800000" flipV="1">
              <a:off x="6172200" y="2456765"/>
              <a:ext cx="974908" cy="246114"/>
            </a:xfrm>
            <a:prstGeom prst="straightConnector1">
              <a:avLst/>
            </a:prstGeom>
            <a:ln>
              <a:headEnd type="none" w="med" len="med"/>
              <a:tailEnd type="arrow"/>
            </a:ln>
          </p:spPr>
          <p:style>
            <a:lnRef idx="2">
              <a:schemeClr val="accent2"/>
            </a:lnRef>
            <a:fillRef idx="0">
              <a:schemeClr val="accent2"/>
            </a:fillRef>
            <a:effectRef idx="1">
              <a:schemeClr val="accent2"/>
            </a:effectRef>
            <a:fontRef idx="minor">
              <a:schemeClr val="tx1"/>
            </a:fontRef>
          </p:style>
        </p:cxnSp>
      </p:grpSp>
      <p:cxnSp>
        <p:nvCxnSpPr>
          <p:cNvPr id="22" name="Connecteur droit avec flèche 21"/>
          <p:cNvCxnSpPr/>
          <p:nvPr/>
        </p:nvCxnSpPr>
        <p:spPr>
          <a:xfrm rot="10800000" flipV="1">
            <a:off x="3857900" y="2819402"/>
            <a:ext cx="4169004" cy="1600198"/>
          </a:xfrm>
          <a:prstGeom prst="straightConnector1">
            <a:avLst/>
          </a:prstGeom>
          <a:ln>
            <a:headEnd type="none" w="med" len="med"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er 9"/>
          <p:cNvGrpSpPr/>
          <p:nvPr/>
        </p:nvGrpSpPr>
        <p:grpSpPr>
          <a:xfrm>
            <a:off x="4267200" y="2057400"/>
            <a:ext cx="3527683" cy="914400"/>
            <a:chOff x="5181600" y="2133600"/>
            <a:chExt cx="3527683" cy="914400"/>
          </a:xfrm>
        </p:grpSpPr>
        <p:sp>
          <p:nvSpPr>
            <p:cNvPr id="6" name="Ellipse 5"/>
            <p:cNvSpPr/>
            <p:nvPr/>
          </p:nvSpPr>
          <p:spPr>
            <a:xfrm>
              <a:off x="5181600" y="2685365"/>
              <a:ext cx="1143000" cy="362635"/>
            </a:xfrm>
            <a:prstGeom prst="ellipse">
              <a:avLst/>
            </a:prstGeom>
            <a:ln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" name="ZoneTexte 6"/>
            <p:cNvSpPr txBox="1"/>
            <p:nvPr/>
          </p:nvSpPr>
          <p:spPr>
            <a:xfrm>
              <a:off x="6248400" y="2133600"/>
              <a:ext cx="2460883" cy="646331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>
              <a:spAutoFit/>
            </a:bodyPr>
            <a:lstStyle/>
            <a:p>
              <a:r>
                <a:rPr lang="fr-FR" i="1">
                  <a:solidFill>
                    <a:schemeClr val="tx1"/>
                  </a:solidFill>
                </a:rPr>
                <a:t>Au lieu de CostCenter </a:t>
              </a:r>
            </a:p>
            <a:p>
              <a:r>
                <a:rPr lang="fr-FR" i="1">
                  <a:solidFill>
                    <a:schemeClr val="tx1"/>
                  </a:solidFill>
                </a:rPr>
                <a:t>(case sensitive)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185928" y="4038600"/>
            <a:ext cx="8805672" cy="4553634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fr-FR" sz="1600" smtClean="0"/>
              <a:t>XML Schema associé à </a:t>
            </a:r>
            <a:r>
              <a:rPr lang="fr-FR" sz="1600">
                <a:solidFill>
                  <a:schemeClr val="tx1"/>
                </a:solidFill>
              </a:rPr>
              <a:t>PurchaseOrder </a:t>
            </a:r>
            <a:endParaRPr lang="fr-FR" sz="1600" smtClean="0"/>
          </a:p>
          <a:p>
            <a:r>
              <a:rPr lang="fr-FR" sz="1600" smtClean="0"/>
              <a:t>&lt;xs:schema xmlns:xs="http://www.w3.org/2001/XMLSchema" version="1.0"&gt;</a:t>
            </a:r>
          </a:p>
          <a:p>
            <a:r>
              <a:rPr lang="fr-FR" sz="1600" smtClean="0"/>
              <a:t>  &lt;</a:t>
            </a:r>
            <a:r>
              <a:rPr lang="fr-FR" sz="1100" smtClean="0"/>
              <a:t>xs:element name="PurchaseOrder" type="PurchaseOrderType"/&gt;</a:t>
            </a:r>
          </a:p>
          <a:p>
            <a:r>
              <a:rPr lang="fr-FR" sz="1100" smtClean="0"/>
              <a:t>  &lt;xs:complexType name="PurchaseOrderType"&gt;</a:t>
            </a:r>
          </a:p>
          <a:p>
            <a:r>
              <a:rPr lang="fr-FR" sz="1100" smtClean="0"/>
              <a:t>    &lt;xs:sequence&gt;</a:t>
            </a:r>
          </a:p>
          <a:p>
            <a:r>
              <a:rPr lang="fr-FR" sz="1100" smtClean="0"/>
              <a:t>      &lt;xs:element name="Reference" type="ReferenceType"/&gt;</a:t>
            </a:r>
          </a:p>
          <a:p>
            <a:r>
              <a:rPr lang="fr-FR" sz="1100" smtClean="0"/>
              <a:t>      &lt;xs:element name="Actions" type="ActionsType"/&gt;</a:t>
            </a:r>
          </a:p>
          <a:p>
            <a:r>
              <a:rPr lang="fr-FR" sz="1100" smtClean="0"/>
              <a:t>      &lt;xs:element name="Reject" type="RejectionType" minOccurs="0"/&gt;</a:t>
            </a:r>
          </a:p>
          <a:p>
            <a:r>
              <a:rPr lang="fr-FR" sz="1100" smtClean="0"/>
              <a:t>      &lt;xs:element name="Requestor" type="RequestorType"/&gt;</a:t>
            </a:r>
          </a:p>
          <a:p>
            <a:r>
              <a:rPr lang="fr-FR" sz="1100" smtClean="0"/>
              <a:t>      &lt;xs:element name="User" type="UserType"/&gt;</a:t>
            </a:r>
          </a:p>
          <a:p>
            <a:r>
              <a:rPr lang="fr-FR" sz="1100" smtClean="0"/>
              <a:t>      &lt;xs:element name="CostCenter" type="CostCenterType"/&gt;</a:t>
            </a:r>
          </a:p>
          <a:p>
            <a:r>
              <a:rPr lang="fr-FR" sz="1100" smtClean="0"/>
              <a:t>      …</a:t>
            </a:r>
            <a:endParaRPr lang="fr-FR" sz="110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Vérification statique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1"/>
          </p:nvPr>
        </p:nvSpPr>
        <p:spPr>
          <a:xfrm>
            <a:off x="301752" y="1371600"/>
            <a:ext cx="8689848" cy="2667000"/>
          </a:xfrm>
          <a:noFill/>
        </p:spPr>
        <p:txBody>
          <a:bodyPr>
            <a:normAutofit fontScale="55000" lnSpcReduction="20000"/>
          </a:bodyPr>
          <a:lstStyle/>
          <a:p>
            <a:r>
              <a:rPr lang="fr-FR"/>
              <a:t>Analyse avant exécution. </a:t>
            </a:r>
          </a:p>
          <a:p>
            <a:r>
              <a:rPr lang="fr-FR"/>
              <a:t>Exemple : </a:t>
            </a:r>
            <a:r>
              <a:rPr lang="fr-FR" smtClean="0"/>
              <a:t>XQuery Static Type-Checking in Oracle XML DB</a:t>
            </a:r>
          </a:p>
          <a:p>
            <a:endParaRPr lang="fr-FR" smtClean="0"/>
          </a:p>
          <a:p>
            <a:pPr lvl="0">
              <a:buNone/>
              <a:defRPr/>
            </a:pPr>
            <a:r>
              <a:rPr lang="fr-FR" sz="2545"/>
              <a:t>SELECT xtab.poref, xtab.usr, xtab.requestor</a:t>
            </a:r>
          </a:p>
          <a:p>
            <a:pPr lvl="0">
              <a:buNone/>
              <a:defRPr/>
            </a:pPr>
            <a:r>
              <a:rPr lang="fr-FR" sz="2545"/>
              <a:t>  FROM purchaseorder,</a:t>
            </a:r>
          </a:p>
          <a:p>
            <a:pPr lvl="0">
              <a:buNone/>
              <a:defRPr/>
            </a:pPr>
            <a:r>
              <a:rPr lang="fr-FR" sz="2545"/>
              <a:t>       XMLTable('for $i in /PurchaseOrder where $i/costcenter eq "A10" return $i'</a:t>
            </a:r>
          </a:p>
          <a:p>
            <a:pPr lvl="0">
              <a:buNone/>
              <a:defRPr/>
            </a:pPr>
            <a:r>
              <a:rPr lang="fr-FR" sz="2545"/>
              <a:t>                	          PASSING OBJECT_VALUE</a:t>
            </a:r>
          </a:p>
          <a:p>
            <a:pPr lvl="0">
              <a:buNone/>
              <a:defRPr/>
            </a:pPr>
            <a:r>
              <a:rPr lang="fr-FR" sz="2545"/>
              <a:t>                              COLUMNS poref     VARCHAR2(20) PATH 'Reference',</a:t>
            </a:r>
          </a:p>
          <a:p>
            <a:pPr lvl="0">
              <a:buNone/>
              <a:defRPr/>
            </a:pPr>
            <a:r>
              <a:rPr lang="fr-FR" sz="2545"/>
              <a:t>                                     	              usr       VARCHAR2(20) PATH 'User' DEFAULT 'Unknown',</a:t>
            </a:r>
          </a:p>
          <a:p>
            <a:pPr lvl="0">
              <a:buNone/>
              <a:defRPr/>
            </a:pPr>
            <a:r>
              <a:rPr lang="fr-FR" sz="2545"/>
              <a:t>                      	              requestor VARCHAR2(20) PATH 'Requestor') </a:t>
            </a:r>
          </a:p>
          <a:p>
            <a:pPr lvl="0">
              <a:buNone/>
              <a:defRPr/>
            </a:pPr>
            <a:r>
              <a:rPr lang="fr-FR" sz="2545"/>
              <a:t>       xtab;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5010834"/>
            <a:ext cx="8839200" cy="1008966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t" anchorCtr="0"/>
          <a:lstStyle/>
          <a:p>
            <a:pPr>
              <a:buNone/>
            </a:pPr>
            <a:r>
              <a:rPr lang="fr-FR"/>
              <a:t>ERROR at line 2:</a:t>
            </a:r>
          </a:p>
          <a:p>
            <a:pPr>
              <a:buNone/>
            </a:pPr>
            <a:r>
              <a:rPr lang="fr-FR"/>
              <a:t>ORA-19276: XPST0005 - XPath step specifies an invalid element/attribute name:</a:t>
            </a:r>
          </a:p>
          <a:p>
            <a:pPr>
              <a:buNone/>
            </a:pPr>
            <a:r>
              <a:rPr lang="fr-FR"/>
              <a:t>(costcenter)</a:t>
            </a:r>
          </a:p>
          <a:p>
            <a:pPr algn="ctr"/>
            <a:endParaRPr lang="fr-FR"/>
          </a:p>
        </p:txBody>
      </p:sp>
      <p:sp>
        <p:nvSpPr>
          <p:cNvPr id="12" name="ZoneTexte 11"/>
          <p:cNvSpPr txBox="1"/>
          <p:nvPr/>
        </p:nvSpPr>
        <p:spPr>
          <a:xfrm>
            <a:off x="6665322" y="228600"/>
            <a:ext cx="23262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600" b="1">
                <a:latin typeface="Papyrus"/>
                <a:cs typeface="Papyrus"/>
              </a:rPr>
              <a:t>Ref : Oracle® XML DB 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Developer's Guide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11g Release 2 (11.2)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mc:Ignorable="mv" mc:PreserveAttributes="mv:*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Vérification statique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258775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1600"/>
              <a:t>SELECT XMLQuery('for $i in ora:view("REGIONS"), $j in ora:view("COUNTRIES")</a:t>
            </a:r>
          </a:p>
          <a:p>
            <a:pPr>
              <a:buNone/>
            </a:pPr>
            <a:r>
              <a:rPr lang="fr-FR" sz="1600"/>
              <a:t>                 where $i/REGION_ID = $j/REGION_ID and $i/REGION_NAME = "Asia"</a:t>
            </a:r>
          </a:p>
          <a:p>
            <a:pPr>
              <a:buNone/>
            </a:pPr>
            <a:r>
              <a:rPr lang="fr-FR" sz="1600"/>
              <a:t>                 return $j'</a:t>
            </a:r>
          </a:p>
          <a:p>
            <a:pPr>
              <a:buNone/>
            </a:pPr>
            <a:r>
              <a:rPr lang="fr-FR" sz="1600"/>
              <a:t>                RETURNING CONTENT) AS asian_countries</a:t>
            </a:r>
          </a:p>
          <a:p>
            <a:pPr>
              <a:buNone/>
            </a:pPr>
            <a:r>
              <a:rPr lang="fr-FR" sz="1600"/>
              <a:t>  FROM DUAL;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579203"/>
            <a:ext cx="8561832" cy="12954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buNone/>
            </a:pPr>
            <a:r>
              <a:rPr lang="fr-FR" sz="1600"/>
              <a:t>ERROR at line 1:</a:t>
            </a:r>
          </a:p>
          <a:p>
            <a:pPr>
              <a:buNone/>
            </a:pPr>
            <a:r>
              <a:rPr lang="fr-FR" sz="1600"/>
              <a:t>ORA-19276: XPST0005 - XPath step specifies an invalid element/attribute name:</a:t>
            </a:r>
          </a:p>
          <a:p>
            <a:pPr>
              <a:buNone/>
            </a:pPr>
            <a:r>
              <a:rPr lang="fr-FR" sz="1600"/>
              <a:t>(REGION_ID)</a:t>
            </a:r>
          </a:p>
        </p:txBody>
      </p:sp>
      <p:sp>
        <p:nvSpPr>
          <p:cNvPr id="9" name="ZoneTexte 8"/>
          <p:cNvSpPr txBox="1"/>
          <p:nvPr/>
        </p:nvSpPr>
        <p:spPr>
          <a:xfrm>
            <a:off x="304800" y="6179403"/>
            <a:ext cx="8686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/>
              <a:t>Produces a static-type-check error, because "ROW" is missing </a:t>
            </a:r>
          </a:p>
          <a:p>
            <a:r>
              <a:rPr lang="fr-FR" sz="1600"/>
              <a:t>($i/ROW/REGION_ID).</a:t>
            </a:r>
          </a:p>
          <a:p>
            <a:endParaRPr lang="fr-FR" sz="1600"/>
          </a:p>
        </p:txBody>
      </p:sp>
      <p:sp>
        <p:nvSpPr>
          <p:cNvPr id="10" name="ZoneTexte 9"/>
          <p:cNvSpPr txBox="1"/>
          <p:nvPr/>
        </p:nvSpPr>
        <p:spPr>
          <a:xfrm>
            <a:off x="6665322" y="228600"/>
            <a:ext cx="232627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fr-FR" sz="1600" b="1">
                <a:latin typeface="Papyrus"/>
                <a:cs typeface="Papyrus"/>
              </a:rPr>
              <a:t>Ref : Oracle® XML DB 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Developer's Guide</a:t>
            </a:r>
          </a:p>
          <a:p>
            <a:pPr algn="r"/>
            <a:r>
              <a:rPr lang="fr-FR" sz="1600" b="1">
                <a:latin typeface="Papyrus"/>
                <a:cs typeface="Papyrus"/>
              </a:rPr>
              <a:t>11g Release 2 (11.2)</a:t>
            </a:r>
          </a:p>
        </p:txBody>
      </p:sp>
      <p:sp>
        <p:nvSpPr>
          <p:cNvPr id="11" name="Ellipse 10"/>
          <p:cNvSpPr/>
          <p:nvPr/>
        </p:nvSpPr>
        <p:spPr>
          <a:xfrm>
            <a:off x="2895600" y="1417638"/>
            <a:ext cx="2438400" cy="487362"/>
          </a:xfrm>
          <a:prstGeom prst="ellipse">
            <a:avLst/>
          </a:prstGeom>
          <a:no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Rectangle 11"/>
          <p:cNvSpPr/>
          <p:nvPr/>
        </p:nvSpPr>
        <p:spPr>
          <a:xfrm>
            <a:off x="1908048" y="2971800"/>
            <a:ext cx="700735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200" smtClean="0">
                <a:solidFill>
                  <a:schemeClr val="accent1"/>
                </a:solidFill>
              </a:rPr>
              <a:t>Crée une portion de code XML à partir d'une table relationnelle</a:t>
            </a:r>
          </a:p>
          <a:p>
            <a:r>
              <a:rPr lang="fr-FR" sz="1200" smtClean="0">
                <a:solidFill>
                  <a:schemeClr val="accent1"/>
                </a:solidFill>
              </a:rPr>
              <a:t>&lt;ROW&gt;  &lt;REGION_ID&gt;1&lt;/REGION_ID&gt; &lt;</a:t>
            </a:r>
            <a:r>
              <a:rPr lang="fr-FR" sz="1200">
                <a:solidFill>
                  <a:schemeClr val="accent1"/>
                </a:solidFill>
              </a:rPr>
              <a:t>REGION_NAME</a:t>
            </a:r>
            <a:r>
              <a:rPr lang="fr-FR" sz="1200" smtClean="0">
                <a:solidFill>
                  <a:schemeClr val="accent1"/>
                </a:solidFill>
              </a:rPr>
              <a:t>&gt;blabla &lt;/</a:t>
            </a:r>
            <a:r>
              <a:rPr lang="fr-FR" sz="1200">
                <a:solidFill>
                  <a:schemeClr val="accent1"/>
                </a:solidFill>
              </a:rPr>
              <a:t>REGION_NAME&gt;</a:t>
            </a:r>
            <a:r>
              <a:rPr lang="fr-FR" sz="1200" smtClean="0">
                <a:solidFill>
                  <a:schemeClr val="accent1"/>
                </a:solidFill>
              </a:rPr>
              <a:t>&lt;/ROW&gt;</a:t>
            </a:r>
          </a:p>
          <a:p>
            <a:pPr>
              <a:defRPr/>
            </a:pPr>
            <a:r>
              <a:rPr lang="fr-FR" sz="1200" smtClean="0">
                <a:solidFill>
                  <a:schemeClr val="accent1"/>
                </a:solidFill>
              </a:rPr>
              <a:t>&lt;ROW&gt;  &lt;REGION_ID&gt;2&lt;/REGION_ID&gt; &lt;</a:t>
            </a:r>
            <a:r>
              <a:rPr lang="fr-FR" sz="1200">
                <a:solidFill>
                  <a:schemeClr val="accent1"/>
                </a:solidFill>
              </a:rPr>
              <a:t>REGION_NAME</a:t>
            </a:r>
            <a:r>
              <a:rPr lang="fr-FR" sz="1200" smtClean="0">
                <a:solidFill>
                  <a:schemeClr val="accent1"/>
                </a:solidFill>
              </a:rPr>
              <a:t>&gt;blabla &lt;/</a:t>
            </a:r>
            <a:r>
              <a:rPr lang="fr-FR" sz="1200">
                <a:solidFill>
                  <a:schemeClr val="accent1"/>
                </a:solidFill>
              </a:rPr>
              <a:t>REGION_NAME&gt;</a:t>
            </a:r>
            <a:r>
              <a:rPr lang="fr-FR" sz="1200" smtClean="0">
                <a:solidFill>
                  <a:schemeClr val="accent1"/>
                </a:solidFill>
              </a:rPr>
              <a:t>&lt;/ROW&gt;</a:t>
            </a:r>
            <a:endParaRPr lang="fr-FR" sz="1200">
              <a:solidFill>
                <a:schemeClr val="accent1"/>
              </a:solidFill>
            </a:endParaRPr>
          </a:p>
          <a:p>
            <a:pPr>
              <a:defRPr/>
            </a:pPr>
            <a:r>
              <a:rPr lang="fr-FR" sz="1200" smtClean="0">
                <a:solidFill>
                  <a:schemeClr val="accent1"/>
                </a:solidFill>
              </a:rPr>
              <a:t>&lt;ROW&gt;  &lt;REGION_ID&gt;3&lt;/REGION_ID&gt; &lt;</a:t>
            </a:r>
            <a:r>
              <a:rPr lang="fr-FR" sz="1200">
                <a:solidFill>
                  <a:schemeClr val="accent1"/>
                </a:solidFill>
              </a:rPr>
              <a:t>REGION_NAME</a:t>
            </a:r>
            <a:r>
              <a:rPr lang="fr-FR" sz="1200" smtClean="0">
                <a:solidFill>
                  <a:schemeClr val="accent1"/>
                </a:solidFill>
              </a:rPr>
              <a:t>&gt;blabla &lt;/</a:t>
            </a:r>
            <a:r>
              <a:rPr lang="fr-FR" sz="1200">
                <a:solidFill>
                  <a:schemeClr val="accent1"/>
                </a:solidFill>
              </a:rPr>
              <a:t>REGION_NAME&gt;</a:t>
            </a:r>
            <a:r>
              <a:rPr lang="fr-FR" sz="1200" smtClean="0">
                <a:solidFill>
                  <a:schemeClr val="accent1"/>
                </a:solidFill>
              </a:rPr>
              <a:t>&lt;/ROW&gt;</a:t>
            </a:r>
            <a:endParaRPr lang="fr-FR" sz="1200">
              <a:solidFill>
                <a:schemeClr val="accent1"/>
              </a:solidFill>
            </a:endParaRPr>
          </a:p>
          <a:p>
            <a:pPr>
              <a:defRPr/>
            </a:pPr>
            <a:r>
              <a:rPr lang="fr-FR" sz="1200" smtClean="0">
                <a:solidFill>
                  <a:schemeClr val="accent1"/>
                </a:solidFill>
              </a:rPr>
              <a:t>&lt;ROW&gt;  &lt;REGION_ID&gt;4&lt;/REGION_ID&gt; &lt;</a:t>
            </a:r>
            <a:r>
              <a:rPr lang="fr-FR" sz="1200">
                <a:solidFill>
                  <a:schemeClr val="accent1"/>
                </a:solidFill>
              </a:rPr>
              <a:t>REGION_NAME</a:t>
            </a:r>
            <a:r>
              <a:rPr lang="fr-FR" sz="1200" smtClean="0">
                <a:solidFill>
                  <a:schemeClr val="accent1"/>
                </a:solidFill>
              </a:rPr>
              <a:t>&gt;blabla &lt;/</a:t>
            </a:r>
            <a:r>
              <a:rPr lang="fr-FR" sz="1200">
                <a:solidFill>
                  <a:schemeClr val="accent1"/>
                </a:solidFill>
              </a:rPr>
              <a:t>REGION_NAME&gt;</a:t>
            </a:r>
            <a:r>
              <a:rPr lang="fr-FR" sz="1200" smtClean="0">
                <a:solidFill>
                  <a:schemeClr val="accent1"/>
                </a:solidFill>
              </a:rPr>
              <a:t>&lt;/ROW&gt;</a:t>
            </a:r>
            <a:endParaRPr lang="fr-FR" sz="1200">
              <a:solidFill>
                <a:schemeClr val="accent1"/>
              </a:solidFill>
            </a:endParaRPr>
          </a:p>
        </p:txBody>
      </p:sp>
      <p:cxnSp>
        <p:nvCxnSpPr>
          <p:cNvPr id="14" name="Connecteur droit 13"/>
          <p:cNvCxnSpPr/>
          <p:nvPr/>
        </p:nvCxnSpPr>
        <p:spPr>
          <a:xfrm rot="16200000" flipV="1">
            <a:off x="5052030" y="1958370"/>
            <a:ext cx="102114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2" grpId="0"/>
    </p:bld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1995</TotalTime>
  <Words>7813</Words>
  <Application>Microsoft Macintosh PowerPoint</Application>
  <PresentationFormat>Présentation à l'écran (4:3)</PresentationFormat>
  <Paragraphs>933</Paragraphs>
  <Slides>49</Slides>
  <Notes>45</Notes>
  <HiddenSlides>0</HiddenSlides>
  <MMClips>0</MMClips>
  <ScaleCrop>false</ScaleCrop>
  <HeadingPairs>
    <vt:vector size="4" baseType="variant">
      <vt:variant>
        <vt:lpstr>Modèle de conception</vt:lpstr>
      </vt:variant>
      <vt:variant>
        <vt:i4>1</vt:i4>
      </vt:variant>
      <vt:variant>
        <vt:lpstr>Titres des diapositives</vt:lpstr>
      </vt:variant>
      <vt:variant>
        <vt:i4>49</vt:i4>
      </vt:variant>
    </vt:vector>
  </HeadingPairs>
  <TitlesOfParts>
    <vt:vector size="50" baseType="lpstr">
      <vt:lpstr>Thème Office</vt:lpstr>
      <vt:lpstr>Bases de données avancées (NFE204)</vt:lpstr>
      <vt:lpstr>DTD</vt:lpstr>
      <vt:lpstr>XML Schema</vt:lpstr>
      <vt:lpstr>XML Schema</vt:lpstr>
      <vt:lpstr>XML Schema</vt:lpstr>
      <vt:lpstr>Les élements : types</vt:lpstr>
      <vt:lpstr>Les élements : types</vt:lpstr>
      <vt:lpstr>Types simples</vt:lpstr>
      <vt:lpstr>Diapositive 9</vt:lpstr>
      <vt:lpstr>Types simples : dérivation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restriction</vt:lpstr>
      <vt:lpstr>Types simples : dérivation par liste</vt:lpstr>
      <vt:lpstr>Types simples : dérivation par union</vt:lpstr>
      <vt:lpstr>Types complexes : quand ?</vt:lpstr>
      <vt:lpstr>2 notations équivalentes</vt:lpstr>
      <vt:lpstr>Types complexes : plusieurs cas</vt:lpstr>
      <vt:lpstr>Types complexes : simple content</vt:lpstr>
      <vt:lpstr>Types complexes : complex content</vt:lpstr>
      <vt:lpstr>Types complexes : complex content</vt:lpstr>
      <vt:lpstr>Types complexes : complex content</vt:lpstr>
      <vt:lpstr>Types complexes : complex content</vt:lpstr>
      <vt:lpstr>Types complexes : complex content</vt:lpstr>
      <vt:lpstr>Types complexes : complex content</vt:lpstr>
      <vt:lpstr>Types complexes : complex content</vt:lpstr>
      <vt:lpstr>Types complexes : complex content</vt:lpstr>
      <vt:lpstr>Types complexes : complex content</vt:lpstr>
      <vt:lpstr>Conclusion</vt:lpstr>
      <vt:lpstr>ID, IDREF</vt:lpstr>
      <vt:lpstr>Types complexes : complex content</vt:lpstr>
      <vt:lpstr>Prenons un peu de hauteur…</vt:lpstr>
      <vt:lpstr>Deux types de vérifications</vt:lpstr>
      <vt:lpstr>Vérification dynamique</vt:lpstr>
      <vt:lpstr>Vérification : intuition</vt:lpstr>
      <vt:lpstr>Vérification : intuition</vt:lpstr>
      <vt:lpstr>Vérification : intuition</vt:lpstr>
      <vt:lpstr>Vérification : intuition</vt:lpstr>
      <vt:lpstr>Vérification statique</vt:lpstr>
      <vt:lpstr>Vérification statique</vt:lpstr>
      <vt:lpstr>Vérification statique</vt:lpstr>
    </vt:vector>
  </TitlesOfParts>
  <Company>Université Paris-Sud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Validation d'un document XML seconde partie</dc:title>
  <dc:creator>Virginie THION-GOASDOUE</dc:creator>
  <cp:lastModifiedBy>Virginie THION-GOASDOUE</cp:lastModifiedBy>
  <cp:revision>317</cp:revision>
  <cp:lastPrinted>2010-11-03T11:20:20Z</cp:lastPrinted>
  <dcterms:created xsi:type="dcterms:W3CDTF">2011-11-22T09:39:03Z</dcterms:created>
  <dcterms:modified xsi:type="dcterms:W3CDTF">2011-11-22T10:34:54Z</dcterms:modified>
</cp:coreProperties>
</file>
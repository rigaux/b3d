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2" r:id="rId1"/>
  </p:sldMasterIdLst>
  <p:notesMasterIdLst>
    <p:notesMasterId r:id="rId58"/>
  </p:notesMasterIdLst>
  <p:handoutMasterIdLst>
    <p:handoutMasterId r:id="rId59"/>
  </p:handoutMasterIdLst>
  <p:sldIdLst>
    <p:sldId id="256" r:id="rId2"/>
    <p:sldId id="258" r:id="rId3"/>
    <p:sldId id="259" r:id="rId4"/>
    <p:sldId id="260" r:id="rId5"/>
    <p:sldId id="274" r:id="rId6"/>
    <p:sldId id="268" r:id="rId7"/>
    <p:sldId id="269" r:id="rId8"/>
    <p:sldId id="261" r:id="rId9"/>
    <p:sldId id="262" r:id="rId10"/>
    <p:sldId id="263" r:id="rId11"/>
    <p:sldId id="264" r:id="rId12"/>
    <p:sldId id="265" r:id="rId13"/>
    <p:sldId id="273" r:id="rId14"/>
    <p:sldId id="266" r:id="rId15"/>
    <p:sldId id="267" r:id="rId16"/>
    <p:sldId id="272" r:id="rId17"/>
    <p:sldId id="276" r:id="rId18"/>
    <p:sldId id="277" r:id="rId19"/>
    <p:sldId id="319" r:id="rId20"/>
    <p:sldId id="316" r:id="rId21"/>
    <p:sldId id="330" r:id="rId22"/>
    <p:sldId id="332" r:id="rId23"/>
    <p:sldId id="320" r:id="rId24"/>
    <p:sldId id="331" r:id="rId25"/>
    <p:sldId id="334" r:id="rId26"/>
    <p:sldId id="279" r:id="rId27"/>
    <p:sldId id="335" r:id="rId28"/>
    <p:sldId id="336" r:id="rId29"/>
    <p:sldId id="281" r:id="rId30"/>
    <p:sldId id="283" r:id="rId31"/>
    <p:sldId id="284" r:id="rId32"/>
    <p:sldId id="285" r:id="rId33"/>
    <p:sldId id="337" r:id="rId34"/>
    <p:sldId id="287" r:id="rId35"/>
    <p:sldId id="288" r:id="rId36"/>
    <p:sldId id="289" r:id="rId37"/>
    <p:sldId id="338" r:id="rId38"/>
    <p:sldId id="340" r:id="rId39"/>
    <p:sldId id="291" r:id="rId40"/>
    <p:sldId id="292" r:id="rId41"/>
    <p:sldId id="294" r:id="rId42"/>
    <p:sldId id="341" r:id="rId43"/>
    <p:sldId id="342" r:id="rId44"/>
    <p:sldId id="296" r:id="rId45"/>
    <p:sldId id="297" r:id="rId46"/>
    <p:sldId id="343" r:id="rId47"/>
    <p:sldId id="344" r:id="rId48"/>
    <p:sldId id="345" r:id="rId49"/>
    <p:sldId id="300" r:id="rId50"/>
    <p:sldId id="301" r:id="rId51"/>
    <p:sldId id="302" r:id="rId52"/>
    <p:sldId id="347" r:id="rId53"/>
    <p:sldId id="348" r:id="rId54"/>
    <p:sldId id="317" r:id="rId55"/>
    <p:sldId id="318" r:id="rId56"/>
    <p:sldId id="315" r:id="rId57"/>
  </p:sldIdLst>
  <p:sldSz cx="9144000" cy="5143500" type="screen16x9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AVERS Nicolas" initials="T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E211E"/>
    <a:srgbClr val="F6B7B6"/>
    <a:srgbClr val="D76767"/>
    <a:srgbClr val="D3966C"/>
    <a:srgbClr val="EAB485"/>
    <a:srgbClr val="D87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9"/>
    <p:restoredTop sz="94689"/>
  </p:normalViewPr>
  <p:slideViewPr>
    <p:cSldViewPr>
      <p:cViewPr>
        <p:scale>
          <a:sx n="161" d="100"/>
          <a:sy n="161" d="100"/>
        </p:scale>
        <p:origin x="1296" y="1192"/>
      </p:cViewPr>
      <p:guideLst>
        <p:guide orient="horz" pos="162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1936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commentAuthors" Target="commentAuthors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fld id="{FB40C49A-FDE1-C944-ACF2-5A8D009E7E10}" type="datetimeFigureOut">
              <a:rPr lang="fr-FR"/>
              <a:pPr>
                <a:defRPr/>
              </a:pPr>
              <a:t>06/07/2017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fld id="{B9107130-3D17-8149-8538-133C0449A88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  <p:sp>
        <p:nvSpPr>
          <p:cNvPr id="13315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8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2825" cy="3427413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54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noProof="0" smtClean="0"/>
          </a:p>
        </p:txBody>
      </p:sp>
      <p:sp>
        <p:nvSpPr>
          <p:cNvPr id="13320" name="Text Box 7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Calibri" charset="0"/>
              </a:defRPr>
            </a:lvl1pPr>
          </a:lstStyle>
          <a:p>
            <a:pPr>
              <a:defRPr/>
            </a:pPr>
            <a:fld id="{103EA255-94DC-954A-9B59-9D8F19200A61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FD6BD8-76BE-F446-A0CE-A023B4E69F17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fr-FR" altLang="fr-FR">
              <a:latin typeface="Calibri" charset="0"/>
            </a:endParaRPr>
          </a:p>
        </p:txBody>
      </p:sp>
      <p:sp>
        <p:nvSpPr>
          <p:cNvPr id="1638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6388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9966E6-A7EF-FF49-BE02-F5961B746699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fr-FR" altLang="fr-FR">
              <a:latin typeface="Calibri" charset="0"/>
            </a:endParaRPr>
          </a:p>
        </p:txBody>
      </p:sp>
      <p:sp>
        <p:nvSpPr>
          <p:cNvPr id="1843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B92410-1CB8-654B-86AE-3C05BCBA9F40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fr-FR" altLang="fr-FR">
              <a:latin typeface="Calibri" charset="0"/>
            </a:endParaRPr>
          </a:p>
        </p:txBody>
      </p:sp>
      <p:sp>
        <p:nvSpPr>
          <p:cNvPr id="2048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0484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BC9B24-CCF9-0A4F-A2B6-C9718E3CED33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fr-FR" altLang="fr-FR">
              <a:latin typeface="Calibri" charset="0"/>
            </a:endParaRPr>
          </a:p>
        </p:txBody>
      </p:sp>
      <p:sp>
        <p:nvSpPr>
          <p:cNvPr id="2253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2532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B25E53-60AF-474D-9683-B6091416125B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fr-FR" altLang="fr-FR">
              <a:latin typeface="Calibri" charset="0"/>
            </a:endParaRPr>
          </a:p>
        </p:txBody>
      </p:sp>
      <p:sp>
        <p:nvSpPr>
          <p:cNvPr id="34819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34820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D3784B-EB28-6A45-9F03-A471EB04C481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fr-FR" altLang="fr-FR">
              <a:latin typeface="Calibri" charset="0"/>
            </a:endParaRPr>
          </a:p>
        </p:txBody>
      </p:sp>
      <p:sp>
        <p:nvSpPr>
          <p:cNvPr id="3686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3686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2F0930-3FF0-3C46-A9F6-6229F37ADF72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fr-FR" altLang="fr-FR">
              <a:latin typeface="Calibri" charset="0"/>
            </a:endParaRPr>
          </a:p>
        </p:txBody>
      </p:sp>
      <p:sp>
        <p:nvSpPr>
          <p:cNvPr id="3891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3891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902A01-622A-E649-86F6-2DBF986975FC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fr-FR" altLang="fr-FR">
              <a:latin typeface="Calibri" charset="0"/>
            </a:endParaRPr>
          </a:p>
        </p:txBody>
      </p:sp>
      <p:sp>
        <p:nvSpPr>
          <p:cNvPr id="24579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4580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15C399-08A0-1040-80A6-3A012840CB48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fr-FR" altLang="fr-FR">
              <a:latin typeface="Calibri" charset="0"/>
            </a:endParaRPr>
          </a:p>
        </p:txBody>
      </p:sp>
      <p:sp>
        <p:nvSpPr>
          <p:cNvPr id="2662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6628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4D41FEA-2869-4347-BE45-3F119126E909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fr-FR" altLang="fr-FR">
              <a:latin typeface="Calibri" charset="0"/>
            </a:endParaRPr>
          </a:p>
        </p:txBody>
      </p:sp>
      <p:sp>
        <p:nvSpPr>
          <p:cNvPr id="2867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8676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5C3F7A-7571-3E45-B8A5-6834CA8643CD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fr-FR" altLang="fr-FR">
              <a:latin typeface="Calibri" charset="0"/>
            </a:endParaRPr>
          </a:p>
        </p:txBody>
      </p:sp>
      <p:sp>
        <p:nvSpPr>
          <p:cNvPr id="3072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30724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F33CF2-BE80-D94A-8FBE-F4588A8846F8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fr-FR" altLang="fr-FR">
              <a:latin typeface="Calibri" charset="0"/>
            </a:endParaRPr>
          </a:p>
        </p:txBody>
      </p:sp>
      <p:sp>
        <p:nvSpPr>
          <p:cNvPr id="3277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F802E5-8A18-1B4D-B24D-AF8B0AEF9FAD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fr-FR" altLang="fr-FR">
              <a:latin typeface="Calibri" charset="0"/>
            </a:endParaRPr>
          </a:p>
        </p:txBody>
      </p:sp>
      <p:sp>
        <p:nvSpPr>
          <p:cNvPr id="45059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4506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DF722A-B4A6-5544-A2AC-BF79C386C1A9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fr-FR" altLang="fr-FR">
              <a:latin typeface="Calibri" charset="0"/>
            </a:endParaRPr>
          </a:p>
        </p:txBody>
      </p:sp>
      <p:sp>
        <p:nvSpPr>
          <p:cNvPr id="4096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40964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11318A-9B94-6F44-893E-60BB6DDDC9DE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fr-FR" altLang="fr-FR">
              <a:latin typeface="Calibri" charset="0"/>
            </a:endParaRPr>
          </a:p>
        </p:txBody>
      </p:sp>
      <p:sp>
        <p:nvSpPr>
          <p:cNvPr id="4301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43012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111C66-98FE-504F-8863-E9A9D7B3A5DB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fr-FR" altLang="fr-FR">
              <a:latin typeface="Calibri" charset="0"/>
            </a:endParaRPr>
          </a:p>
        </p:txBody>
      </p:sp>
      <p:sp>
        <p:nvSpPr>
          <p:cNvPr id="4710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47108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26BD41-FAAD-774C-807B-F97FEE3C96AA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fr-FR" altLang="fr-FR">
              <a:latin typeface="Calibri" charset="0"/>
            </a:endParaRPr>
          </a:p>
        </p:txBody>
      </p:sp>
      <p:sp>
        <p:nvSpPr>
          <p:cNvPr id="5120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51204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FFBBAD-3A16-2E41-B733-3A7E5D9888A8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fr-FR" altLang="fr-FR">
              <a:latin typeface="Calibri" charset="0"/>
            </a:endParaRPr>
          </a:p>
        </p:txBody>
      </p:sp>
      <p:sp>
        <p:nvSpPr>
          <p:cNvPr id="5325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53252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103EA255-94DC-954A-9B59-9D8F19200A61}" type="slidenum">
              <a:rPr lang="fr-FR" altLang="fr-FR" smtClean="0"/>
              <a:pPr>
                <a:defRPr/>
              </a:pPr>
              <a:t>21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451431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103EA255-94DC-954A-9B59-9D8F19200A61}" type="slidenum">
              <a:rPr lang="fr-FR" altLang="fr-FR" smtClean="0"/>
              <a:pPr>
                <a:defRPr/>
              </a:pPr>
              <a:t>25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012049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2C7BEC-9A03-A64A-8403-79E7B69A859B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fr-FR" altLang="fr-FR">
              <a:latin typeface="Calibri" charset="0"/>
            </a:endParaRPr>
          </a:p>
        </p:txBody>
      </p:sp>
      <p:sp>
        <p:nvSpPr>
          <p:cNvPr id="5837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58372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B666FC-5DD7-BB4E-BE61-7D4A688695E0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fr-FR" altLang="fr-FR">
              <a:latin typeface="Calibri" charset="0"/>
            </a:endParaRPr>
          </a:p>
        </p:txBody>
      </p:sp>
      <p:sp>
        <p:nvSpPr>
          <p:cNvPr id="6246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6246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C481A5-0516-6B4A-A236-51F177A3E0F2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fr-FR" altLang="fr-FR">
              <a:latin typeface="Calibri" charset="0"/>
            </a:endParaRPr>
          </a:p>
        </p:txBody>
      </p:sp>
      <p:sp>
        <p:nvSpPr>
          <p:cNvPr id="6656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66564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3F2406-0085-FD4A-B0D2-AD3AAFF5A0FC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fr-FR" altLang="fr-FR">
              <a:latin typeface="Calibri" charset="0"/>
            </a:endParaRPr>
          </a:p>
        </p:txBody>
      </p:sp>
      <p:sp>
        <p:nvSpPr>
          <p:cNvPr id="6861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6861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FF80B5-2686-D14E-8A54-5A048D0365B4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fr-FR" altLang="fr-FR">
              <a:latin typeface="Calibri" charset="0"/>
            </a:endParaRPr>
          </a:p>
        </p:txBody>
      </p:sp>
      <p:sp>
        <p:nvSpPr>
          <p:cNvPr id="70659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0660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AF317E-EEC4-BF4F-BE7F-CCA3FB31CD78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fr-FR" altLang="fr-FR">
              <a:latin typeface="Calibri" charset="0"/>
            </a:endParaRPr>
          </a:p>
        </p:txBody>
      </p:sp>
      <p:sp>
        <p:nvSpPr>
          <p:cNvPr id="7475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74756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6897E4-8F57-E14D-8009-E94EF38CE9E5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fr-FR" altLang="fr-FR">
              <a:latin typeface="Calibri" charset="0"/>
            </a:endParaRPr>
          </a:p>
        </p:txBody>
      </p:sp>
      <p:sp>
        <p:nvSpPr>
          <p:cNvPr id="7680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28F916-9BCE-7E4F-A4A2-2AF62CD88F33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fr-FR" altLang="fr-FR">
              <a:latin typeface="Calibri" charset="0"/>
            </a:endParaRPr>
          </a:p>
        </p:txBody>
      </p:sp>
      <p:sp>
        <p:nvSpPr>
          <p:cNvPr id="7885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7885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D70C9D-1BC0-B041-906A-4FE4BFD73B0F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fr-FR" altLang="fr-FR">
              <a:latin typeface="Calibri" charset="0"/>
            </a:endParaRPr>
          </a:p>
        </p:txBody>
      </p:sp>
      <p:sp>
        <p:nvSpPr>
          <p:cNvPr id="8294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8294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7C0384-87AB-6048-94D5-6A5BB12655B8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fr-FR" altLang="fr-FR">
              <a:latin typeface="Calibri" charset="0"/>
            </a:endParaRPr>
          </a:p>
        </p:txBody>
      </p:sp>
      <p:sp>
        <p:nvSpPr>
          <p:cNvPr id="8499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84996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B3BDE56-59B0-C34F-BAC1-BEBEF5A751BF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fr-FR" altLang="fr-FR">
              <a:latin typeface="Calibri" charset="0"/>
            </a:endParaRPr>
          </a:p>
        </p:txBody>
      </p:sp>
      <p:sp>
        <p:nvSpPr>
          <p:cNvPr id="8909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89092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E149A5-805A-ED4D-B0FE-604A4501B7E0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fr-FR" altLang="fr-FR">
              <a:latin typeface="Calibri" charset="0"/>
            </a:endParaRPr>
          </a:p>
        </p:txBody>
      </p:sp>
      <p:sp>
        <p:nvSpPr>
          <p:cNvPr id="9318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9318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236368-C87B-8B43-A4D9-64CE3EF3B70D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fr-FR" altLang="fr-FR">
              <a:latin typeface="Calibri" charset="0"/>
            </a:endParaRPr>
          </a:p>
        </p:txBody>
      </p:sp>
      <p:sp>
        <p:nvSpPr>
          <p:cNvPr id="9523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95236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58624A-03B4-BC44-B711-74A654518927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fr-FR" altLang="fr-FR">
              <a:latin typeface="Calibri" charset="0"/>
            </a:endParaRPr>
          </a:p>
        </p:txBody>
      </p:sp>
      <p:sp>
        <p:nvSpPr>
          <p:cNvPr id="101379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solidFill>
            <a:srgbClr val="FFFFFF"/>
          </a:solidFill>
          <a:ln/>
        </p:spPr>
      </p:sp>
      <p:sp>
        <p:nvSpPr>
          <p:cNvPr id="101380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5370E9-7544-CC4B-B41D-E9967C781BCD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fr-FR" altLang="fr-FR">
              <a:latin typeface="Calibri" charset="0"/>
            </a:endParaRPr>
          </a:p>
        </p:txBody>
      </p:sp>
      <p:sp>
        <p:nvSpPr>
          <p:cNvPr id="10342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03428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  <p:sp>
        <p:nvSpPr>
          <p:cNvPr id="2" name="Espace réservé des commentair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45709B-7F1A-B54D-9FF2-0B45F5CA34C8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fr-FR" altLang="fr-FR">
              <a:latin typeface="Calibri" charset="0"/>
            </a:endParaRPr>
          </a:p>
        </p:txBody>
      </p:sp>
      <p:sp>
        <p:nvSpPr>
          <p:cNvPr id="10547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05476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6CC1A3A-22DE-AC4D-8FC3-A6CDC89124C9}" type="slidenum">
              <a:rPr lang="fr-FR" altLang="fr-FR">
                <a:latin typeface="Calibri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fr-FR" altLang="fr-FR">
              <a:latin typeface="Calibri" charset="0"/>
            </a:endParaRPr>
          </a:p>
        </p:txBody>
      </p:sp>
      <p:sp>
        <p:nvSpPr>
          <p:cNvPr id="119811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19812" name="Text Box 2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latin typeface="Maple" charset="0"/>
                <a:ea typeface="Maple" charset="0"/>
                <a:cs typeface="Maple" charset="0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en-US" dirty="0"/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fr-FR" smtClean="0"/>
              <a:t>Cliquez et modifiez le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263" y="1052513"/>
            <a:ext cx="4038600" cy="36873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263" y="1052513"/>
            <a:ext cx="4038600" cy="36873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0A5C59-31D9-AE4C-9087-B4ADE5A2AC55}" type="slidenum">
              <a:rPr lang="fr-FR" smtClean="0"/>
              <a:pPr/>
              <a:t>‹#›</a:t>
            </a:fld>
            <a:endParaRPr lang="fr-FR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263" y="1275605"/>
            <a:ext cx="4038600" cy="346427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263" y="1275605"/>
            <a:ext cx="4038600" cy="346427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0A5C59-31D9-AE4C-9087-B4ADE5A2AC5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>
          <a:xfrm>
            <a:off x="449263" y="881063"/>
            <a:ext cx="6210300" cy="395287"/>
          </a:xfrm>
        </p:spPr>
        <p:txBody>
          <a:bodyPr/>
          <a:lstStyle>
            <a:lvl1pPr marL="82153" indent="0">
              <a:buNone/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Cliquez pour modifier les styles du texte du</a:t>
            </a:r>
            <a:endParaRPr lang="fr-FR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263" y="1275605"/>
            <a:ext cx="8229600" cy="346427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0A5C59-31D9-AE4C-9087-B4ADE5A2AC5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>
          <a:xfrm>
            <a:off x="449263" y="881063"/>
            <a:ext cx="6210300" cy="395287"/>
          </a:xfrm>
        </p:spPr>
        <p:txBody>
          <a:bodyPr/>
          <a:lstStyle>
            <a:lvl1pPr marL="82153" indent="0">
              <a:buNone/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Cliquez pour modifier les styles du texte du</a:t>
            </a:r>
            <a:endParaRPr lang="fr-FR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90A5C59-31D9-AE4C-9087-B4ADE5A2AC5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>
          <a:xfrm>
            <a:off x="449263" y="881063"/>
            <a:ext cx="6210300" cy="395287"/>
          </a:xfrm>
        </p:spPr>
        <p:txBody>
          <a:bodyPr/>
          <a:lstStyle>
            <a:lvl1pPr marL="82153" indent="0">
              <a:buNone/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Cliquez pour modifier les styles du texte du</a:t>
            </a:r>
            <a:endParaRPr lang="fr-FR" dirty="0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3F3BAD-C446-B449-8DD8-64CCAD984DE3}" type="slidenum">
              <a:rPr lang="fr-FR" smtClean="0"/>
              <a:t>‹#›</a:t>
            </a:fld>
            <a:endParaRPr lang="fr-FR"/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fr-FR" noProof="0" smtClean="0"/>
              <a:t>Faire glisser l'image vers l'espace réservé ou cliquer sur l'icône pour l'ajouter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1463" y="376238"/>
            <a:ext cx="2057400" cy="4363641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9263" y="376238"/>
            <a:ext cx="6019800" cy="4363641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verture"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gray">
          <a:xfrm>
            <a:off x="755576" y="1477342"/>
            <a:ext cx="8388424" cy="366615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 bwMode="gray">
          <a:xfrm>
            <a:off x="0" y="5056585"/>
            <a:ext cx="611188" cy="86915"/>
          </a:xfrm>
          <a:prstGeom prst="rect">
            <a:avLst/>
          </a:prstGeom>
        </p:spPr>
        <p:txBody>
          <a:bodyPr lIns="0" tIns="0" rIns="0" bIns="0"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 bwMode="gray">
          <a:xfrm>
            <a:off x="0" y="5056585"/>
            <a:ext cx="611188" cy="86915"/>
          </a:xfrm>
        </p:spPr>
        <p:txBody>
          <a:bodyPr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2"/>
          </p:nvPr>
        </p:nvSpPr>
        <p:spPr bwMode="gray">
          <a:xfrm>
            <a:off x="0" y="5056585"/>
            <a:ext cx="611188" cy="86915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2"/>
                </a:solidFill>
              </a:defRPr>
            </a:lvl1pPr>
          </a:lstStyle>
          <a:p>
            <a:pPr algn="l"/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/>
          </p:nvPr>
        </p:nvSpPr>
        <p:spPr bwMode="gray">
          <a:xfrm>
            <a:off x="1908175" y="1815703"/>
            <a:ext cx="6192838" cy="2538413"/>
          </a:xfrm>
        </p:spPr>
        <p:txBody>
          <a:bodyPr/>
          <a:lstStyle>
            <a:lvl1pPr>
              <a:spcAft>
                <a:spcPts val="0"/>
              </a:spcAft>
              <a:defRPr sz="2850" b="1" cap="all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75" i="1">
                <a:solidFill>
                  <a:schemeClr val="bg1"/>
                </a:solidFill>
              </a:defRPr>
            </a:lvl2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</p:txBody>
      </p:sp>
      <p:pic>
        <p:nvPicPr>
          <p:cNvPr id="16" name="Image 15" descr="Logo_1_40x95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0" y="0"/>
            <a:ext cx="1440000" cy="256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648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14300"/>
            <a:ext cx="8077200" cy="351216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 dirty="0" smtClean="0"/>
              <a:t>Cliquez pour modifier le style du 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0" y="5056585"/>
            <a:ext cx="611188" cy="86915"/>
          </a:xfrm>
          <a:prstGeom prst="rect">
            <a:avLst/>
          </a:prstGeom>
        </p:spPr>
        <p:txBody>
          <a:bodyPr/>
          <a:lstStyle/>
          <a:p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‹#›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2"/>
          </p:nvPr>
        </p:nvSpPr>
        <p:spPr>
          <a:xfrm>
            <a:off x="1187450" y="1113235"/>
            <a:ext cx="7416998" cy="3726656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827585" y="519522"/>
            <a:ext cx="8066087" cy="269788"/>
          </a:xfrm>
        </p:spPr>
        <p:txBody>
          <a:bodyPr/>
          <a:lstStyle>
            <a:lvl1pPr>
              <a:defRPr lang="fr-FR" sz="1350" b="0" i="1" kern="1200" cap="all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992190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à coins arrondis 32"/>
          <p:cNvSpPr/>
          <p:nvPr/>
        </p:nvSpPr>
        <p:spPr bwMode="white">
          <a:xfrm>
            <a:off x="5407026" y="372667"/>
            <a:ext cx="3063875" cy="21431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ectangle à coins arrondis 33"/>
          <p:cNvSpPr/>
          <p:nvPr/>
        </p:nvSpPr>
        <p:spPr bwMode="white">
          <a:xfrm>
            <a:off x="7373938" y="441722"/>
            <a:ext cx="1600200" cy="2738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191"/>
            <a:ext cx="57150" cy="465535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9" y="-1191"/>
            <a:ext cx="28575" cy="465535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9" y="-1191"/>
            <a:ext cx="9525" cy="465535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191"/>
            <a:ext cx="26988" cy="465535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1" y="0"/>
            <a:ext cx="55563" cy="439341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439341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429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34" name="Espace réservé du titre 21"/>
          <p:cNvSpPr>
            <a:spLocks noGrp="1"/>
          </p:cNvSpPr>
          <p:nvPr>
            <p:ph type="title"/>
          </p:nvPr>
        </p:nvSpPr>
        <p:spPr bwMode="auto">
          <a:xfrm>
            <a:off x="449263" y="376238"/>
            <a:ext cx="8229600" cy="5048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et modifiez le titre</a:t>
            </a:r>
            <a:endParaRPr lang="en-US" dirty="0"/>
          </a:p>
        </p:txBody>
      </p:sp>
      <p:sp>
        <p:nvSpPr>
          <p:cNvPr id="1035" name="Espace réservé du texte 12"/>
          <p:cNvSpPr>
            <a:spLocks noGrp="1"/>
          </p:cNvSpPr>
          <p:nvPr>
            <p:ph type="body" idx="1"/>
          </p:nvPr>
        </p:nvSpPr>
        <p:spPr bwMode="auto">
          <a:xfrm>
            <a:off x="449263" y="1052513"/>
            <a:ext cx="8229600" cy="368736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grpSp>
        <p:nvGrpSpPr>
          <p:cNvPr id="1036" name="Group 12"/>
          <p:cNvGrpSpPr>
            <a:grpSpLocks/>
          </p:cNvGrpSpPr>
          <p:nvPr/>
        </p:nvGrpSpPr>
        <p:grpSpPr bwMode="auto">
          <a:xfrm>
            <a:off x="0" y="-39291"/>
            <a:ext cx="9144000" cy="254498"/>
            <a:chOff x="156" y="61"/>
            <a:chExt cx="5455" cy="189"/>
          </a:xfrm>
        </p:grpSpPr>
        <p:sp>
          <p:nvSpPr>
            <p:cNvPr id="29" name="Rectangle 28"/>
            <p:cNvSpPr/>
            <p:nvPr/>
          </p:nvSpPr>
          <p:spPr>
            <a:xfrm>
              <a:off x="156" y="91"/>
              <a:ext cx="2723" cy="137"/>
            </a:xfrm>
            <a:prstGeom prst="rect">
              <a:avLst/>
            </a:prstGeom>
            <a:solidFill>
              <a:schemeClr val="tx2">
                <a:alpha val="100000"/>
              </a:schemeClr>
            </a:solidFill>
            <a:ln w="50800" cap="rnd" cmpd="thickThin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44" name="Rectangle 19"/>
            <p:cNvSpPr>
              <a:spLocks noChangeArrowheads="1"/>
            </p:cNvSpPr>
            <p:nvPr/>
          </p:nvSpPr>
          <p:spPr bwMode="auto">
            <a:xfrm>
              <a:off x="2879" y="91"/>
              <a:ext cx="2732" cy="13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50800" cap="rnd" cmpd="thickTh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342900"/>
              <a:endParaRPr lang="en-US">
                <a:solidFill>
                  <a:srgbClr val="FFFFFF"/>
                </a:solidFill>
                <a:latin typeface="Helvetica" charset="0"/>
              </a:endParaRPr>
            </a:p>
          </p:txBody>
        </p:sp>
        <p:sp>
          <p:nvSpPr>
            <p:cNvPr id="457743" name="Text Box 15"/>
            <p:cNvSpPr txBox="1">
              <a:spLocks noChangeArrowheads="1"/>
            </p:cNvSpPr>
            <p:nvPr/>
          </p:nvSpPr>
          <p:spPr bwMode="auto">
            <a:xfrm>
              <a:off x="1827" y="61"/>
              <a:ext cx="976" cy="1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fr-FR" sz="1050" dirty="0" smtClean="0">
                  <a:solidFill>
                    <a:schemeClr val="bg1"/>
                  </a:solidFill>
                  <a:latin typeface="Maple" charset="0"/>
                  <a:ea typeface="Maple" charset="0"/>
                  <a:cs typeface="Maple" charset="0"/>
                </a:rPr>
                <a:t>Introduction aux </a:t>
              </a:r>
              <a:r>
                <a:rPr lang="fr-FR" sz="1050" dirty="0" err="1" smtClean="0">
                  <a:solidFill>
                    <a:schemeClr val="bg1"/>
                  </a:solidFill>
                  <a:latin typeface="Maple" charset="0"/>
                  <a:ea typeface="Maple" charset="0"/>
                  <a:cs typeface="Maple" charset="0"/>
                </a:rPr>
                <a:t>NoSQL</a:t>
              </a:r>
              <a:endParaRPr lang="fr-FR" sz="1050" dirty="0">
                <a:solidFill>
                  <a:schemeClr val="bg1"/>
                </a:solidFill>
                <a:latin typeface="Maple" charset="0"/>
                <a:ea typeface="Maple" charset="0"/>
                <a:cs typeface="Maple" charset="0"/>
              </a:endParaRPr>
            </a:p>
          </p:txBody>
        </p:sp>
      </p:grpSp>
      <p:grpSp>
        <p:nvGrpSpPr>
          <p:cNvPr id="1037" name="Group 16"/>
          <p:cNvGrpSpPr>
            <a:grpSpLocks/>
          </p:cNvGrpSpPr>
          <p:nvPr/>
        </p:nvGrpSpPr>
        <p:grpSpPr bwMode="auto">
          <a:xfrm>
            <a:off x="0" y="4987529"/>
            <a:ext cx="9144000" cy="159544"/>
            <a:chOff x="157" y="4098"/>
            <a:chExt cx="5453" cy="134"/>
          </a:xfrm>
        </p:grpSpPr>
        <p:sp>
          <p:nvSpPr>
            <p:cNvPr id="1040" name="Rectangle 24"/>
            <p:cNvSpPr>
              <a:spLocks noChangeArrowheads="1"/>
            </p:cNvSpPr>
            <p:nvPr/>
          </p:nvSpPr>
          <p:spPr bwMode="auto">
            <a:xfrm>
              <a:off x="3691" y="4098"/>
              <a:ext cx="1919" cy="1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50800" cap="rnd" cmpd="thickTh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342900"/>
              <a:endParaRPr lang="en-US" sz="1050">
                <a:solidFill>
                  <a:srgbClr val="FFFFFF"/>
                </a:solidFill>
                <a:latin typeface="Georgia" charset="0"/>
                <a:cs typeface="Arial" charset="0"/>
              </a:endParaRPr>
            </a:p>
          </p:txBody>
        </p:sp>
        <p:sp>
          <p:nvSpPr>
            <p:cNvPr id="1041" name="Rectangle 23"/>
            <p:cNvSpPr>
              <a:spLocks noChangeArrowheads="1"/>
            </p:cNvSpPr>
            <p:nvPr/>
          </p:nvSpPr>
          <p:spPr bwMode="auto">
            <a:xfrm>
              <a:off x="1854" y="4098"/>
              <a:ext cx="1948" cy="132"/>
            </a:xfrm>
            <a:prstGeom prst="rect">
              <a:avLst/>
            </a:prstGeom>
            <a:solidFill>
              <a:srgbClr val="D7676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50800" cap="rnd" cmpd="thickThin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defTabSz="342900"/>
              <a:r>
                <a:rPr lang="en-US" sz="1050" dirty="0" smtClean="0">
                  <a:solidFill>
                    <a:srgbClr val="FFFFFF"/>
                  </a:solidFill>
                  <a:latin typeface="Maple" charset="0"/>
                  <a:ea typeface="Maple" charset="0"/>
                  <a:cs typeface="Maple" charset="0"/>
                </a:rPr>
                <a:t>Nicolas - Travers</a:t>
              </a:r>
              <a:endParaRPr lang="en-US" sz="1050" dirty="0">
                <a:solidFill>
                  <a:srgbClr val="FFFFFF"/>
                </a:solidFill>
                <a:latin typeface="Maple" charset="0"/>
                <a:ea typeface="Maple" charset="0"/>
                <a:cs typeface="Maple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7" y="4098"/>
              <a:ext cx="1833" cy="132"/>
            </a:xfrm>
            <a:prstGeom prst="rect">
              <a:avLst/>
            </a:prstGeom>
            <a:solidFill>
              <a:schemeClr val="tx2">
                <a:alpha val="100000"/>
              </a:schemeClr>
            </a:solidFill>
            <a:ln w="50800" cap="rnd" cmpd="thickThin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342900">
                <a:defRPr/>
              </a:pPr>
              <a:r>
                <a:rPr lang="en-US" sz="1050" dirty="0" err="1" smtClean="0">
                  <a:solidFill>
                    <a:srgbClr val="FFFFFF"/>
                  </a:solidFill>
                  <a:latin typeface="Maple" charset="0"/>
                  <a:ea typeface="Maple" charset="0"/>
                  <a:cs typeface="Maple" charset="0"/>
                </a:rPr>
                <a:t>Département</a:t>
              </a:r>
              <a:r>
                <a:rPr lang="en-US" sz="1050" dirty="0" smtClean="0">
                  <a:solidFill>
                    <a:srgbClr val="FFFFFF"/>
                  </a:solidFill>
                  <a:latin typeface="Maple" charset="0"/>
                  <a:ea typeface="Maple" charset="0"/>
                  <a:cs typeface="Maple" charset="0"/>
                </a:rPr>
                <a:t> </a:t>
              </a:r>
              <a:r>
                <a:rPr lang="en-US" sz="1050" dirty="0" err="1" smtClean="0">
                  <a:solidFill>
                    <a:srgbClr val="FFFFFF"/>
                  </a:solidFill>
                  <a:latin typeface="Maple" charset="0"/>
                  <a:ea typeface="Maple" charset="0"/>
                  <a:cs typeface="Maple" charset="0"/>
                </a:rPr>
                <a:t>Informatique</a:t>
              </a:r>
              <a:endParaRPr lang="en-US" sz="1050" dirty="0">
                <a:solidFill>
                  <a:srgbClr val="FFFFFF"/>
                </a:solidFill>
                <a:latin typeface="Maple" charset="0"/>
                <a:ea typeface="Maple" charset="0"/>
                <a:cs typeface="Maple" charset="0"/>
              </a:endParaRPr>
            </a:p>
          </p:txBody>
        </p:sp>
      </p:grp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388424" y="4803998"/>
            <a:ext cx="762000" cy="18216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50">
                <a:solidFill>
                  <a:schemeClr val="tx1"/>
                </a:solidFill>
                <a:latin typeface="Maple" charset="0"/>
                <a:ea typeface="Maple" charset="0"/>
                <a:cs typeface="Maple" charset="0"/>
              </a:defRPr>
            </a:lvl1pPr>
          </a:lstStyle>
          <a:p>
            <a:fld id="{19858401-1896-4F80-9B2B-186795E41C2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39" name="Picture 21" descr="LeCnamLOGO"/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0"/>
            <a:ext cx="11811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/>
          <p:cNvSpPr/>
          <p:nvPr userDrawn="1"/>
        </p:nvSpPr>
        <p:spPr>
          <a:xfrm>
            <a:off x="7740352" y="4955108"/>
            <a:ext cx="158417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900" smtClean="0">
                <a:solidFill>
                  <a:schemeClr val="tx1"/>
                </a:solidFill>
              </a:rPr>
              <a:t>Nicolas.travers@cnam.fr</a:t>
            </a:r>
            <a:endParaRPr lang="fr-FR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2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86" r:id="rId5"/>
    <p:sldLayoutId id="2147483687" r:id="rId6"/>
    <p:sldLayoutId id="2147483688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 i="0">
          <a:solidFill>
            <a:srgbClr val="000000"/>
          </a:solidFill>
          <a:latin typeface="Maple" charset="0"/>
          <a:ea typeface="Maple" charset="0"/>
          <a:cs typeface="Map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rgbClr val="000000"/>
          </a:solidFill>
          <a:latin typeface="Helvetica" charset="0"/>
          <a:ea typeface="ＭＳ Ｐゴシック" charset="0"/>
          <a:cs typeface="Helvetica" charset="0"/>
        </a:defRPr>
      </a:lvl9pPr>
    </p:titleStyle>
    <p:bodyStyle>
      <a:lvl1pPr marL="273844" indent="-191691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Georgia" charset="0"/>
        <a:buChar char="•"/>
        <a:defRPr sz="2100">
          <a:solidFill>
            <a:srgbClr val="000000"/>
          </a:solidFill>
          <a:latin typeface="+mn-lt"/>
          <a:ea typeface="+mn-ea"/>
          <a:cs typeface="+mn-cs"/>
        </a:defRPr>
      </a:lvl1pPr>
      <a:lvl2pPr marL="492919" indent="-184547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Georgia" charset="0"/>
        <a:buChar char="▫"/>
        <a:defRPr sz="1950">
          <a:solidFill>
            <a:srgbClr val="000000"/>
          </a:solidFill>
          <a:latin typeface="+mn-lt"/>
          <a:ea typeface="Helvetica" charset="0"/>
          <a:cs typeface="+mn-cs"/>
        </a:defRPr>
      </a:lvl2pPr>
      <a:lvl3pPr marL="691754" indent="-164306" algn="l" rtl="0" eaLnBrk="1" fontAlgn="base" hangingPunct="1">
        <a:spcBef>
          <a:spcPts val="225"/>
        </a:spcBef>
        <a:spcAft>
          <a:spcPct val="0"/>
        </a:spcAft>
        <a:buClr>
          <a:schemeClr val="accent1"/>
        </a:buClr>
        <a:buFont typeface="Wingdings 2" charset="0"/>
        <a:buChar char=""/>
        <a:defRPr sz="1800">
          <a:solidFill>
            <a:srgbClr val="000000"/>
          </a:solidFill>
          <a:latin typeface="+mn-lt"/>
          <a:ea typeface="Helvetica" charset="0"/>
          <a:cs typeface="+mn-cs"/>
        </a:defRPr>
      </a:lvl3pPr>
      <a:lvl4pPr marL="884635" indent="-150019" algn="l" rtl="0" eaLnBrk="1" fontAlgn="base" hangingPunct="1">
        <a:spcBef>
          <a:spcPts val="225"/>
        </a:spcBef>
        <a:spcAft>
          <a:spcPct val="0"/>
        </a:spcAft>
        <a:buClr>
          <a:schemeClr val="accent1"/>
        </a:buClr>
        <a:buFont typeface="Wingdings 2" charset="0"/>
        <a:buChar char=""/>
        <a:defRPr sz="1650">
          <a:solidFill>
            <a:srgbClr val="000000"/>
          </a:solidFill>
          <a:latin typeface="+mn-lt"/>
          <a:ea typeface="Helvetica" charset="0"/>
          <a:cs typeface="+mn-cs"/>
        </a:defRPr>
      </a:lvl4pPr>
      <a:lvl5pPr marL="1041797" indent="-136922" algn="l" rtl="0" eaLnBrk="1" fontAlgn="base" hangingPunct="1">
        <a:spcBef>
          <a:spcPts val="225"/>
        </a:spcBef>
        <a:spcAft>
          <a:spcPct val="0"/>
        </a:spcAft>
        <a:buClr>
          <a:srgbClr val="A04DA3"/>
        </a:buClr>
        <a:buFont typeface="Georgia" charset="0"/>
        <a:buChar char="▫"/>
        <a:defRPr sz="1500">
          <a:solidFill>
            <a:srgbClr val="000000"/>
          </a:solidFill>
          <a:latin typeface="+mn-lt"/>
          <a:ea typeface="Helvetica" charset="0"/>
          <a:cs typeface="+mn-cs"/>
        </a:defRPr>
      </a:lvl5pPr>
      <a:lvl6pPr marL="1384697" indent="-136922" algn="l" rtl="0" eaLnBrk="1" fontAlgn="base" hangingPunct="1">
        <a:spcBef>
          <a:spcPts val="225"/>
        </a:spcBef>
        <a:spcAft>
          <a:spcPct val="0"/>
        </a:spcAft>
        <a:buClr>
          <a:srgbClr val="A04DA3"/>
        </a:buClr>
        <a:buFont typeface="Georgia" charset="0"/>
        <a:buChar char="▫"/>
        <a:defRPr sz="1500">
          <a:solidFill>
            <a:srgbClr val="000000"/>
          </a:solidFill>
          <a:latin typeface="+mn-lt"/>
          <a:ea typeface="Helvetica" charset="0"/>
          <a:cs typeface="+mn-cs"/>
        </a:defRPr>
      </a:lvl6pPr>
      <a:lvl7pPr marL="1727597" indent="-136922" algn="l" rtl="0" eaLnBrk="1" fontAlgn="base" hangingPunct="1">
        <a:spcBef>
          <a:spcPts val="225"/>
        </a:spcBef>
        <a:spcAft>
          <a:spcPct val="0"/>
        </a:spcAft>
        <a:buClr>
          <a:srgbClr val="A04DA3"/>
        </a:buClr>
        <a:buFont typeface="Georgia" charset="0"/>
        <a:buChar char="▫"/>
        <a:defRPr sz="1500">
          <a:solidFill>
            <a:srgbClr val="000000"/>
          </a:solidFill>
          <a:latin typeface="+mn-lt"/>
          <a:ea typeface="Helvetica" charset="0"/>
          <a:cs typeface="+mn-cs"/>
        </a:defRPr>
      </a:lvl7pPr>
      <a:lvl8pPr marL="2070497" indent="-136922" algn="l" rtl="0" eaLnBrk="1" fontAlgn="base" hangingPunct="1">
        <a:spcBef>
          <a:spcPts val="225"/>
        </a:spcBef>
        <a:spcAft>
          <a:spcPct val="0"/>
        </a:spcAft>
        <a:buClr>
          <a:srgbClr val="A04DA3"/>
        </a:buClr>
        <a:buFont typeface="Georgia" charset="0"/>
        <a:buChar char="▫"/>
        <a:defRPr sz="1500">
          <a:solidFill>
            <a:srgbClr val="000000"/>
          </a:solidFill>
          <a:latin typeface="+mn-lt"/>
          <a:ea typeface="Helvetica" charset="0"/>
          <a:cs typeface="+mn-cs"/>
        </a:defRPr>
      </a:lvl8pPr>
      <a:lvl9pPr marL="2413397" indent="-136922" algn="l" rtl="0" eaLnBrk="1" fontAlgn="base" hangingPunct="1">
        <a:spcBef>
          <a:spcPts val="225"/>
        </a:spcBef>
        <a:spcAft>
          <a:spcPct val="0"/>
        </a:spcAft>
        <a:buClr>
          <a:srgbClr val="A04DA3"/>
        </a:buClr>
        <a:buFont typeface="Georgia" charset="0"/>
        <a:buChar char="▫"/>
        <a:defRPr sz="1500">
          <a:solidFill>
            <a:srgbClr val="000000"/>
          </a:solidFill>
          <a:latin typeface="+mn-lt"/>
          <a:ea typeface="Helvetica" charset="0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chewbii.com/transparents-hdfs-hadoop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6" Type="http://schemas.openxmlformats.org/officeDocument/2006/relationships/image" Target="../media/image16.emf"/><Relationship Id="rId7" Type="http://schemas.openxmlformats.org/officeDocument/2006/relationships/image" Target="../media/image17.emf"/><Relationship Id="rId8" Type="http://schemas.openxmlformats.org/officeDocument/2006/relationships/image" Target="../media/image18.emf"/><Relationship Id="rId9" Type="http://schemas.openxmlformats.org/officeDocument/2006/relationships/image" Target="../media/image19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chewbii.com/videos-optimisation-bases-de-donnees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4" Type="http://schemas.openxmlformats.org/officeDocument/2006/relationships/image" Target="../media/image25.emf"/><Relationship Id="rId5" Type="http://schemas.openxmlformats.org/officeDocument/2006/relationships/image" Target="../media/image26.emf"/><Relationship Id="rId6" Type="http://schemas.openxmlformats.org/officeDocument/2006/relationships/image" Target="../media/image27.emf"/><Relationship Id="rId7" Type="http://schemas.openxmlformats.org/officeDocument/2006/relationships/image" Target="../media/image28.emf"/><Relationship Id="rId8" Type="http://schemas.openxmlformats.org/officeDocument/2006/relationships/image" Target="../media/image29.emf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chewbii.com/hachagedynamique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emf"/><Relationship Id="rId8" Type="http://schemas.openxmlformats.org/officeDocument/2006/relationships/image" Target="../media/image37.emf"/><Relationship Id="rId9" Type="http://schemas.openxmlformats.org/officeDocument/2006/relationships/image" Target="../media/image38.emf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44.emf"/><Relationship Id="rId6" Type="http://schemas.openxmlformats.org/officeDocument/2006/relationships/image" Target="../media/image45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4" Type="http://schemas.openxmlformats.org/officeDocument/2006/relationships/image" Target="../media/image47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4" Type="http://schemas.openxmlformats.org/officeDocument/2006/relationships/image" Target="../media/image47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4" Type="http://schemas.openxmlformats.org/officeDocument/2006/relationships/image" Target="../media/image46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4" Type="http://schemas.openxmlformats.org/officeDocument/2006/relationships/image" Target="../media/image55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4" Type="http://schemas.openxmlformats.org/officeDocument/2006/relationships/image" Target="../media/image41.png"/><Relationship Id="rId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4" Type="http://schemas.openxmlformats.org/officeDocument/2006/relationships/image" Target="../media/image58.emf"/><Relationship Id="rId5" Type="http://schemas.openxmlformats.org/officeDocument/2006/relationships/image" Target="../media/image59.emf"/><Relationship Id="rId6" Type="http://schemas.openxmlformats.org/officeDocument/2006/relationships/image" Target="../media/image60.emf"/><Relationship Id="rId7" Type="http://schemas.openxmlformats.org/officeDocument/2006/relationships/image" Target="../media/image61.emf"/><Relationship Id="rId8" Type="http://schemas.openxmlformats.org/officeDocument/2006/relationships/image" Target="../media/image62.emf"/><Relationship Id="rId9" Type="http://schemas.openxmlformats.org/officeDocument/2006/relationships/image" Target="../media/image63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4" Type="http://schemas.openxmlformats.org/officeDocument/2006/relationships/image" Target="../media/image66.png"/><Relationship Id="rId5" Type="http://schemas.openxmlformats.org/officeDocument/2006/relationships/hyperlink" Target="https://www.google.fr/url?sa=i&amp;rct=j&amp;q=&amp;esrc=s&amp;source=images&amp;cd=&amp;ved=0ahUKEwiJybDkw7_UAhXBthQKHSf1CRkQjRwIBw&amp;url=http://opensourceprogramming.blogspot.com/2012/09/how-twitter-tweets-your-tweets-with.html&amp;psig=AFQjCNGu6_T13T0n-ttdL8vXziU4DlyHlg&amp;ust=1497605065742835" TargetMode="External"/><Relationship Id="rId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9.emf"/></Relationships>
</file>

<file path=ppt/slides/_rels/slide52.xml.rels><?xml version="1.0" encoding="UTF-8" standalone="yes"?>
<Relationships xmlns="http://schemas.openxmlformats.org/package/2006/relationships"><Relationship Id="rId11" Type="http://schemas.openxmlformats.org/officeDocument/2006/relationships/image" Target="../media/image79.emf"/><Relationship Id="rId12" Type="http://schemas.openxmlformats.org/officeDocument/2006/relationships/image" Target="../media/image80.emf"/><Relationship Id="rId13" Type="http://schemas.openxmlformats.org/officeDocument/2006/relationships/image" Target="../media/image81.emf"/><Relationship Id="rId14" Type="http://schemas.openxmlformats.org/officeDocument/2006/relationships/image" Target="../media/image82.emf"/><Relationship Id="rId15" Type="http://schemas.openxmlformats.org/officeDocument/2006/relationships/image" Target="../media/image83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emf"/><Relationship Id="rId3" Type="http://schemas.openxmlformats.org/officeDocument/2006/relationships/image" Target="../media/image71.emf"/><Relationship Id="rId4" Type="http://schemas.openxmlformats.org/officeDocument/2006/relationships/image" Target="../media/image72.emf"/><Relationship Id="rId5" Type="http://schemas.openxmlformats.org/officeDocument/2006/relationships/image" Target="../media/image73.emf"/><Relationship Id="rId6" Type="http://schemas.openxmlformats.org/officeDocument/2006/relationships/image" Target="../media/image74.emf"/><Relationship Id="rId7" Type="http://schemas.openxmlformats.org/officeDocument/2006/relationships/image" Target="../media/image75.emf"/><Relationship Id="rId8" Type="http://schemas.openxmlformats.org/officeDocument/2006/relationships/image" Target="../media/image76.emf"/><Relationship Id="rId9" Type="http://schemas.openxmlformats.org/officeDocument/2006/relationships/image" Target="../media/image77.emf"/><Relationship Id="rId10" Type="http://schemas.openxmlformats.org/officeDocument/2006/relationships/image" Target="../media/image7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4" Type="http://schemas.openxmlformats.org/officeDocument/2006/relationships/image" Target="../media/image86.emf"/><Relationship Id="rId5" Type="http://schemas.openxmlformats.org/officeDocument/2006/relationships/image" Target="../media/image87.emf"/><Relationship Id="rId6" Type="http://schemas.openxmlformats.org/officeDocument/2006/relationships/image" Target="../media/image88.emf"/><Relationship Id="rId7" Type="http://schemas.openxmlformats.org/officeDocument/2006/relationships/image" Target="../media/image89.emf"/><Relationship Id="rId8" Type="http://schemas.openxmlformats.org/officeDocument/2006/relationships/image" Target="../media/image90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fr-FR" sz="3000" dirty="0" err="1">
                <a:solidFill>
                  <a:srgbClr val="330066"/>
                </a:solidFill>
                <a:latin typeface="Times New Roman" charset="0"/>
              </a:rPr>
              <a:t>BigData</a:t>
            </a:r>
            <a:r>
              <a:rPr lang="fr-FR" altLang="fr-FR" sz="3000" dirty="0">
                <a:solidFill>
                  <a:srgbClr val="330066"/>
                </a:solidFill>
                <a:latin typeface="Times New Roman" charset="0"/>
              </a:rPr>
              <a:t> &amp; Bases </a:t>
            </a:r>
            <a:r>
              <a:rPr lang="fr-FR" altLang="fr-FR" sz="3000" dirty="0" err="1">
                <a:solidFill>
                  <a:srgbClr val="330066"/>
                </a:solidFill>
                <a:latin typeface="Times New Roman" charset="0"/>
              </a:rPr>
              <a:t>NoSQL</a:t>
            </a:r>
            <a:endParaRPr lang="fr-FR" altLang="fr-FR" sz="3000" dirty="0">
              <a:solidFill>
                <a:srgbClr val="330066"/>
              </a:solidFill>
              <a:latin typeface="Times New Roman" charset="0"/>
            </a:endParaRPr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2559965" y="3084910"/>
            <a:ext cx="203735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00" dirty="0"/>
              <a:t>Nicolas Travers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/>
              <a:pPr/>
              <a:t>1</a:t>
            </a:fld>
            <a:endParaRPr 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fr-FR" altLang="fr-FR" sz="3000" dirty="0"/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1479947" y="1052513"/>
            <a:ext cx="6172200" cy="368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76275" indent="-569913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968375" indent="-568325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885825" indent="-514350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76275" algn="l"/>
                <a:tab pos="1123950" algn="l"/>
                <a:tab pos="1573213" algn="l"/>
                <a:tab pos="2022475" algn="l"/>
                <a:tab pos="2471738" algn="l"/>
                <a:tab pos="2921000" algn="l"/>
                <a:tab pos="3370263" algn="l"/>
                <a:tab pos="3819525" algn="l"/>
                <a:tab pos="4268788" algn="l"/>
                <a:tab pos="4718050" algn="l"/>
                <a:tab pos="5167313" algn="l"/>
                <a:tab pos="5616575" algn="l"/>
                <a:tab pos="6065838" algn="l"/>
                <a:tab pos="6515100" algn="l"/>
                <a:tab pos="6964363" algn="l"/>
                <a:tab pos="7413625" algn="l"/>
                <a:tab pos="7862888" algn="l"/>
                <a:tab pos="8312150" algn="l"/>
                <a:tab pos="8761413" algn="l"/>
                <a:tab pos="9210675" algn="l"/>
                <a:tab pos="9659938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buClrTx/>
              <a:buFontTx/>
              <a:buNone/>
            </a:pPr>
            <a:endParaRPr lang="fr-FR" altLang="fr-FR" sz="1950" dirty="0">
              <a:solidFill>
                <a:srgbClr val="FA4D4D"/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smtClean="0"/>
              <a:t>Plan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F0000"/>
              </a:buClr>
              <a:buFont typeface="Times New Roman" charset="0"/>
              <a:buAutoNum type="romanUcPeriod"/>
            </a:pPr>
            <a:r>
              <a:rPr lang="fr-FR" altLang="fr-FR" sz="1950" dirty="0">
                <a:solidFill>
                  <a:srgbClr val="9E211E"/>
                </a:solidFill>
              </a:rPr>
              <a:t>Contexte</a:t>
            </a:r>
          </a:p>
          <a:p>
            <a:pPr lvl="1">
              <a:buClr>
                <a:srgbClr val="9F0000"/>
              </a:buClr>
              <a:buFont typeface="Times New Roman" charset="0"/>
              <a:buAutoNum type="alphaLcPeriod"/>
            </a:pPr>
            <a:r>
              <a:rPr lang="fr-FR" altLang="fr-FR" sz="1400" dirty="0"/>
              <a:t>Les 3V et le Décisionnel</a:t>
            </a:r>
          </a:p>
          <a:p>
            <a:pPr lvl="1">
              <a:buClr>
                <a:srgbClr val="9F0000"/>
              </a:buClr>
              <a:buFont typeface="Times New Roman" charset="0"/>
              <a:buAutoNum type="alphaLcPeriod"/>
            </a:pPr>
            <a:r>
              <a:rPr lang="fr-FR" altLang="fr-FR" sz="1400" dirty="0"/>
              <a:t>Limites des SGBDR</a:t>
            </a:r>
          </a:p>
          <a:p>
            <a:pPr lvl="1">
              <a:buClr>
                <a:srgbClr val="9F0000"/>
              </a:buClr>
              <a:buFont typeface="Times New Roman" charset="0"/>
              <a:buAutoNum type="alphaLcPeriod"/>
            </a:pPr>
            <a:r>
              <a:rPr lang="fr-FR" altLang="fr-FR" sz="1400" dirty="0"/>
              <a:t>ACID vs BASE</a:t>
            </a:r>
          </a:p>
          <a:p>
            <a:pPr>
              <a:buClr>
                <a:srgbClr val="9F0000"/>
              </a:buClr>
              <a:buFont typeface="Times New Roman" charset="0"/>
              <a:buAutoNum type="romanUcPeriod"/>
            </a:pPr>
            <a:r>
              <a:rPr lang="fr-FR" altLang="fr-FR" sz="1950" dirty="0" err="1">
                <a:solidFill>
                  <a:srgbClr val="9E211E"/>
                </a:solidFill>
              </a:rPr>
              <a:t>NoSQL</a:t>
            </a:r>
            <a:endParaRPr lang="fr-FR" altLang="fr-FR" sz="1950" dirty="0">
              <a:solidFill>
                <a:srgbClr val="9E211E"/>
              </a:solidFill>
            </a:endParaRPr>
          </a:p>
          <a:p>
            <a:pPr lvl="2">
              <a:buClr>
                <a:srgbClr val="A20000"/>
              </a:buClr>
              <a:buFont typeface="Times New Roman" charset="0"/>
              <a:buAutoNum type="alphaLcPeriod"/>
            </a:pPr>
            <a:r>
              <a:rPr lang="fr-FR" altLang="fr-FR" sz="1400" dirty="0"/>
              <a:t>Distribution</a:t>
            </a:r>
          </a:p>
          <a:p>
            <a:pPr lvl="2">
              <a:buClr>
                <a:srgbClr val="A20000"/>
              </a:buClr>
              <a:buFont typeface="Times New Roman" charset="0"/>
              <a:buAutoNum type="alphaLcPeriod"/>
            </a:pPr>
            <a:r>
              <a:rPr lang="fr-FR" altLang="fr-FR" sz="1400" dirty="0" smtClean="0"/>
              <a:t>Les 4 familles</a:t>
            </a:r>
            <a:endParaRPr lang="fr-FR" altLang="fr-FR" sz="1400" dirty="0"/>
          </a:p>
          <a:p>
            <a:pPr lvl="2">
              <a:buClr>
                <a:srgbClr val="A20000"/>
              </a:buClr>
              <a:buFont typeface="Times New Roman" charset="0"/>
              <a:buAutoNum type="alphaLcPeriod"/>
            </a:pPr>
            <a:r>
              <a:rPr lang="fr-FR" altLang="fr-FR" sz="1400" dirty="0"/>
              <a:t>Théorème de CAP</a:t>
            </a:r>
          </a:p>
          <a:p>
            <a:pPr lvl="2">
              <a:buClr>
                <a:srgbClr val="A20000"/>
              </a:buClr>
              <a:buFont typeface="Times New Roman" charset="0"/>
              <a:buAutoNum type="alphaLcPeriod"/>
            </a:pPr>
            <a:r>
              <a:rPr lang="fr-FR" altLang="fr-FR" sz="1400" dirty="0" err="1"/>
              <a:t>Map</a:t>
            </a:r>
            <a:r>
              <a:rPr lang="fr-FR" altLang="fr-FR" sz="1400" dirty="0"/>
              <a:t>/</a:t>
            </a:r>
            <a:r>
              <a:rPr lang="fr-FR" altLang="fr-FR" sz="1400" dirty="0" err="1"/>
              <a:t>Reduce</a:t>
            </a:r>
            <a:endParaRPr lang="fr-FR" altLang="fr-FR" sz="1400" dirty="0"/>
          </a:p>
          <a:p>
            <a:pPr>
              <a:buClr>
                <a:srgbClr val="9F0000"/>
              </a:buClr>
              <a:buFont typeface="Times New Roman" charset="0"/>
              <a:buAutoNum type="romanUcPeriod"/>
            </a:pPr>
            <a:r>
              <a:rPr lang="fr-FR" altLang="fr-FR" sz="1950" dirty="0" err="1">
                <a:solidFill>
                  <a:srgbClr val="9E211E"/>
                </a:solidFill>
              </a:rPr>
              <a:t>NoSQL</a:t>
            </a:r>
            <a:r>
              <a:rPr lang="fr-FR" altLang="fr-FR" sz="1950" dirty="0">
                <a:solidFill>
                  <a:srgbClr val="9E211E"/>
                </a:solidFill>
              </a:rPr>
              <a:t> vs </a:t>
            </a:r>
            <a:r>
              <a:rPr lang="fr-FR" altLang="fr-FR" sz="1950" dirty="0" smtClean="0">
                <a:solidFill>
                  <a:srgbClr val="9E211E"/>
                </a:solidFill>
              </a:rPr>
              <a:t>Jointures</a:t>
            </a:r>
          </a:p>
          <a:p>
            <a:pPr>
              <a:buClr>
                <a:srgbClr val="9F0000"/>
              </a:buClr>
              <a:buFont typeface="Times New Roman" charset="0"/>
              <a:buAutoNum type="romanUcPeriod"/>
            </a:pPr>
            <a:r>
              <a:rPr lang="fr-FR" altLang="fr-FR" sz="1950" dirty="0" smtClean="0">
                <a:solidFill>
                  <a:srgbClr val="9E211E"/>
                </a:solidFill>
              </a:rPr>
              <a:t>Modélisation avec </a:t>
            </a:r>
            <a:r>
              <a:rPr lang="fr-FR" altLang="fr-FR" sz="1950" dirty="0" err="1" smtClean="0">
                <a:solidFill>
                  <a:srgbClr val="9E211E"/>
                </a:solidFill>
              </a:rPr>
              <a:t>JSon</a:t>
            </a:r>
            <a:endParaRPr lang="fr-FR" altLang="fr-FR" sz="1950" dirty="0">
              <a:solidFill>
                <a:srgbClr val="9E211E"/>
              </a:solidFill>
            </a:endParaRPr>
          </a:p>
          <a:p>
            <a:endParaRPr lang="fr-FR" altLang="fr-FR" sz="1950" dirty="0">
              <a:solidFill>
                <a:srgbClr val="FA4D4D"/>
              </a:solidFill>
            </a:endParaRPr>
          </a:p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2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63" y="275720"/>
            <a:ext cx="3680345" cy="4654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err="1" smtClean="0"/>
              <a:t>Contexte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fr-FR" sz="1800" dirty="0" err="1">
                <a:solidFill>
                  <a:srgbClr val="9E211E"/>
                </a:solidFill>
              </a:rPr>
              <a:t>Croissance</a:t>
            </a:r>
            <a:r>
              <a:rPr lang="en-US" altLang="fr-FR" sz="1800" dirty="0">
                <a:solidFill>
                  <a:srgbClr val="9E211E"/>
                </a:solidFill>
              </a:rPr>
              <a:t> de la </a:t>
            </a:r>
            <a:r>
              <a:rPr lang="en-US" altLang="fr-FR" sz="1800" dirty="0" err="1">
                <a:solidFill>
                  <a:srgbClr val="9E211E"/>
                </a:solidFill>
              </a:rPr>
              <a:t>quantité</a:t>
            </a:r>
            <a:r>
              <a:rPr lang="en-US" altLang="fr-FR" sz="1800" dirty="0">
                <a:solidFill>
                  <a:srgbClr val="9E211E"/>
                </a:solidFill>
              </a:rPr>
              <a:t> des </a:t>
            </a:r>
            <a:r>
              <a:rPr lang="en-US" altLang="fr-FR" sz="1800" dirty="0" err="1">
                <a:solidFill>
                  <a:srgbClr val="9E211E"/>
                </a:solidFill>
              </a:rPr>
              <a:t>données</a:t>
            </a:r>
            <a:r>
              <a:rPr lang="en-US" altLang="fr-FR" sz="1800" dirty="0">
                <a:solidFill>
                  <a:srgbClr val="9E211E"/>
                </a:solidFill>
              </a:rPr>
              <a:t> </a:t>
            </a:r>
            <a:r>
              <a:rPr lang="en-US" altLang="fr-FR" sz="1800" dirty="0" err="1">
                <a:solidFill>
                  <a:srgbClr val="9E211E"/>
                </a:solidFill>
              </a:rPr>
              <a:t>exponentielle</a:t>
            </a:r>
            <a:endParaRPr lang="en-US" altLang="fr-FR" sz="1800" dirty="0">
              <a:solidFill>
                <a:srgbClr val="9E211E"/>
              </a:solidFill>
            </a:endParaRPr>
          </a:p>
          <a:p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3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pic>
        <p:nvPicPr>
          <p:cNvPr id="215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99" y="2355726"/>
            <a:ext cx="424696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err="1"/>
              <a:t>Contexte</a:t>
            </a:r>
            <a:r>
              <a:rPr lang="en-US" altLang="fr-FR" dirty="0"/>
              <a:t> (2</a:t>
            </a:r>
            <a:r>
              <a:rPr lang="en-US" altLang="fr-FR" dirty="0" smtClean="0"/>
              <a:t>)</a:t>
            </a:r>
            <a:endParaRPr lang="fr-FR" dirty="0"/>
          </a:p>
        </p:txBody>
      </p:sp>
      <p:sp>
        <p:nvSpPr>
          <p:cNvPr id="9" name="Text Box 2"/>
          <p:cNvSpPr txBox="1"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254000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800" dirty="0"/>
              <a:t>La </a:t>
            </a:r>
            <a:r>
              <a:rPr lang="en-US" altLang="fr-FR" sz="1800" dirty="0" err="1" smtClean="0"/>
              <a:t>quantité</a:t>
            </a:r>
            <a:r>
              <a:rPr lang="en-US" altLang="fr-FR" sz="1800" dirty="0" smtClean="0"/>
              <a:t> </a:t>
            </a:r>
            <a:r>
              <a:rPr lang="en-US" altLang="fr-FR" sz="1800" dirty="0"/>
              <a:t>de </a:t>
            </a:r>
            <a:r>
              <a:rPr lang="en-US" altLang="fr-FR" sz="1800" dirty="0" err="1"/>
              <a:t>données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digitales</a:t>
            </a:r>
            <a:r>
              <a:rPr lang="en-US" altLang="fr-FR" sz="1800" dirty="0"/>
              <a:t> </a:t>
            </a:r>
            <a:r>
              <a:rPr lang="en-US" altLang="fr-FR" sz="1800" dirty="0" err="1" smtClean="0"/>
              <a:t>produites</a:t>
            </a:r>
            <a:r>
              <a:rPr lang="en-US" altLang="fr-FR" sz="1800" dirty="0" smtClean="0"/>
              <a:t> </a:t>
            </a:r>
            <a:r>
              <a:rPr lang="en-US" altLang="fr-FR" sz="1800" dirty="0"/>
              <a:t>double</a:t>
            </a:r>
            <a:r>
              <a:rPr lang="en-US" altLang="fr-FR" sz="1800" dirty="0">
                <a:solidFill>
                  <a:srgbClr val="FA4D4D"/>
                </a:solidFill>
              </a:rPr>
              <a:t> </a:t>
            </a:r>
            <a:r>
              <a:rPr lang="en-US" altLang="fr-FR" sz="1800" dirty="0" err="1">
                <a:solidFill>
                  <a:srgbClr val="FA4D4D"/>
                </a:solidFill>
              </a:rPr>
              <a:t>tous</a:t>
            </a:r>
            <a:r>
              <a:rPr lang="en-US" altLang="fr-FR" sz="1800" dirty="0">
                <a:solidFill>
                  <a:srgbClr val="FA4D4D"/>
                </a:solidFill>
              </a:rPr>
              <a:t> les 2 ans. </a:t>
            </a:r>
          </a:p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800" dirty="0" err="1"/>
              <a:t>En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d'autres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termes</a:t>
            </a:r>
            <a:r>
              <a:rPr lang="en-US" altLang="fr-FR" sz="1800" dirty="0"/>
              <a:t>, on a </a:t>
            </a:r>
            <a:r>
              <a:rPr lang="en-US" altLang="fr-FR" sz="1800" dirty="0" err="1"/>
              <a:t>produit</a:t>
            </a:r>
            <a:r>
              <a:rPr lang="en-US" altLang="fr-FR" sz="1800" dirty="0"/>
              <a:t> </a:t>
            </a:r>
            <a:r>
              <a:rPr lang="en-US" altLang="fr-FR" sz="1800" dirty="0" err="1"/>
              <a:t>autant</a:t>
            </a:r>
            <a:r>
              <a:rPr lang="en-US" altLang="fr-FR" sz="1800" dirty="0"/>
              <a:t> de </a:t>
            </a:r>
            <a:r>
              <a:rPr lang="en-US" altLang="fr-FR" sz="1800" dirty="0" err="1"/>
              <a:t>données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digitales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ces</a:t>
            </a:r>
            <a:r>
              <a:rPr lang="en-US" altLang="fr-FR" sz="1800" dirty="0"/>
              <a:t> 2 </a:t>
            </a:r>
            <a:r>
              <a:rPr lang="en-US" altLang="fr-FR" sz="1800" dirty="0" err="1"/>
              <a:t>dernières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années</a:t>
            </a:r>
            <a:r>
              <a:rPr lang="en-US" altLang="fr-FR" sz="1800" dirty="0"/>
              <a:t> que tout </a:t>
            </a:r>
            <a:r>
              <a:rPr lang="en-US" altLang="fr-FR" sz="1800" dirty="0" err="1"/>
              <a:t>ce</a:t>
            </a:r>
            <a:r>
              <a:rPr lang="en-US" altLang="fr-FR" sz="1800" dirty="0"/>
              <a:t> qui a </a:t>
            </a:r>
            <a:r>
              <a:rPr lang="en-US" altLang="fr-FR" sz="1800" dirty="0" err="1"/>
              <a:t>été</a:t>
            </a:r>
            <a:r>
              <a:rPr lang="en-US" altLang="fr-FR" sz="1800" dirty="0"/>
              <a:t> </a:t>
            </a:r>
            <a:r>
              <a:rPr lang="en-US" altLang="fr-FR" sz="1800" dirty="0" err="1"/>
              <a:t>produit</a:t>
            </a:r>
            <a:r>
              <a:rPr lang="en-US" altLang="fr-FR" sz="1800" dirty="0"/>
              <a:t> </a:t>
            </a:r>
            <a:r>
              <a:rPr lang="en-US" altLang="fr-FR" sz="1800" dirty="0" err="1"/>
              <a:t>auparavant</a:t>
            </a:r>
            <a:r>
              <a:rPr lang="en-US" altLang="fr-FR" sz="1800" dirty="0"/>
              <a:t>.</a:t>
            </a:r>
          </a:p>
          <a:p>
            <a:pPr eaLnBrk="1" hangingPunct="1">
              <a:buClrTx/>
              <a:buFontTx/>
              <a:buNone/>
            </a:pPr>
            <a:endParaRPr lang="en-US" altLang="fr-FR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4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Volume et Variété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5</a:t>
            </a:fld>
            <a:endParaRPr lang="fr-FR" altLang="fr-FR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9" y="812836"/>
            <a:ext cx="5927438" cy="4189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/>
              <a:t>Décisionnel : ancienne méthode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6</a:t>
            </a:fld>
            <a:endParaRPr lang="fr-FR" altLang="fr-FR"/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17953"/>
            <a:ext cx="5849838" cy="354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Décisionnel vs 3V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sz="1800" dirty="0"/>
              <a:t>L’approche classique incompatible avec les 3V du </a:t>
            </a:r>
            <a:r>
              <a:rPr lang="fr-FR" altLang="fr-FR" sz="1800" dirty="0" err="1"/>
              <a:t>BigData</a:t>
            </a:r>
            <a:r>
              <a:rPr lang="fr-FR" altLang="fr-FR" sz="1800" dirty="0"/>
              <a:t> :</a:t>
            </a:r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sz="1800" dirty="0"/>
          </a:p>
          <a:p>
            <a:pPr indent="-255985">
              <a:lnSpc>
                <a:spcPct val="90000"/>
              </a:lnSpc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sz="1800" dirty="0"/>
              <a:t>Le </a:t>
            </a:r>
            <a:r>
              <a:rPr lang="fr-FR" altLang="fr-FR" sz="1800" b="1" dirty="0">
                <a:solidFill>
                  <a:srgbClr val="9E211E"/>
                </a:solidFill>
              </a:rPr>
              <a:t>Volume</a:t>
            </a:r>
            <a:r>
              <a:rPr lang="fr-FR" altLang="fr-FR" sz="1800" dirty="0"/>
              <a:t>: les entrepôts sont conçus pour gérer des Go ou To de données alors que la croissance exponentielle des données nous conduit aux Po ou </a:t>
            </a:r>
            <a:r>
              <a:rPr lang="fr-FR" altLang="fr-FR" sz="1800" dirty="0" err="1"/>
              <a:t>Eo</a:t>
            </a:r>
            <a:endParaRPr lang="fr-FR" altLang="fr-FR" sz="1800" dirty="0"/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sz="1800" dirty="0"/>
          </a:p>
          <a:p>
            <a:pPr indent="-255985">
              <a:lnSpc>
                <a:spcPct val="90000"/>
              </a:lnSpc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sz="1800" dirty="0"/>
              <a:t>Le </a:t>
            </a:r>
            <a:r>
              <a:rPr lang="fr-FR" altLang="fr-FR" sz="1800" b="1" dirty="0"/>
              <a:t>type (</a:t>
            </a:r>
            <a:r>
              <a:rPr lang="fr-FR" altLang="fr-FR" sz="1800" b="1" dirty="0" err="1">
                <a:solidFill>
                  <a:srgbClr val="9E211E"/>
                </a:solidFill>
              </a:rPr>
              <a:t>Variety</a:t>
            </a:r>
            <a:r>
              <a:rPr lang="fr-FR" altLang="fr-FR" sz="1800" b="1" dirty="0"/>
              <a:t>)</a:t>
            </a:r>
            <a:r>
              <a:rPr lang="fr-FR" altLang="fr-FR" sz="1800" dirty="0"/>
              <a:t>: le nombre de types, incluant les données textuelles semi ou non structurées, augmente</a:t>
            </a:r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sz="1800" dirty="0"/>
          </a:p>
          <a:p>
            <a:pPr indent="-255985">
              <a:lnSpc>
                <a:spcPct val="90000"/>
              </a:lnSpc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sz="1800" dirty="0"/>
              <a:t>La </a:t>
            </a:r>
            <a:r>
              <a:rPr lang="fr-FR" altLang="fr-FR" sz="1800" b="1" dirty="0"/>
              <a:t>vitesse (</a:t>
            </a:r>
            <a:r>
              <a:rPr lang="fr-FR" altLang="fr-FR" sz="1800" b="1" dirty="0" err="1">
                <a:solidFill>
                  <a:srgbClr val="9E211E"/>
                </a:solidFill>
              </a:rPr>
              <a:t>Velocity</a:t>
            </a:r>
            <a:r>
              <a:rPr lang="fr-FR" altLang="fr-FR" sz="1800" b="1" dirty="0"/>
              <a:t>)</a:t>
            </a:r>
            <a:r>
              <a:rPr lang="fr-FR" altLang="fr-FR" sz="1800" dirty="0"/>
              <a:t>: les données sont créées de plus en plus vite et nécessitent des traitements en temps-réel</a:t>
            </a:r>
          </a:p>
          <a:p>
            <a:endParaRPr lang="fr-FR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7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1479947" y="1052513"/>
            <a:ext cx="6172200" cy="368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254000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US" altLang="fr-FR" sz="1800">
              <a:solidFill>
                <a:srgbClr val="FA4D4D"/>
              </a:solidFill>
            </a:endParaRPr>
          </a:p>
          <a:p>
            <a:pPr eaLnBrk="1" hangingPunct="1">
              <a:buClrTx/>
              <a:buFontTx/>
              <a:buNone/>
            </a:pPr>
            <a:endParaRPr lang="en-US" altLang="fr-FR" sz="1800">
              <a:solidFill>
                <a:srgbClr val="FA4D4D"/>
              </a:solidFill>
            </a:endParaRPr>
          </a:p>
        </p:txBody>
      </p:sp>
      <p:graphicFrame>
        <p:nvGraphicFramePr>
          <p:cNvPr id="819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69888"/>
              </p:ext>
            </p:extLst>
          </p:nvPr>
        </p:nvGraphicFramePr>
        <p:xfrm>
          <a:off x="1709682" y="1059582"/>
          <a:ext cx="5978128" cy="3789762"/>
        </p:xfrm>
        <a:graphic>
          <a:graphicData uri="http://schemas.openxmlformats.org/drawingml/2006/table">
            <a:tbl>
              <a:tblPr/>
              <a:tblGrid>
                <a:gridCol w="1991916"/>
                <a:gridCol w="1993106"/>
                <a:gridCol w="1993106"/>
              </a:tblGrid>
              <a:tr h="619125"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Compagnies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Données traitées (2014)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Données stockées (2014)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Google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15 000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Ebay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90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Facebook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600 To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300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Twitter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100 To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100 To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  <a:tr h="528638"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Baidu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10-100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2 000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CC"/>
                    </a:solidFill>
                  </a:tcPr>
                </a:tc>
              </a:tr>
              <a:tr h="527447"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NSA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29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  <a:cs typeface="ＭＳ Ｐゴシック" charset="-128"/>
                        </a:defRPr>
                      </a:lvl1pPr>
                      <a:lvl2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 sz="2000"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ts val="300"/>
                        </a:spcBef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49263" eaLnBrk="0" fontAlgn="base" hangingPunct="0"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charset="0"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>
                          <a:solidFill>
                            <a:srgbClr val="000000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49263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kumimoji="0" lang="fr-FR" altLang="fr-F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10 000 Po</a:t>
                      </a:r>
                    </a:p>
                  </a:txBody>
                  <a:tcPr marL="67500" marR="67500" marT="35100" marB="35100" horzOverflow="overflow">
                    <a:lnL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err="1"/>
              <a:t>Contexte</a:t>
            </a:r>
            <a:r>
              <a:rPr lang="en-US" altLang="fr-FR" dirty="0"/>
              <a:t> (3) : encore des </a:t>
            </a:r>
            <a:r>
              <a:rPr lang="en-US" altLang="fr-FR" dirty="0" err="1" smtClean="0"/>
              <a:t>chiffres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8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619" y="1762125"/>
            <a:ext cx="3050381" cy="2591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err="1"/>
              <a:t>Contexte</a:t>
            </a:r>
            <a:r>
              <a:rPr lang="en-US" altLang="fr-FR" dirty="0"/>
              <a:t> : et le </a:t>
            </a:r>
            <a:r>
              <a:rPr lang="en-US" altLang="fr-FR" dirty="0" smtClean="0"/>
              <a:t>business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 smtClean="0"/>
              <a:t>On </a:t>
            </a:r>
            <a:r>
              <a:rPr lang="en-US" altLang="fr-FR" sz="1600" dirty="0" err="1"/>
              <a:t>estime</a:t>
            </a:r>
            <a:r>
              <a:rPr lang="en-US" altLang="fr-FR" sz="1600" dirty="0"/>
              <a:t> que le volume de </a:t>
            </a:r>
            <a:r>
              <a:rPr lang="en-US" altLang="fr-FR" sz="1600" dirty="0" err="1"/>
              <a:t>données</a:t>
            </a:r>
            <a:r>
              <a:rPr lang="en-US" altLang="fr-FR" sz="1600" dirty="0"/>
              <a:t> </a:t>
            </a:r>
            <a:r>
              <a:rPr lang="en-US" altLang="fr-FR" sz="1600" dirty="0" err="1"/>
              <a:t>professionnelles</a:t>
            </a:r>
            <a:r>
              <a:rPr lang="en-US" altLang="fr-FR" sz="1600" dirty="0"/>
              <a:t> double </a:t>
            </a:r>
            <a:r>
              <a:rPr lang="en-US" altLang="fr-FR" sz="1600" dirty="0" err="1"/>
              <a:t>tous</a:t>
            </a:r>
            <a:r>
              <a:rPr lang="en-US" altLang="fr-FR" sz="1600" dirty="0"/>
              <a:t> les 1,2 </a:t>
            </a:r>
            <a:r>
              <a:rPr lang="en-US" altLang="fr-FR" sz="1600" dirty="0" err="1"/>
              <a:t>ans</a:t>
            </a:r>
            <a:endParaRPr lang="en-US" altLang="fr-FR" sz="1600" dirty="0"/>
          </a:p>
          <a:p>
            <a:endParaRPr lang="en-US" altLang="fr-FR" sz="160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 smtClean="0"/>
              <a:t>Les </a:t>
            </a:r>
            <a:r>
              <a:rPr lang="en-US" altLang="fr-FR" sz="1600" dirty="0"/>
              <a:t>¾ des </a:t>
            </a:r>
            <a:r>
              <a:rPr lang="en-US" altLang="fr-FR" sz="1600" dirty="0" err="1"/>
              <a:t>décideurs</a:t>
            </a:r>
            <a:r>
              <a:rPr lang="en-US" altLang="fr-FR" sz="1600" dirty="0"/>
              <a:t> </a:t>
            </a:r>
            <a:r>
              <a:rPr lang="en-US" altLang="fr-FR" sz="1600" dirty="0" err="1"/>
              <a:t>estiment</a:t>
            </a:r>
            <a:r>
              <a:rPr lang="en-US" altLang="fr-FR" sz="1600" dirty="0"/>
              <a:t> que les Big Data </a:t>
            </a:r>
            <a:r>
              <a:rPr lang="en-US" altLang="fr-FR" sz="1600" dirty="0" err="1"/>
              <a:t>vont</a:t>
            </a:r>
            <a:r>
              <a:rPr lang="en-US" altLang="fr-FR" sz="1600" dirty="0"/>
              <a:t> affecter </a:t>
            </a:r>
            <a:r>
              <a:rPr lang="en-US" altLang="fr-FR" sz="1600" dirty="0" err="1"/>
              <a:t>significativement</a:t>
            </a:r>
            <a:r>
              <a:rPr lang="en-US" altLang="fr-FR" sz="1600" dirty="0"/>
              <a:t> </a:t>
            </a:r>
            <a:r>
              <a:rPr lang="en-US" altLang="fr-FR" sz="1600" dirty="0" err="1"/>
              <a:t>leurs</a:t>
            </a:r>
            <a:r>
              <a:rPr lang="en-US" altLang="fr-FR" sz="1600" dirty="0"/>
              <a:t> </a:t>
            </a:r>
            <a:r>
              <a:rPr lang="en-US" altLang="fr-FR" sz="1600" dirty="0" err="1"/>
              <a:t>systèmes</a:t>
            </a:r>
            <a:r>
              <a:rPr lang="en-US" altLang="fr-FR" sz="1600" dirty="0"/>
              <a:t> de </a:t>
            </a:r>
            <a:r>
              <a:rPr lang="en-US" altLang="fr-FR" sz="1600" dirty="0" err="1"/>
              <a:t>stockage</a:t>
            </a:r>
            <a:endParaRPr lang="en-US" altLang="fr-FR" sz="1600" dirty="0"/>
          </a:p>
          <a:p>
            <a:endParaRPr lang="en-US" altLang="fr-FR" sz="160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 smtClean="0"/>
              <a:t>Le </a:t>
            </a:r>
            <a:r>
              <a:rPr lang="en-US" altLang="fr-FR" sz="1600" dirty="0"/>
              <a:t>Big Data </a:t>
            </a:r>
            <a:r>
              <a:rPr lang="en-US" altLang="fr-FR" sz="1600" dirty="0" err="1"/>
              <a:t>serait</a:t>
            </a:r>
            <a:r>
              <a:rPr lang="en-US" altLang="fr-FR" sz="1600" dirty="0"/>
              <a:t> un </a:t>
            </a:r>
            <a:r>
              <a:rPr lang="en-US" altLang="fr-FR" sz="1600" dirty="0" err="1"/>
              <a:t>marché</a:t>
            </a:r>
            <a:r>
              <a:rPr lang="en-US" altLang="fr-FR" sz="1600" dirty="0"/>
              <a:t> </a:t>
            </a:r>
            <a:r>
              <a:rPr lang="en-US" altLang="fr-FR" sz="1600" dirty="0" err="1"/>
              <a:t>à</a:t>
            </a:r>
            <a:r>
              <a:rPr lang="en-US" altLang="fr-FR" sz="1600" dirty="0"/>
              <a:t> 50 milliards de $ </a:t>
            </a:r>
            <a:r>
              <a:rPr lang="en-US" altLang="fr-FR" sz="1600" dirty="0" err="1"/>
              <a:t>en</a:t>
            </a:r>
            <a:r>
              <a:rPr lang="en-US" altLang="fr-FR" sz="1600" dirty="0"/>
              <a:t> 2017</a:t>
            </a:r>
          </a:p>
          <a:p>
            <a:endParaRPr lang="en-US" altLang="fr-FR" sz="160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 err="1" smtClean="0"/>
              <a:t>En</a:t>
            </a:r>
            <a:r>
              <a:rPr lang="en-US" altLang="fr-FR" sz="1600" dirty="0" smtClean="0"/>
              <a:t> </a:t>
            </a:r>
            <a:r>
              <a:rPr lang="en-US" altLang="fr-FR" sz="1600" dirty="0"/>
              <a:t>Europe, </a:t>
            </a:r>
            <a:r>
              <a:rPr lang="en-US" altLang="fr-FR" sz="1600" dirty="0" err="1"/>
              <a:t>l'utilisation</a:t>
            </a:r>
            <a:r>
              <a:rPr lang="en-US" altLang="fr-FR" sz="1600" dirty="0"/>
              <a:t> du Big Data pour </a:t>
            </a:r>
            <a:r>
              <a:rPr lang="en-US" altLang="fr-FR" sz="1600" dirty="0" err="1"/>
              <a:t>améliorer</a:t>
            </a:r>
            <a:r>
              <a:rPr lang="en-US" altLang="fr-FR" sz="1600" dirty="0"/>
              <a:t> </a:t>
            </a:r>
            <a:r>
              <a:rPr lang="en-US" altLang="fr-FR" sz="1600" dirty="0" err="1"/>
              <a:t>l'efficacité</a:t>
            </a:r>
            <a:r>
              <a:rPr lang="en-US" altLang="fr-FR" sz="1600" dirty="0"/>
              <a:t> des “</a:t>
            </a:r>
            <a:r>
              <a:rPr lang="en-US" altLang="fr-FR" sz="1600" dirty="0" err="1"/>
              <a:t>traitements</a:t>
            </a:r>
            <a:r>
              <a:rPr lang="en-US" altLang="fr-FR" sz="1600" dirty="0"/>
              <a:t>” </a:t>
            </a:r>
            <a:r>
              <a:rPr lang="en-US" altLang="fr-FR" sz="1600" dirty="0" err="1"/>
              <a:t>permettrait</a:t>
            </a:r>
            <a:r>
              <a:rPr lang="en-US" altLang="fr-FR" sz="1600" dirty="0"/>
              <a:t> </a:t>
            </a:r>
            <a:r>
              <a:rPr lang="en-US" altLang="fr-FR" sz="1600" dirty="0" err="1"/>
              <a:t>d'économiser</a:t>
            </a:r>
            <a:r>
              <a:rPr lang="en-US" altLang="fr-FR" sz="1600" dirty="0"/>
              <a:t> 100 milliards de $</a:t>
            </a:r>
          </a:p>
          <a:p>
            <a:endParaRPr lang="en-US" altLang="fr-FR" sz="1600" dirty="0">
              <a:solidFill>
                <a:srgbClr val="FA4D4D"/>
              </a:solidFill>
            </a:endParaRPr>
          </a:p>
          <a:p>
            <a:endParaRPr lang="en-US" altLang="fr-FR" sz="1600" dirty="0">
              <a:solidFill>
                <a:srgbClr val="FA4D4D"/>
              </a:solidFill>
            </a:endParaRPr>
          </a:p>
          <a:p>
            <a:endParaRPr lang="fr-FR" sz="1600" dirty="0"/>
          </a:p>
          <a:p>
            <a:endParaRPr lang="fr-FR" sz="16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9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err="1"/>
              <a:t>Contexte</a:t>
            </a:r>
            <a:r>
              <a:rPr lang="en-US" altLang="fr-FR" dirty="0"/>
              <a:t> : </a:t>
            </a:r>
            <a:r>
              <a:rPr lang="en-US" altLang="fr-FR" dirty="0" err="1" smtClean="0"/>
              <a:t>Conséquences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9329" indent="-257175">
              <a:spcAft>
                <a:spcPts val="450"/>
              </a:spcAft>
              <a:buFont typeface="Arial" charset="0"/>
              <a:buChar char="•"/>
            </a:pPr>
            <a:r>
              <a:rPr lang="en-US" altLang="fr-FR" sz="1800" dirty="0">
                <a:solidFill>
                  <a:srgbClr val="9E211E"/>
                </a:solidFill>
              </a:rPr>
              <a:t>Les volumes </a:t>
            </a:r>
            <a:r>
              <a:rPr lang="en-US" altLang="fr-FR" sz="1800" dirty="0" err="1">
                <a:solidFill>
                  <a:srgbClr val="9E211E"/>
                </a:solidFill>
              </a:rPr>
              <a:t>à</a:t>
            </a:r>
            <a:r>
              <a:rPr lang="en-US" altLang="fr-FR" sz="1800" dirty="0">
                <a:solidFill>
                  <a:srgbClr val="9E211E"/>
                </a:solidFill>
              </a:rPr>
              <a:t> </a:t>
            </a:r>
            <a:r>
              <a:rPr lang="en-US" altLang="fr-FR" sz="1800" dirty="0" err="1">
                <a:solidFill>
                  <a:srgbClr val="9E211E"/>
                </a:solidFill>
              </a:rPr>
              <a:t>gérer</a:t>
            </a:r>
            <a:r>
              <a:rPr lang="en-US" altLang="fr-FR" sz="1800" dirty="0">
                <a:solidFill>
                  <a:srgbClr val="9E211E"/>
                </a:solidFill>
              </a:rPr>
              <a:t> sans </a:t>
            </a:r>
            <a:r>
              <a:rPr lang="en-US" altLang="fr-FR" sz="1800" dirty="0" err="1">
                <a:solidFill>
                  <a:srgbClr val="9E211E"/>
                </a:solidFill>
              </a:rPr>
              <a:t>précédents</a:t>
            </a:r>
            <a:r>
              <a:rPr lang="en-US" altLang="fr-FR" sz="1800" dirty="0">
                <a:solidFill>
                  <a:srgbClr val="9E211E"/>
                </a:solidFill>
              </a:rPr>
              <a:t> </a:t>
            </a:r>
            <a:r>
              <a:rPr lang="en-US" altLang="fr-FR" sz="1800" dirty="0" err="1">
                <a:solidFill>
                  <a:srgbClr val="9E211E"/>
                </a:solidFill>
              </a:rPr>
              <a:t>impliquent</a:t>
            </a:r>
            <a:r>
              <a:rPr lang="en-US" altLang="fr-FR" sz="1800" dirty="0">
                <a:solidFill>
                  <a:srgbClr val="9E211E"/>
                </a:solidFill>
              </a:rPr>
              <a:t> :</a:t>
            </a:r>
          </a:p>
          <a:p>
            <a:pPr marL="557213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500" dirty="0" err="1"/>
              <a:t>Données</a:t>
            </a:r>
            <a:r>
              <a:rPr lang="en-US" altLang="fr-FR" sz="1500" dirty="0"/>
              <a:t> </a:t>
            </a:r>
            <a:r>
              <a:rPr lang="en-US" altLang="fr-FR" sz="1500" b="1" dirty="0" err="1"/>
              <a:t>hétérogènes</a:t>
            </a:r>
            <a:r>
              <a:rPr lang="en-US" altLang="fr-FR" sz="1500" dirty="0"/>
              <a:t>, </a:t>
            </a:r>
            <a:r>
              <a:rPr lang="en-US" altLang="fr-FR" sz="1500" b="1" dirty="0"/>
              <a:t>complexes</a:t>
            </a:r>
            <a:r>
              <a:rPr lang="en-US" altLang="fr-FR" sz="1500" dirty="0"/>
              <a:t> et </a:t>
            </a:r>
            <a:r>
              <a:rPr lang="en-US" altLang="fr-FR" sz="1500" dirty="0" err="1"/>
              <a:t>souvent</a:t>
            </a:r>
            <a:r>
              <a:rPr lang="en-US" altLang="fr-FR" sz="1500" dirty="0"/>
              <a:t> </a:t>
            </a:r>
            <a:r>
              <a:rPr lang="en-US" altLang="fr-FR" sz="1500" dirty="0" err="1"/>
              <a:t>liées</a:t>
            </a:r>
            <a:endParaRPr lang="en-US" altLang="fr-FR" sz="1500" dirty="0"/>
          </a:p>
          <a:p>
            <a:pPr marL="932259" lvl="2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350" dirty="0" err="1"/>
              <a:t>produites</a:t>
            </a:r>
            <a:r>
              <a:rPr lang="en-US" altLang="fr-FR" sz="1350" dirty="0"/>
              <a:t> par des applications </a:t>
            </a:r>
            <a:r>
              <a:rPr lang="en-US" altLang="fr-FR" sz="1350" dirty="0" err="1"/>
              <a:t>parfois</a:t>
            </a:r>
            <a:r>
              <a:rPr lang="en-US" altLang="fr-FR" sz="1350" dirty="0"/>
              <a:t> </a:t>
            </a:r>
            <a:r>
              <a:rPr lang="en-US" altLang="fr-FR" sz="1350" dirty="0" err="1"/>
              <a:t>différentes</a:t>
            </a:r>
            <a:r>
              <a:rPr lang="en-US" altLang="fr-FR" sz="1350" dirty="0"/>
              <a:t>,</a:t>
            </a:r>
          </a:p>
          <a:p>
            <a:pPr marL="932259" lvl="2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350" dirty="0"/>
              <a:t>par des </a:t>
            </a:r>
            <a:r>
              <a:rPr lang="en-US" altLang="fr-FR" sz="1350" dirty="0" err="1"/>
              <a:t>utilisateurs</a:t>
            </a:r>
            <a:r>
              <a:rPr lang="en-US" altLang="fr-FR" sz="1350" dirty="0"/>
              <a:t> </a:t>
            </a:r>
            <a:r>
              <a:rPr lang="en-US" altLang="fr-FR" sz="1350" dirty="0" err="1"/>
              <a:t>différents</a:t>
            </a:r>
            <a:r>
              <a:rPr lang="en-US" altLang="fr-FR" sz="1350" dirty="0"/>
              <a:t>,</a:t>
            </a:r>
          </a:p>
          <a:p>
            <a:pPr marL="932259" lvl="2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350" dirty="0"/>
              <a:t>avec des liens </a:t>
            </a:r>
            <a:r>
              <a:rPr lang="en-US" altLang="fr-FR" sz="1350" dirty="0" err="1"/>
              <a:t>explicites</a:t>
            </a:r>
            <a:r>
              <a:rPr lang="en-US" altLang="fr-FR" sz="1350" dirty="0"/>
              <a:t> (par </a:t>
            </a:r>
            <a:r>
              <a:rPr lang="en-US" altLang="fr-FR" sz="1350" dirty="0" err="1"/>
              <a:t>exemple</a:t>
            </a:r>
            <a:r>
              <a:rPr lang="en-US" altLang="fr-FR" sz="1350" dirty="0"/>
              <a:t> citations, </a:t>
            </a:r>
            <a:r>
              <a:rPr lang="en-US" altLang="fr-FR" sz="1350" dirty="0" err="1"/>
              <a:t>ancres</a:t>
            </a:r>
            <a:r>
              <a:rPr lang="en-US" altLang="fr-FR" sz="1350" dirty="0"/>
              <a:t> </a:t>
            </a:r>
            <a:r>
              <a:rPr lang="en-US" altLang="fr-FR" sz="1350" dirty="0" err="1"/>
              <a:t>url</a:t>
            </a:r>
            <a:r>
              <a:rPr lang="en-US" altLang="fr-FR" sz="1350" dirty="0"/>
              <a:t>, </a:t>
            </a:r>
            <a:r>
              <a:rPr lang="en-US" altLang="fr-FR" sz="1350" dirty="0" err="1"/>
              <a:t>etc</a:t>
            </a:r>
            <a:r>
              <a:rPr lang="en-US" altLang="fr-FR" sz="1350" dirty="0"/>
              <a:t>) </a:t>
            </a:r>
            <a:r>
              <a:rPr lang="en-US" altLang="fr-FR" sz="1350" dirty="0" err="1"/>
              <a:t>ou</a:t>
            </a:r>
            <a:r>
              <a:rPr lang="en-US" altLang="fr-FR" sz="1350" dirty="0"/>
              <a:t> </a:t>
            </a:r>
            <a:r>
              <a:rPr lang="en-US" altLang="fr-FR" sz="1350" dirty="0" err="1"/>
              <a:t>implicites</a:t>
            </a:r>
            <a:r>
              <a:rPr lang="en-US" altLang="fr-FR" sz="1350" dirty="0"/>
              <a:t> (</a:t>
            </a:r>
            <a:r>
              <a:rPr lang="en-US" altLang="fr-FR" sz="1350" dirty="0" err="1"/>
              <a:t>à</a:t>
            </a:r>
            <a:r>
              <a:rPr lang="en-US" altLang="fr-FR" sz="1350" dirty="0"/>
              <a:t> </a:t>
            </a:r>
            <a:r>
              <a:rPr lang="en-US" altLang="fr-FR" sz="1350" dirty="0" err="1"/>
              <a:t>extraire</a:t>
            </a:r>
            <a:r>
              <a:rPr lang="en-US" altLang="fr-FR" sz="1350" dirty="0"/>
              <a:t> </a:t>
            </a:r>
            <a:r>
              <a:rPr lang="en-US" altLang="fr-FR" sz="1350" dirty="0" err="1"/>
              <a:t>ou</a:t>
            </a:r>
            <a:r>
              <a:rPr lang="en-US" altLang="fr-FR" sz="1350" dirty="0"/>
              <a:t> </a:t>
            </a:r>
            <a:r>
              <a:rPr lang="en-US" altLang="fr-FR" sz="1350" dirty="0" err="1"/>
              <a:t>à</a:t>
            </a:r>
            <a:r>
              <a:rPr lang="en-US" altLang="fr-FR" sz="1350" dirty="0"/>
              <a:t> </a:t>
            </a:r>
            <a:r>
              <a:rPr lang="en-US" altLang="fr-FR" sz="1350" dirty="0" err="1"/>
              <a:t>apprendre</a:t>
            </a:r>
            <a:r>
              <a:rPr lang="en-US" altLang="fr-FR" sz="1350" dirty="0"/>
              <a:t>)</a:t>
            </a:r>
            <a:endParaRPr lang="en-US" altLang="fr-FR" sz="1500" dirty="0"/>
          </a:p>
          <a:p>
            <a:pPr marL="557213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500" b="1" dirty="0" err="1"/>
              <a:t>Nombreux</a:t>
            </a:r>
            <a:r>
              <a:rPr lang="en-US" altLang="fr-FR" sz="1500" b="1" dirty="0"/>
              <a:t> </a:t>
            </a:r>
            <a:r>
              <a:rPr lang="en-US" altLang="fr-FR" sz="1500" b="1" dirty="0" err="1"/>
              <a:t>serveurs</a:t>
            </a:r>
            <a:r>
              <a:rPr lang="en-US" altLang="fr-FR" sz="1500" b="1" dirty="0"/>
              <a:t>/clusters</a:t>
            </a:r>
          </a:p>
          <a:p>
            <a:pPr marL="932259" lvl="2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350" dirty="0"/>
              <a:t>un </a:t>
            </a:r>
            <a:r>
              <a:rPr lang="en-US" altLang="fr-FR" sz="1350" dirty="0" err="1"/>
              <a:t>serveur</a:t>
            </a:r>
            <a:r>
              <a:rPr lang="en-US" altLang="fr-FR" sz="1350" dirty="0"/>
              <a:t> unique ne </a:t>
            </a:r>
            <a:r>
              <a:rPr lang="en-US" altLang="fr-FR" sz="1350" dirty="0" err="1"/>
              <a:t>peut</a:t>
            </a:r>
            <a:r>
              <a:rPr lang="en-US" altLang="fr-FR" sz="1350" dirty="0"/>
              <a:t> stocker </a:t>
            </a:r>
            <a:r>
              <a:rPr lang="en-US" altLang="fr-FR" sz="1350" dirty="0" err="1"/>
              <a:t>cette</a:t>
            </a:r>
            <a:r>
              <a:rPr lang="en-US" altLang="fr-FR" sz="1350" dirty="0"/>
              <a:t> </a:t>
            </a:r>
            <a:r>
              <a:rPr lang="en-US" altLang="fr-FR" sz="1350" dirty="0" err="1"/>
              <a:t>quantité</a:t>
            </a:r>
            <a:r>
              <a:rPr lang="en-US" altLang="fr-FR" sz="1350" dirty="0"/>
              <a:t> </a:t>
            </a:r>
            <a:r>
              <a:rPr lang="en-US" altLang="fr-FR" sz="1350" dirty="0" err="1"/>
              <a:t>d'information</a:t>
            </a:r>
            <a:r>
              <a:rPr lang="en-US" altLang="fr-FR" sz="1350" dirty="0"/>
              <a:t>, </a:t>
            </a:r>
            <a:r>
              <a:rPr lang="en-US" altLang="fr-FR" sz="1350" dirty="0" err="1"/>
              <a:t>garantir</a:t>
            </a:r>
            <a:r>
              <a:rPr lang="en-US" altLang="fr-FR" sz="1350" dirty="0"/>
              <a:t> des temps </a:t>
            </a:r>
            <a:r>
              <a:rPr lang="en-US" altLang="fr-FR" sz="1350" dirty="0" err="1"/>
              <a:t>d'accès</a:t>
            </a:r>
            <a:r>
              <a:rPr lang="en-US" altLang="fr-FR" sz="1350" dirty="0"/>
              <a:t> pour grand </a:t>
            </a:r>
            <a:r>
              <a:rPr lang="en-US" altLang="fr-FR" sz="1350" dirty="0" err="1"/>
              <a:t>nombre</a:t>
            </a:r>
            <a:r>
              <a:rPr lang="en-US" altLang="fr-FR" sz="1350" dirty="0"/>
              <a:t> </a:t>
            </a:r>
            <a:r>
              <a:rPr lang="en-US" altLang="fr-FR" sz="1350" dirty="0" err="1"/>
              <a:t>d'utilisateur</a:t>
            </a:r>
            <a:r>
              <a:rPr lang="en-US" altLang="fr-FR" sz="1350" dirty="0"/>
              <a:t>, faire des </a:t>
            </a:r>
            <a:r>
              <a:rPr lang="en-US" altLang="fr-FR" sz="1350" dirty="0" err="1"/>
              <a:t>calculs</a:t>
            </a:r>
            <a:r>
              <a:rPr lang="en-US" altLang="fr-FR" sz="1350" dirty="0"/>
              <a:t> </a:t>
            </a:r>
            <a:r>
              <a:rPr lang="en-US" altLang="fr-FR" sz="1350" dirty="0" err="1"/>
              <a:t>rapides</a:t>
            </a:r>
            <a:r>
              <a:rPr lang="en-US" altLang="fr-FR" sz="1350" dirty="0"/>
              <a:t>, </a:t>
            </a:r>
            <a:r>
              <a:rPr lang="en-US" altLang="fr-FR" sz="1350" dirty="0" err="1"/>
              <a:t>etc</a:t>
            </a:r>
            <a:endParaRPr lang="en-US" altLang="fr-FR" sz="1500" dirty="0"/>
          </a:p>
          <a:p>
            <a:pPr marL="557213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500" b="1" dirty="0" err="1"/>
              <a:t>Besoin</a:t>
            </a:r>
            <a:r>
              <a:rPr lang="en-US" altLang="fr-FR" sz="1500" b="1" dirty="0"/>
              <a:t> de </a:t>
            </a:r>
            <a:r>
              <a:rPr lang="en-US" altLang="fr-FR" sz="1500" b="1" dirty="0" err="1"/>
              <a:t>distribuer</a:t>
            </a:r>
            <a:r>
              <a:rPr lang="en-US" altLang="fr-FR" sz="1500" b="1" dirty="0"/>
              <a:t> les </a:t>
            </a:r>
            <a:r>
              <a:rPr lang="en-US" altLang="fr-FR" sz="1500" b="1" dirty="0" err="1"/>
              <a:t>calculs</a:t>
            </a:r>
            <a:r>
              <a:rPr lang="en-US" altLang="fr-FR" sz="1500" b="1" dirty="0"/>
              <a:t> et les </a:t>
            </a:r>
            <a:r>
              <a:rPr lang="en-US" altLang="fr-FR" sz="1500" b="1" dirty="0" err="1"/>
              <a:t>données</a:t>
            </a:r>
            <a:endParaRPr lang="en-US" altLang="fr-FR" sz="1500" b="1" dirty="0"/>
          </a:p>
          <a:p>
            <a:pPr marL="932259" lvl="2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350" dirty="0" err="1"/>
              <a:t>comme</a:t>
            </a:r>
            <a:r>
              <a:rPr lang="en-US" altLang="fr-FR" sz="1350" dirty="0"/>
              <a:t> </a:t>
            </a:r>
            <a:r>
              <a:rPr lang="en-US" altLang="fr-FR" sz="1350" dirty="0" err="1"/>
              <a:t>plusieurs</a:t>
            </a:r>
            <a:r>
              <a:rPr lang="en-US" altLang="fr-FR" sz="1350" dirty="0"/>
              <a:t> </a:t>
            </a:r>
            <a:r>
              <a:rPr lang="en-US" altLang="fr-FR" sz="1350" dirty="0" err="1"/>
              <a:t>serveurs</a:t>
            </a:r>
            <a:r>
              <a:rPr lang="en-US" altLang="fr-FR" sz="1350" dirty="0"/>
              <a:t>/clusters, </a:t>
            </a:r>
            <a:r>
              <a:rPr lang="en-US" altLang="fr-FR" sz="1350" dirty="0" err="1"/>
              <a:t>besoin</a:t>
            </a:r>
            <a:r>
              <a:rPr lang="en-US" altLang="fr-FR" sz="1350" dirty="0"/>
              <a:t> </a:t>
            </a:r>
            <a:r>
              <a:rPr lang="en-US" altLang="fr-FR" sz="1350" dirty="0" err="1"/>
              <a:t>d'algorithmes</a:t>
            </a:r>
            <a:r>
              <a:rPr lang="en-US" altLang="fr-FR" sz="1350" dirty="0"/>
              <a:t> </a:t>
            </a:r>
            <a:r>
              <a:rPr lang="en-US" altLang="fr-FR" sz="1350" dirty="0" err="1"/>
              <a:t>permettant</a:t>
            </a:r>
            <a:r>
              <a:rPr lang="en-US" altLang="fr-FR" sz="1350" dirty="0"/>
              <a:t> le </a:t>
            </a:r>
            <a:r>
              <a:rPr lang="en-US" altLang="fr-FR" sz="1350" dirty="0" err="1"/>
              <a:t>calcul</a:t>
            </a:r>
            <a:r>
              <a:rPr lang="en-US" altLang="fr-FR" sz="1350" dirty="0"/>
              <a:t> et la distribution des </a:t>
            </a:r>
            <a:r>
              <a:rPr lang="en-US" altLang="fr-FR" sz="1350" dirty="0" err="1"/>
              <a:t>données</a:t>
            </a:r>
            <a:r>
              <a:rPr lang="en-US" altLang="fr-FR" sz="1350" dirty="0"/>
              <a:t> </a:t>
            </a:r>
            <a:r>
              <a:rPr lang="en-US" altLang="fr-FR" sz="1350" dirty="0" err="1"/>
              <a:t>à</a:t>
            </a:r>
            <a:r>
              <a:rPr lang="en-US" altLang="fr-FR" sz="1350" dirty="0"/>
              <a:t> large </a:t>
            </a:r>
            <a:r>
              <a:rPr lang="en-US" altLang="fr-FR" sz="1350" dirty="0" err="1"/>
              <a:t>échelle</a:t>
            </a:r>
            <a:endParaRPr lang="en-US" altLang="fr-FR" sz="135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10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422" y="2950369"/>
            <a:ext cx="3348038" cy="192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78" y="2950369"/>
            <a:ext cx="3587235" cy="19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err="1"/>
              <a:t>DataCenters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000">
              <a:spcAft>
                <a:spcPts val="0"/>
              </a:spcAft>
              <a:defRPr/>
            </a:pPr>
            <a:r>
              <a:rPr lang="en-US" sz="1950" dirty="0">
                <a:solidFill>
                  <a:srgbClr val="9E211E"/>
                </a:solidFill>
              </a:rPr>
              <a:t>Data centers de </a:t>
            </a:r>
            <a:r>
              <a:rPr lang="en-US" sz="1950" dirty="0" err="1">
                <a:solidFill>
                  <a:srgbClr val="9E211E"/>
                </a:solidFill>
              </a:rPr>
              <a:t>quelques</a:t>
            </a:r>
            <a:r>
              <a:rPr lang="en-US" sz="1950" dirty="0">
                <a:solidFill>
                  <a:srgbClr val="9E211E"/>
                </a:solidFill>
              </a:rPr>
              <a:t> grands </a:t>
            </a:r>
            <a:r>
              <a:rPr lang="en-US" sz="1950" dirty="0" err="1">
                <a:solidFill>
                  <a:srgbClr val="9E211E"/>
                </a:solidFill>
              </a:rPr>
              <a:t>acteurs</a:t>
            </a:r>
            <a:r>
              <a:rPr lang="en-US" sz="1950" dirty="0">
                <a:solidFill>
                  <a:srgbClr val="9E211E"/>
                </a:solidFill>
              </a:rPr>
              <a:t> du Big Data</a:t>
            </a:r>
          </a:p>
          <a:p>
            <a:pPr marL="27000">
              <a:spcAft>
                <a:spcPts val="0"/>
              </a:spcAft>
              <a:buClr>
                <a:srgbClr val="9F0000"/>
              </a:buClr>
              <a:buFont typeface="Arial" charset="0"/>
              <a:buChar char="•"/>
              <a:defRPr/>
            </a:pPr>
            <a:r>
              <a:rPr lang="en-US" sz="1500" b="1" dirty="0"/>
              <a:t>Google </a:t>
            </a:r>
            <a:r>
              <a:rPr lang="en-US" sz="1500" b="1" dirty="0" err="1"/>
              <a:t>DataCenter</a:t>
            </a:r>
            <a:r>
              <a:rPr lang="en-US" sz="1500" b="1" dirty="0"/>
              <a:t> </a:t>
            </a:r>
            <a:r>
              <a:rPr lang="en-US" sz="1500" b="1" dirty="0" smtClean="0"/>
              <a:t>: </a:t>
            </a:r>
            <a:r>
              <a:rPr lang="en-US" sz="1350" dirty="0" smtClean="0"/>
              <a:t>  </a:t>
            </a:r>
            <a:r>
              <a:rPr lang="en-US" sz="1350" dirty="0" smtClean="0"/>
              <a:t>	70000 </a:t>
            </a:r>
            <a:r>
              <a:rPr lang="en-US" sz="1350" dirty="0"/>
              <a:t>servers/data center et 16 data centers, ~1M de </a:t>
            </a:r>
            <a:r>
              <a:rPr lang="en-US" sz="1350" dirty="0" err="1"/>
              <a:t>serveurs</a:t>
            </a:r>
            <a:endParaRPr lang="en-US" sz="1350" dirty="0"/>
          </a:p>
          <a:p>
            <a:pPr marL="27000">
              <a:spcAft>
                <a:spcPts val="0"/>
              </a:spcAft>
              <a:buClr>
                <a:srgbClr val="9F0000"/>
              </a:buClr>
              <a:buFont typeface="Arial" charset="0"/>
              <a:buChar char="•"/>
              <a:defRPr/>
            </a:pPr>
            <a:r>
              <a:rPr lang="en-US" sz="1500" b="1" dirty="0"/>
              <a:t>Facebook </a:t>
            </a:r>
            <a:r>
              <a:rPr lang="en-US" sz="1500" b="1" dirty="0" smtClean="0"/>
              <a:t>:	</a:t>
            </a:r>
            <a:r>
              <a:rPr lang="en-US" sz="1500" b="1" dirty="0" smtClean="0"/>
              <a:t>	</a:t>
            </a:r>
            <a:r>
              <a:rPr lang="en-US" sz="1350" dirty="0" smtClean="0"/>
              <a:t>5 </a:t>
            </a:r>
            <a:r>
              <a:rPr lang="en-US" sz="1350" dirty="0"/>
              <a:t>data centers</a:t>
            </a:r>
          </a:p>
          <a:p>
            <a:pPr marL="27000">
              <a:spcAft>
                <a:spcPts val="0"/>
              </a:spcAft>
              <a:buClr>
                <a:srgbClr val="9F0000"/>
              </a:buClr>
              <a:buFont typeface="Arial" charset="0"/>
              <a:buChar char="•"/>
              <a:defRPr/>
            </a:pPr>
            <a:r>
              <a:rPr lang="en-US" sz="1500" b="1" dirty="0"/>
              <a:t>Amazon </a:t>
            </a:r>
            <a:r>
              <a:rPr lang="en-US" sz="1500" b="1" dirty="0" smtClean="0"/>
              <a:t>:		</a:t>
            </a:r>
            <a:r>
              <a:rPr lang="en-US" sz="1350" dirty="0" smtClean="0"/>
              <a:t>7 </a:t>
            </a:r>
            <a:r>
              <a:rPr lang="en-US" sz="1350" dirty="0"/>
              <a:t>data centers, 450 000 severs</a:t>
            </a:r>
          </a:p>
          <a:p>
            <a:pPr marL="27000">
              <a:spcAft>
                <a:spcPts val="0"/>
              </a:spcAft>
              <a:buClr>
                <a:srgbClr val="9F0000"/>
              </a:buClr>
              <a:buFont typeface="Arial" charset="0"/>
              <a:buChar char="•"/>
              <a:defRPr/>
            </a:pPr>
            <a:r>
              <a:rPr lang="en-US" sz="1500" b="1" dirty="0"/>
              <a:t>Microsoft </a:t>
            </a:r>
            <a:r>
              <a:rPr lang="en-US" sz="1500" b="1" dirty="0" smtClean="0"/>
              <a:t>:		</a:t>
            </a:r>
            <a:r>
              <a:rPr lang="en-US" sz="1500" dirty="0" smtClean="0"/>
              <a:t>~1M </a:t>
            </a:r>
            <a:r>
              <a:rPr lang="en-US" sz="1500" dirty="0" err="1"/>
              <a:t>serveurs</a:t>
            </a:r>
            <a:endParaRPr lang="en-US" sz="15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11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2"/>
          <p:cNvSpPr txBox="1">
            <a:spLocks noChangeArrowheads="1"/>
          </p:cNvSpPr>
          <p:nvPr/>
        </p:nvSpPr>
        <p:spPr bwMode="auto">
          <a:xfrm>
            <a:off x="1497806" y="945356"/>
            <a:ext cx="6172200" cy="368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 marL="361950" indent="-255588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endParaRPr lang="en-US" altLang="fr-FR" sz="195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Big Data : </a:t>
            </a:r>
            <a:r>
              <a:rPr lang="en-US" altLang="fr-FR" dirty="0" err="1"/>
              <a:t>Exemples</a:t>
            </a:r>
            <a:r>
              <a:rPr lang="en-US" altLang="fr-FR" dirty="0"/>
              <a:t> </a:t>
            </a:r>
            <a:r>
              <a:rPr lang="en-US" altLang="fr-FR" dirty="0" err="1" smtClean="0"/>
              <a:t>d’utilisation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800" dirty="0" err="1"/>
              <a:t>Décodage</a:t>
            </a:r>
            <a:r>
              <a:rPr lang="en-US" altLang="fr-FR" sz="1800" dirty="0"/>
              <a:t> du </a:t>
            </a:r>
            <a:r>
              <a:rPr lang="en-US" altLang="fr-FR" sz="1800" dirty="0" err="1"/>
              <a:t>génôme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humain</a:t>
            </a:r>
            <a:r>
              <a:rPr lang="en-US" altLang="fr-FR" sz="1800" dirty="0"/>
              <a:t>: le </a:t>
            </a:r>
            <a:r>
              <a:rPr lang="en-US" altLang="fr-FR" sz="1800" dirty="0" err="1"/>
              <a:t>génôme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d’une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personne</a:t>
            </a:r>
            <a:r>
              <a:rPr lang="en-US" altLang="fr-FR" sz="1800" dirty="0"/>
              <a:t> (</a:t>
            </a:r>
            <a:r>
              <a:rPr lang="en-US" altLang="fr-FR" sz="1800" dirty="0" err="1"/>
              <a:t>env</a:t>
            </a:r>
            <a:r>
              <a:rPr lang="en-US" altLang="fr-FR" sz="1800" dirty="0"/>
              <a:t>. 100Go) </a:t>
            </a:r>
            <a:r>
              <a:rPr lang="en-US" altLang="fr-FR" sz="1800" dirty="0" err="1"/>
              <a:t>décodé</a:t>
            </a:r>
            <a:r>
              <a:rPr lang="en-US" altLang="fr-FR" sz="1800" dirty="0"/>
              <a:t> </a:t>
            </a:r>
            <a:r>
              <a:rPr lang="en-US" altLang="fr-FR" sz="1800" dirty="0" err="1"/>
              <a:t>en</a:t>
            </a:r>
            <a:r>
              <a:rPr lang="en-US" altLang="fr-FR" sz="1800" dirty="0"/>
              <a:t> 30mns</a:t>
            </a:r>
          </a:p>
          <a:p>
            <a:endParaRPr lang="en-US" altLang="fr-FR" sz="180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800" dirty="0" err="1"/>
              <a:t>Prédiction</a:t>
            </a:r>
            <a:r>
              <a:rPr lang="en-US" altLang="fr-FR" sz="1800" dirty="0"/>
              <a:t> des </a:t>
            </a:r>
            <a:r>
              <a:rPr lang="en-US" altLang="fr-FR" sz="1800" dirty="0" err="1"/>
              <a:t>résultats</a:t>
            </a:r>
            <a:r>
              <a:rPr lang="en-US" altLang="fr-FR" sz="1800" dirty="0"/>
              <a:t> des </a:t>
            </a:r>
            <a:r>
              <a:rPr lang="en-US" altLang="fr-FR" sz="1800" dirty="0" err="1"/>
              <a:t>élections</a:t>
            </a:r>
            <a:r>
              <a:rPr lang="en-US" altLang="fr-FR" sz="1800" dirty="0"/>
              <a:t> US </a:t>
            </a:r>
            <a:r>
              <a:rPr lang="en-US" altLang="fr-FR" sz="1800" dirty="0" err="1"/>
              <a:t>en</a:t>
            </a:r>
            <a:r>
              <a:rPr lang="en-US" altLang="fr-FR" sz="1800" dirty="0"/>
              <a:t> 2012 </a:t>
            </a:r>
            <a:r>
              <a:rPr lang="en-US" altLang="fr-FR" sz="1800" dirty="0" err="1"/>
              <a:t>à</a:t>
            </a:r>
            <a:r>
              <a:rPr lang="en-US" altLang="fr-FR" sz="1800" dirty="0"/>
              <a:t> </a:t>
            </a:r>
            <a:r>
              <a:rPr lang="en-US" altLang="fr-FR" sz="1800" dirty="0" err="1"/>
              <a:t>partir</a:t>
            </a:r>
            <a:r>
              <a:rPr lang="en-US" altLang="fr-FR" sz="1800" dirty="0"/>
              <a:t> de </a:t>
            </a:r>
            <a:r>
              <a:rPr lang="en-US" altLang="fr-FR" sz="1800" dirty="0" err="1"/>
              <a:t>l’analyse</a:t>
            </a:r>
            <a:r>
              <a:rPr lang="en-US" altLang="fr-FR" sz="1800" dirty="0"/>
              <a:t> de tweets</a:t>
            </a:r>
          </a:p>
          <a:p>
            <a:endParaRPr lang="en-US" altLang="fr-FR" sz="180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800" dirty="0" err="1"/>
              <a:t>Découverte</a:t>
            </a:r>
            <a:r>
              <a:rPr lang="en-US" altLang="fr-FR" sz="1800" dirty="0"/>
              <a:t> d’un </a:t>
            </a:r>
            <a:r>
              <a:rPr lang="en-US" altLang="fr-FR" sz="1800" dirty="0" err="1"/>
              <a:t>effet</a:t>
            </a:r>
            <a:r>
              <a:rPr lang="en-US" altLang="fr-FR" sz="1800" dirty="0"/>
              <a:t> </a:t>
            </a:r>
            <a:r>
              <a:rPr lang="en-US" altLang="fr-FR" sz="1800" dirty="0" err="1"/>
              <a:t>secondaire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dû</a:t>
            </a:r>
            <a:r>
              <a:rPr lang="en-US" altLang="fr-FR" sz="1800" dirty="0"/>
              <a:t> </a:t>
            </a:r>
            <a:r>
              <a:rPr lang="en-US" altLang="fr-FR" sz="1800" dirty="0" err="1"/>
              <a:t>à</a:t>
            </a:r>
            <a:r>
              <a:rPr lang="en-US" altLang="fr-FR" sz="1800" dirty="0"/>
              <a:t> la </a:t>
            </a:r>
            <a:r>
              <a:rPr lang="en-US" altLang="fr-FR" sz="1800" dirty="0" err="1"/>
              <a:t>prise</a:t>
            </a:r>
            <a:r>
              <a:rPr lang="en-US" altLang="fr-FR" sz="1800" dirty="0"/>
              <a:t> de </a:t>
            </a:r>
            <a:r>
              <a:rPr lang="en-US" altLang="fr-FR" sz="1800" dirty="0" err="1"/>
              <a:t>deux</a:t>
            </a:r>
            <a:r>
              <a:rPr lang="en-US" altLang="fr-FR" sz="1800" dirty="0"/>
              <a:t> </a:t>
            </a:r>
            <a:r>
              <a:rPr lang="en-US" altLang="fr-FR" sz="1800" dirty="0" err="1"/>
              <a:t>médicaments</a:t>
            </a:r>
            <a:r>
              <a:rPr lang="en-US" altLang="fr-FR" sz="1800" dirty="0"/>
              <a:t> par </a:t>
            </a:r>
            <a:r>
              <a:rPr lang="en-US" altLang="fr-FR" sz="1800" dirty="0" err="1"/>
              <a:t>analyse</a:t>
            </a:r>
            <a:r>
              <a:rPr lang="en-US" altLang="fr-FR" sz="1800" dirty="0"/>
              <a:t> des </a:t>
            </a:r>
            <a:r>
              <a:rPr lang="en-US" altLang="fr-FR" sz="1800" dirty="0" err="1"/>
              <a:t>requêtes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d’internautes</a:t>
            </a:r>
            <a:r>
              <a:rPr lang="en-US" altLang="fr-FR" sz="1800" dirty="0"/>
              <a:t> (Yahoo)</a:t>
            </a:r>
          </a:p>
          <a:p>
            <a:endParaRPr lang="en-US" altLang="fr-FR" sz="180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800" dirty="0" err="1"/>
              <a:t>Étude</a:t>
            </a:r>
            <a:r>
              <a:rPr lang="en-US" altLang="fr-FR" sz="1800" dirty="0"/>
              <a:t> des </a:t>
            </a:r>
            <a:r>
              <a:rPr lang="en-US" altLang="fr-FR" sz="1800" dirty="0" err="1"/>
              <a:t>déplacements</a:t>
            </a:r>
            <a:r>
              <a:rPr lang="en-US" altLang="fr-FR" sz="1800" dirty="0"/>
              <a:t> de population (migration, </a:t>
            </a:r>
            <a:r>
              <a:rPr lang="en-US" altLang="fr-FR" sz="1800" dirty="0" err="1"/>
              <a:t>tourisme</a:t>
            </a:r>
            <a:r>
              <a:rPr lang="en-US" altLang="fr-FR" sz="1800" dirty="0"/>
              <a:t>, circulation </a:t>
            </a:r>
            <a:r>
              <a:rPr lang="en-US" altLang="fr-FR" sz="1800" dirty="0" err="1"/>
              <a:t>urbaine</a:t>
            </a:r>
            <a:r>
              <a:rPr lang="en-US" altLang="fr-FR" sz="1800" dirty="0"/>
              <a:t>, </a:t>
            </a:r>
            <a:r>
              <a:rPr lang="en-US" altLang="fr-FR" sz="1800" dirty="0" err="1"/>
              <a:t>etc</a:t>
            </a:r>
            <a:r>
              <a:rPr lang="en-US" altLang="fr-FR" sz="1800" dirty="0"/>
              <a:t>)</a:t>
            </a:r>
          </a:p>
          <a:p>
            <a:endParaRPr lang="fr-FR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042" y="1052513"/>
            <a:ext cx="2383631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NoSQL</a:t>
            </a:r>
            <a:r>
              <a:rPr lang="fr-FR" altLang="fr-FR" dirty="0"/>
              <a:t> ne remplace pas les SGBDR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13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1479947" y="1052513"/>
            <a:ext cx="6172200" cy="368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 marL="361950" indent="-255588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654050" indent="-242888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endParaRPr lang="en-US" altLang="fr-FR" sz="180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SGBDR vs </a:t>
            </a:r>
            <a:r>
              <a:rPr lang="en-US" altLang="fr-FR" dirty="0" smtClean="0"/>
              <a:t>Distribution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 err="1">
                <a:solidFill>
                  <a:srgbClr val="9E211E"/>
                </a:solidFill>
              </a:rPr>
              <a:t>Fonctionnalités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lvl="1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800" dirty="0"/>
              <a:t>Jointures entre les tables</a:t>
            </a:r>
          </a:p>
          <a:p>
            <a:pPr lvl="1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800" dirty="0" err="1"/>
              <a:t>Langage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d’interrogation</a:t>
            </a:r>
            <a:r>
              <a:rPr lang="en-US" altLang="fr-FR" sz="1800" dirty="0"/>
              <a:t> riche</a:t>
            </a:r>
          </a:p>
          <a:p>
            <a:pPr lvl="1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800" dirty="0" err="1"/>
              <a:t>Contraintes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d’intégrité</a:t>
            </a:r>
            <a:r>
              <a:rPr lang="en-US" altLang="fr-FR" sz="1800" dirty="0"/>
              <a:t> </a:t>
            </a:r>
            <a:r>
              <a:rPr lang="en-US" altLang="fr-FR" sz="1800" dirty="0" err="1"/>
              <a:t>solides</a:t>
            </a:r>
            <a:endParaRPr lang="en-US" altLang="fr-FR" sz="1800" dirty="0"/>
          </a:p>
          <a:p>
            <a:pPr lvl="1">
              <a:buClr>
                <a:srgbClr val="9F0000"/>
              </a:buClr>
              <a:buNone/>
            </a:pPr>
            <a:endParaRPr lang="en-US" altLang="fr-FR" sz="195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 err="1">
                <a:solidFill>
                  <a:srgbClr val="9E211E"/>
                </a:solidFill>
              </a:rPr>
              <a:t>Limites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dans</a:t>
            </a:r>
            <a:r>
              <a:rPr lang="en-US" altLang="fr-FR" sz="1950" dirty="0">
                <a:solidFill>
                  <a:srgbClr val="9E211E"/>
                </a:solidFill>
              </a:rPr>
              <a:t> le </a:t>
            </a:r>
            <a:r>
              <a:rPr lang="en-US" altLang="fr-FR" sz="1950" dirty="0" err="1">
                <a:solidFill>
                  <a:srgbClr val="9E211E"/>
                </a:solidFill>
              </a:rPr>
              <a:t>contexte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distribué</a:t>
            </a:r>
            <a:r>
              <a:rPr lang="en-US" altLang="fr-FR" sz="1950" dirty="0">
                <a:solidFill>
                  <a:srgbClr val="9E211E"/>
                </a:solidFill>
              </a:rPr>
              <a:t> :</a:t>
            </a:r>
          </a:p>
          <a:p>
            <a:pPr lvl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800" b="1" dirty="0"/>
              <a:t>Comment </a:t>
            </a:r>
            <a:r>
              <a:rPr lang="en-US" altLang="fr-FR" sz="1800" b="1" dirty="0" err="1"/>
              <a:t>distribuer</a:t>
            </a:r>
            <a:r>
              <a:rPr lang="en-US" altLang="fr-FR" sz="1800" b="1" dirty="0"/>
              <a:t>/</a:t>
            </a:r>
            <a:r>
              <a:rPr lang="en-US" altLang="fr-FR" sz="1800" b="1" dirty="0" err="1"/>
              <a:t>partitionner</a:t>
            </a:r>
            <a:r>
              <a:rPr lang="en-US" altLang="fr-FR" sz="1800" b="1" dirty="0"/>
              <a:t> les </a:t>
            </a:r>
            <a:r>
              <a:rPr lang="en-US" altLang="fr-FR" sz="1800" b="1" dirty="0" err="1"/>
              <a:t>données</a:t>
            </a:r>
            <a:endParaRPr lang="en-US" altLang="fr-FR" sz="1800" b="1" dirty="0"/>
          </a:p>
          <a:p>
            <a:pPr lvl="1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800" dirty="0"/>
              <a:t>Liens entre </a:t>
            </a:r>
            <a:r>
              <a:rPr lang="en-US" altLang="fr-FR" sz="1800" dirty="0" err="1"/>
              <a:t>entités</a:t>
            </a:r>
            <a:r>
              <a:rPr lang="en-US" altLang="fr-FR" sz="1800" dirty="0"/>
              <a:t> -&gt; </a:t>
            </a:r>
            <a:r>
              <a:rPr lang="en-US" altLang="fr-FR" sz="1800" dirty="0" err="1"/>
              <a:t>Même</a:t>
            </a:r>
            <a:r>
              <a:rPr lang="en-US" altLang="fr-FR" sz="1800" dirty="0"/>
              <a:t> </a:t>
            </a:r>
            <a:r>
              <a:rPr lang="en-US" altLang="fr-FR" sz="1800" dirty="0" err="1"/>
              <a:t>serveur</a:t>
            </a:r>
            <a:endParaRPr lang="en-US" altLang="fr-FR" sz="1800" dirty="0"/>
          </a:p>
          <a:p>
            <a:pPr lvl="1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800" dirty="0" err="1"/>
              <a:t>Mais</a:t>
            </a:r>
            <a:r>
              <a:rPr lang="en-US" altLang="fr-FR" sz="1800" dirty="0"/>
              <a:t> plus on a de liens, plus le placement des </a:t>
            </a:r>
            <a:r>
              <a:rPr lang="en-US" altLang="fr-FR" sz="1800" dirty="0" err="1"/>
              <a:t>données</a:t>
            </a:r>
            <a:r>
              <a:rPr lang="en-US" altLang="fr-FR" sz="1800" dirty="0"/>
              <a:t> </a:t>
            </a:r>
            <a:r>
              <a:rPr lang="en-US" altLang="fr-FR" sz="1800" dirty="0" err="1"/>
              <a:t>est</a:t>
            </a:r>
            <a:r>
              <a:rPr lang="en-US" altLang="fr-FR" sz="1800" dirty="0"/>
              <a:t> </a:t>
            </a:r>
            <a:r>
              <a:rPr lang="en-US" altLang="fr-FR" sz="1800" dirty="0" err="1"/>
              <a:t>complexe</a:t>
            </a:r>
            <a:endParaRPr lang="en-US" altLang="fr-FR" sz="1800" dirty="0"/>
          </a:p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SGBDR vs </a:t>
            </a:r>
            <a:r>
              <a:rPr lang="en-US" altLang="fr-FR" dirty="0" smtClean="0"/>
              <a:t>Distribution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Aft>
                <a:spcPts val="450"/>
              </a:spcAft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 err="1">
                <a:solidFill>
                  <a:srgbClr val="9E211E"/>
                </a:solidFill>
              </a:rPr>
              <a:t>Propriétés</a:t>
            </a:r>
            <a:r>
              <a:rPr lang="en-US" altLang="fr-FR" sz="1600" dirty="0">
                <a:solidFill>
                  <a:srgbClr val="9E211E"/>
                </a:solidFill>
              </a:rPr>
              <a:t> </a:t>
            </a:r>
            <a:r>
              <a:rPr lang="en-US" altLang="fr-FR" sz="1600" b="1" dirty="0">
                <a:solidFill>
                  <a:srgbClr val="9E211E"/>
                </a:solidFill>
              </a:rPr>
              <a:t>ACID</a:t>
            </a:r>
            <a:r>
              <a:rPr lang="en-US" altLang="fr-FR" sz="1600" dirty="0">
                <a:solidFill>
                  <a:srgbClr val="9E211E"/>
                </a:solidFill>
              </a:rPr>
              <a:t> pour les transactions</a:t>
            </a:r>
          </a:p>
          <a:p>
            <a:pPr marL="565547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200" b="1" i="1" dirty="0" err="1">
                <a:solidFill>
                  <a:srgbClr val="FF0000"/>
                </a:solidFill>
              </a:rPr>
              <a:t>A</a:t>
            </a:r>
            <a:r>
              <a:rPr lang="en-US" altLang="fr-FR" sz="1200" b="1" i="1" dirty="0" err="1"/>
              <a:t>tomicité</a:t>
            </a:r>
            <a:r>
              <a:rPr lang="en-US" altLang="fr-FR" sz="1200" b="1" i="1" dirty="0"/>
              <a:t> </a:t>
            </a:r>
            <a:r>
              <a:rPr lang="en-US" altLang="fr-FR" sz="1200" dirty="0"/>
              <a:t>: </a:t>
            </a:r>
            <a:r>
              <a:rPr lang="en-US" altLang="fr-FR" sz="1200" dirty="0" err="1"/>
              <a:t>une</a:t>
            </a:r>
            <a:r>
              <a:rPr lang="en-US" altLang="fr-FR" sz="1200" dirty="0"/>
              <a:t> transaction </a:t>
            </a:r>
            <a:r>
              <a:rPr lang="en-US" altLang="fr-FR" sz="1200" dirty="0" err="1"/>
              <a:t>s’effectue</a:t>
            </a:r>
            <a:r>
              <a:rPr lang="en-US" altLang="fr-FR" sz="1200" dirty="0"/>
              <a:t> </a:t>
            </a:r>
            <a:r>
              <a:rPr lang="en-US" altLang="fr-FR" sz="1200" dirty="0" err="1"/>
              <a:t>entièrement</a:t>
            </a:r>
            <a:r>
              <a:rPr lang="en-US" altLang="fr-FR" sz="1200" dirty="0"/>
              <a:t> </a:t>
            </a:r>
            <a:r>
              <a:rPr lang="en-US" altLang="fr-FR" sz="1200" dirty="0" err="1"/>
              <a:t>ou</a:t>
            </a:r>
            <a:r>
              <a:rPr lang="en-US" altLang="fr-FR" sz="1200" dirty="0"/>
              <a:t> pas du tout</a:t>
            </a:r>
          </a:p>
          <a:p>
            <a:pPr marL="565547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200" b="1" i="1" dirty="0" err="1">
                <a:solidFill>
                  <a:srgbClr val="FF0000"/>
                </a:solidFill>
              </a:rPr>
              <a:t>C</a:t>
            </a:r>
            <a:r>
              <a:rPr lang="en-US" altLang="fr-FR" sz="1200" b="1" i="1" dirty="0" err="1"/>
              <a:t>ohérence</a:t>
            </a:r>
            <a:r>
              <a:rPr lang="en-US" altLang="fr-FR" sz="1200" b="1" i="1" dirty="0"/>
              <a:t> </a:t>
            </a:r>
            <a:r>
              <a:rPr lang="en-US" altLang="fr-FR" sz="1200" dirty="0"/>
              <a:t>: le </a:t>
            </a:r>
            <a:r>
              <a:rPr lang="en-US" altLang="fr-FR" sz="1200" dirty="0" err="1"/>
              <a:t>contenu</a:t>
            </a:r>
            <a:r>
              <a:rPr lang="en-US" altLang="fr-FR" sz="1200" dirty="0"/>
              <a:t> </a:t>
            </a:r>
            <a:r>
              <a:rPr lang="en-US" altLang="fr-FR" sz="1200" dirty="0" err="1"/>
              <a:t>d’une</a:t>
            </a:r>
            <a:r>
              <a:rPr lang="en-US" altLang="fr-FR" sz="1200" dirty="0"/>
              <a:t> base </a:t>
            </a:r>
            <a:r>
              <a:rPr lang="en-US" altLang="fr-FR" sz="1200" dirty="0" err="1"/>
              <a:t>doit</a:t>
            </a:r>
            <a:r>
              <a:rPr lang="en-US" altLang="fr-FR" sz="1200" dirty="0"/>
              <a:t> </a:t>
            </a:r>
            <a:r>
              <a:rPr lang="en-US" altLang="fr-FR" sz="1200" dirty="0" err="1"/>
              <a:t>être</a:t>
            </a:r>
            <a:r>
              <a:rPr lang="en-US" altLang="fr-FR" sz="1200" dirty="0"/>
              <a:t> </a:t>
            </a:r>
            <a:r>
              <a:rPr lang="en-US" altLang="fr-FR" sz="1200" dirty="0" err="1"/>
              <a:t>cohérent</a:t>
            </a:r>
            <a:r>
              <a:rPr lang="en-US" altLang="fr-FR" sz="1200" dirty="0"/>
              <a:t> au début et </a:t>
            </a:r>
            <a:r>
              <a:rPr lang="en-US" altLang="fr-FR" sz="1200" dirty="0" err="1"/>
              <a:t>à</a:t>
            </a:r>
            <a:r>
              <a:rPr lang="en-US" altLang="fr-FR" sz="1200" dirty="0"/>
              <a:t> la fin </a:t>
            </a:r>
            <a:r>
              <a:rPr lang="en-US" altLang="fr-FR" sz="1200" dirty="0" err="1"/>
              <a:t>d’une</a:t>
            </a:r>
            <a:r>
              <a:rPr lang="en-US" altLang="fr-FR" sz="1200" dirty="0"/>
              <a:t> transaction</a:t>
            </a:r>
          </a:p>
          <a:p>
            <a:pPr marL="565547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200" b="1" i="1" dirty="0">
                <a:solidFill>
                  <a:srgbClr val="FF0000"/>
                </a:solidFill>
              </a:rPr>
              <a:t>I</a:t>
            </a:r>
            <a:r>
              <a:rPr lang="en-US" altLang="fr-FR" sz="1200" b="1" i="1" dirty="0"/>
              <a:t>solation </a:t>
            </a:r>
            <a:r>
              <a:rPr lang="en-US" altLang="fr-FR" sz="1200" dirty="0"/>
              <a:t>: les modifications </a:t>
            </a:r>
            <a:r>
              <a:rPr lang="en-US" altLang="fr-FR" sz="1200" dirty="0" err="1"/>
              <a:t>d’une</a:t>
            </a:r>
            <a:r>
              <a:rPr lang="en-US" altLang="fr-FR" sz="1200" dirty="0"/>
              <a:t> transaction ne </a:t>
            </a:r>
            <a:r>
              <a:rPr lang="en-US" altLang="fr-FR" sz="1200" dirty="0" err="1"/>
              <a:t>sont</a:t>
            </a:r>
            <a:r>
              <a:rPr lang="en-US" altLang="fr-FR" sz="1200" dirty="0"/>
              <a:t> </a:t>
            </a:r>
            <a:r>
              <a:rPr lang="en-US" altLang="fr-FR" sz="1200" dirty="0" err="1"/>
              <a:t>visibles</a:t>
            </a:r>
            <a:r>
              <a:rPr lang="en-US" altLang="fr-FR" sz="1200" dirty="0"/>
              <a:t>/</a:t>
            </a:r>
            <a:r>
              <a:rPr lang="en-US" altLang="fr-FR" sz="1200" dirty="0" err="1"/>
              <a:t>modifiables</a:t>
            </a:r>
            <a:r>
              <a:rPr lang="en-US" altLang="fr-FR" sz="1200" dirty="0"/>
              <a:t> que </a:t>
            </a:r>
            <a:r>
              <a:rPr lang="en-US" altLang="fr-FR" sz="1200" dirty="0" err="1"/>
              <a:t>quand</a:t>
            </a:r>
            <a:r>
              <a:rPr lang="en-US" altLang="fr-FR" sz="1200" dirty="0"/>
              <a:t> </a:t>
            </a:r>
            <a:r>
              <a:rPr lang="en-US" altLang="fr-FR" sz="1200" dirty="0" err="1"/>
              <a:t>celle</a:t>
            </a:r>
            <a:r>
              <a:rPr lang="en-US" altLang="fr-FR" sz="1200" dirty="0"/>
              <a:t>-ci a </a:t>
            </a:r>
            <a:r>
              <a:rPr lang="en-US" altLang="fr-FR" sz="1200" dirty="0" err="1"/>
              <a:t>validé</a:t>
            </a:r>
            <a:endParaRPr lang="en-US" altLang="fr-FR" sz="1200" dirty="0"/>
          </a:p>
          <a:p>
            <a:pPr marL="565547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en-US" altLang="fr-FR" sz="1200" b="1" i="1" dirty="0" err="1">
                <a:solidFill>
                  <a:srgbClr val="FF0000"/>
                </a:solidFill>
              </a:rPr>
              <a:t>D</a:t>
            </a:r>
            <a:r>
              <a:rPr lang="en-US" altLang="fr-FR" sz="1200" b="1" i="1" dirty="0" err="1"/>
              <a:t>urabilité</a:t>
            </a:r>
            <a:r>
              <a:rPr lang="en-US" altLang="fr-FR" sz="1200" b="1" i="1" dirty="0"/>
              <a:t> </a:t>
            </a:r>
            <a:r>
              <a:rPr lang="en-US" altLang="fr-FR" sz="1200" dirty="0"/>
              <a:t>: </a:t>
            </a:r>
            <a:r>
              <a:rPr lang="en-US" altLang="fr-FR" sz="1200" dirty="0" err="1"/>
              <a:t>une</a:t>
            </a:r>
            <a:r>
              <a:rPr lang="en-US" altLang="fr-FR" sz="1200" dirty="0"/>
              <a:t> </a:t>
            </a:r>
            <a:r>
              <a:rPr lang="en-US" altLang="fr-FR" sz="1200" dirty="0" err="1"/>
              <a:t>fois</a:t>
            </a:r>
            <a:r>
              <a:rPr lang="en-US" altLang="fr-FR" sz="1200" dirty="0"/>
              <a:t> la transaction </a:t>
            </a:r>
            <a:r>
              <a:rPr lang="en-US" altLang="fr-FR" sz="1200" dirty="0" err="1"/>
              <a:t>validée</a:t>
            </a:r>
            <a:r>
              <a:rPr lang="en-US" altLang="fr-FR" sz="1200" dirty="0"/>
              <a:t>, </a:t>
            </a:r>
            <a:r>
              <a:rPr lang="en-US" altLang="fr-FR" sz="1200" dirty="0" err="1"/>
              <a:t>l’état</a:t>
            </a:r>
            <a:r>
              <a:rPr lang="en-US" altLang="fr-FR" sz="1200" dirty="0"/>
              <a:t> de la base </a:t>
            </a:r>
            <a:r>
              <a:rPr lang="en-US" altLang="fr-FR" sz="1200" dirty="0" err="1"/>
              <a:t>est</a:t>
            </a:r>
            <a:r>
              <a:rPr lang="en-US" altLang="fr-FR" sz="1200" dirty="0"/>
              <a:t> permanent (non </a:t>
            </a:r>
            <a:r>
              <a:rPr lang="en-US" altLang="fr-FR" sz="1200" dirty="0" err="1"/>
              <a:t>affecté</a:t>
            </a:r>
            <a:r>
              <a:rPr lang="en-US" altLang="fr-FR" sz="1200" dirty="0"/>
              <a:t> par les </a:t>
            </a:r>
            <a:r>
              <a:rPr lang="en-US" altLang="fr-FR" sz="1200" dirty="0" err="1"/>
              <a:t>pannes</a:t>
            </a:r>
            <a:r>
              <a:rPr lang="en-US" altLang="fr-FR" sz="1200" dirty="0"/>
              <a:t> </a:t>
            </a:r>
            <a:r>
              <a:rPr lang="en-US" altLang="fr-FR" sz="1200" dirty="0" err="1"/>
              <a:t>ou</a:t>
            </a:r>
            <a:r>
              <a:rPr lang="en-US" altLang="fr-FR" sz="1200" dirty="0"/>
              <a:t> </a:t>
            </a:r>
            <a:r>
              <a:rPr lang="en-US" altLang="fr-FR" sz="1200" dirty="0" err="1"/>
              <a:t>autre</a:t>
            </a:r>
            <a:r>
              <a:rPr lang="en-US" altLang="fr-FR" sz="1200" dirty="0"/>
              <a:t>)</a:t>
            </a:r>
            <a:endParaRPr lang="en-US" altLang="fr-FR" sz="1200" dirty="0">
              <a:solidFill>
                <a:srgbClr val="FA4D4D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Clr>
                <a:srgbClr val="9F0000"/>
              </a:buClr>
            </a:pPr>
            <a:r>
              <a:rPr lang="fr-FR" altLang="fr-FR" sz="1600" dirty="0">
                <a:solidFill>
                  <a:srgbClr val="9E211E"/>
                </a:solidFill>
              </a:rPr>
              <a:t>Systèmes distribués : modèle </a:t>
            </a:r>
            <a:r>
              <a:rPr lang="fr-FR" altLang="fr-FR" sz="1600" b="1" dirty="0">
                <a:solidFill>
                  <a:srgbClr val="9E211E"/>
                </a:solidFill>
              </a:rPr>
              <a:t>BASE</a:t>
            </a:r>
            <a:endParaRPr lang="fr-FR" altLang="fr-FR" sz="1600" dirty="0">
              <a:solidFill>
                <a:srgbClr val="FF0000"/>
              </a:solidFill>
            </a:endParaRPr>
          </a:p>
          <a:p>
            <a:pPr marL="565547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fr-FR" altLang="fr-FR" sz="1200" b="1" i="1" dirty="0" err="1">
                <a:solidFill>
                  <a:srgbClr val="FF0000"/>
                </a:solidFill>
              </a:rPr>
              <a:t>B</a:t>
            </a:r>
            <a:r>
              <a:rPr lang="fr-FR" altLang="fr-FR" sz="1200" b="1" i="1" dirty="0" err="1"/>
              <a:t>asically</a:t>
            </a:r>
            <a:r>
              <a:rPr lang="fr-FR" altLang="fr-FR" sz="1200" b="1" i="1" dirty="0"/>
              <a:t> </a:t>
            </a:r>
            <a:r>
              <a:rPr lang="fr-FR" altLang="fr-FR" sz="1200" b="1" i="1" dirty="0" err="1">
                <a:solidFill>
                  <a:srgbClr val="FF0000"/>
                </a:solidFill>
              </a:rPr>
              <a:t>A</a:t>
            </a:r>
            <a:r>
              <a:rPr lang="fr-FR" altLang="fr-FR" sz="1200" b="1" i="1" dirty="0" err="1"/>
              <a:t>vailable</a:t>
            </a:r>
            <a:r>
              <a:rPr lang="fr-FR" altLang="fr-FR" sz="1200" dirty="0"/>
              <a:t> : garantie minimale pour taux de disponibilité face grande quantité de requêtes</a:t>
            </a:r>
          </a:p>
          <a:p>
            <a:pPr marL="565547" lvl="1" indent="-257175">
              <a:spcAft>
                <a:spcPts val="450"/>
              </a:spcAft>
              <a:buClr>
                <a:srgbClr val="9F0000"/>
              </a:buClr>
              <a:buFont typeface="Arial" charset="0"/>
              <a:buChar char="•"/>
            </a:pPr>
            <a:r>
              <a:rPr lang="fr-FR" altLang="fr-FR" sz="1200" b="1" i="1" dirty="0">
                <a:solidFill>
                  <a:srgbClr val="FF0000"/>
                </a:solidFill>
              </a:rPr>
              <a:t>S</a:t>
            </a:r>
            <a:r>
              <a:rPr lang="fr-FR" altLang="fr-FR" sz="1200" b="1" i="1" dirty="0"/>
              <a:t>oft-state</a:t>
            </a:r>
            <a:r>
              <a:rPr lang="fr-FR" altLang="fr-FR" sz="1200" i="1" dirty="0"/>
              <a:t> </a:t>
            </a:r>
            <a:r>
              <a:rPr lang="fr-FR" altLang="fr-FR" sz="1200" dirty="0"/>
              <a:t>: l’état du système peut changer au cours du temps même sans nouveaux inputs (cela est du au modèle de consistance).</a:t>
            </a:r>
          </a:p>
          <a:p>
            <a:pPr marL="565547" lvl="1" indent="-257175">
              <a:buClr>
                <a:srgbClr val="9F0000"/>
              </a:buClr>
              <a:buFont typeface="Arial" charset="0"/>
              <a:buChar char="•"/>
            </a:pPr>
            <a:r>
              <a:rPr lang="fr-FR" altLang="fr-FR" sz="1200" b="1" i="1" dirty="0" err="1">
                <a:solidFill>
                  <a:srgbClr val="FF0000"/>
                </a:solidFill>
              </a:rPr>
              <a:t>E</a:t>
            </a:r>
            <a:r>
              <a:rPr lang="fr-FR" altLang="fr-FR" sz="1200" b="1" i="1" dirty="0" err="1"/>
              <a:t>ventually</a:t>
            </a:r>
            <a:r>
              <a:rPr lang="fr-FR" altLang="fr-FR" sz="1200" b="1" i="1" dirty="0"/>
              <a:t> consistent</a:t>
            </a:r>
            <a:r>
              <a:rPr lang="fr-FR" altLang="fr-FR" sz="1200" dirty="0"/>
              <a:t> : tous les réplicas atteignent le même état, et le système devient à un moment consistant, si on stoppe les inputs</a:t>
            </a:r>
          </a:p>
          <a:p>
            <a:endParaRPr lang="fr-FR" altLang="fr-FR" sz="1200" dirty="0"/>
          </a:p>
          <a:p>
            <a:endParaRPr lang="fr-FR" sz="1200" dirty="0"/>
          </a:p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15</a:t>
            </a:fld>
            <a:endParaRPr lang="fr-FR" altLang="fr-FR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sz="2400" dirty="0"/>
              <a:t>ACID vs </a:t>
            </a:r>
            <a:r>
              <a:rPr lang="fr-FR" sz="2400" dirty="0" smtClean="0"/>
              <a:t>BASE</a:t>
            </a:r>
            <a:endParaRPr lang="fr-FR" sz="24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762549"/>
            <a:ext cx="5751536" cy="1186952"/>
          </a:xfrm>
          <a:prstGeom prst="rect">
            <a:avLst/>
          </a:prstGeom>
        </p:spPr>
      </p:pic>
      <p:sp>
        <p:nvSpPr>
          <p:cNvPr id="10" name="Titre 2"/>
          <p:cNvSpPr txBox="1">
            <a:spLocks/>
          </p:cNvSpPr>
          <p:nvPr/>
        </p:nvSpPr>
        <p:spPr bwMode="gray">
          <a:xfrm>
            <a:off x="827584" y="108681"/>
            <a:ext cx="6057900" cy="35121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fr-FR" sz="1875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1479947" y="1052513"/>
            <a:ext cx="6172200" cy="368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/>
          <a:lstStyle>
            <a:lvl1pPr marL="361950" indent="-255588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654050" indent="-242888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9163" indent="-217488"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endParaRPr lang="en-US" altLang="fr-FR" sz="165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NoSQL : </a:t>
            </a:r>
            <a:r>
              <a:rPr lang="en-US" altLang="fr-FR" dirty="0" err="1"/>
              <a:t>une</a:t>
            </a:r>
            <a:r>
              <a:rPr lang="en-US" altLang="fr-FR" dirty="0"/>
              <a:t> </a:t>
            </a:r>
            <a:r>
              <a:rPr lang="en-US" altLang="fr-FR" dirty="0" smtClean="0"/>
              <a:t>solution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2100" dirty="0">
                <a:solidFill>
                  <a:srgbClr val="9E211E"/>
                </a:solidFill>
              </a:rPr>
              <a:t>NoSQL : </a:t>
            </a:r>
            <a:r>
              <a:rPr lang="en-US" altLang="fr-FR" sz="2100" b="1" dirty="0">
                <a:solidFill>
                  <a:srgbClr val="9E211E"/>
                </a:solidFill>
              </a:rPr>
              <a:t>Not Only SQL</a:t>
            </a:r>
          </a:p>
          <a:p>
            <a:pPr lvl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/>
              <a:t>Nouvelle </a:t>
            </a:r>
            <a:r>
              <a:rPr lang="en-US" altLang="fr-FR" sz="1500" dirty="0" err="1"/>
              <a:t>approche</a:t>
            </a:r>
            <a:r>
              <a:rPr lang="en-US" altLang="fr-FR" sz="1500" dirty="0"/>
              <a:t> de </a:t>
            </a:r>
            <a:r>
              <a:rPr lang="en-US" altLang="fr-FR" sz="1500" dirty="0" err="1"/>
              <a:t>stockage</a:t>
            </a:r>
            <a:r>
              <a:rPr lang="en-US" altLang="fr-FR" sz="1500" dirty="0"/>
              <a:t> et de </a:t>
            </a:r>
            <a:r>
              <a:rPr lang="en-US" altLang="fr-FR" sz="1500" dirty="0" err="1"/>
              <a:t>gestion</a:t>
            </a:r>
            <a:r>
              <a:rPr lang="en-US" altLang="fr-FR" sz="1500" dirty="0"/>
              <a:t> de </a:t>
            </a:r>
            <a:r>
              <a:rPr lang="en-US" altLang="fr-FR" sz="1500" dirty="0" err="1"/>
              <a:t>données</a:t>
            </a:r>
            <a:endParaRPr lang="en-US" altLang="fr-FR" sz="1500" dirty="0"/>
          </a:p>
          <a:p>
            <a:pPr lvl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Permet</a:t>
            </a:r>
            <a:r>
              <a:rPr lang="en-US" altLang="fr-FR" sz="1500" dirty="0"/>
              <a:t> le passage </a:t>
            </a:r>
            <a:r>
              <a:rPr lang="en-US" altLang="fr-FR" sz="1500" dirty="0" err="1"/>
              <a:t>à</a:t>
            </a:r>
            <a:r>
              <a:rPr lang="en-US" altLang="fr-FR" sz="1500" dirty="0"/>
              <a:t> </a:t>
            </a:r>
            <a:r>
              <a:rPr lang="en-US" altLang="fr-FR" sz="1500" dirty="0" err="1"/>
              <a:t>l’échelle</a:t>
            </a:r>
            <a:r>
              <a:rPr lang="en-US" altLang="fr-FR" sz="1500" dirty="0"/>
              <a:t> via un </a:t>
            </a:r>
            <a:r>
              <a:rPr lang="en-US" altLang="fr-FR" sz="1500" dirty="0" err="1"/>
              <a:t>contexte</a:t>
            </a:r>
            <a:r>
              <a:rPr lang="en-US" altLang="fr-FR" sz="1500" dirty="0"/>
              <a:t> </a:t>
            </a:r>
            <a:r>
              <a:rPr lang="en-US" altLang="fr-FR" sz="1500" dirty="0" err="1"/>
              <a:t>hautement</a:t>
            </a:r>
            <a:r>
              <a:rPr lang="en-US" altLang="fr-FR" sz="1500" dirty="0"/>
              <a:t> </a:t>
            </a:r>
            <a:r>
              <a:rPr lang="en-US" altLang="fr-FR" sz="1500" dirty="0" err="1"/>
              <a:t>distribué</a:t>
            </a:r>
            <a:endParaRPr lang="en-US" altLang="fr-FR" sz="1500" dirty="0"/>
          </a:p>
          <a:p>
            <a:pPr lvl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Gestion</a:t>
            </a:r>
            <a:r>
              <a:rPr lang="en-US" altLang="fr-FR" sz="1500" dirty="0"/>
              <a:t> de </a:t>
            </a:r>
            <a:r>
              <a:rPr lang="en-US" altLang="fr-FR" sz="1500" dirty="0" err="1"/>
              <a:t>données</a:t>
            </a:r>
            <a:r>
              <a:rPr lang="en-US" altLang="fr-FR" sz="1500" dirty="0"/>
              <a:t> complexes et </a:t>
            </a:r>
            <a:r>
              <a:rPr lang="en-US" altLang="fr-FR" sz="1500" dirty="0" err="1"/>
              <a:t>hétérogènes</a:t>
            </a:r>
            <a:endParaRPr lang="en-US" altLang="fr-FR" sz="1500" dirty="0"/>
          </a:p>
          <a:p>
            <a:pPr lvl="2">
              <a:buClr>
                <a:srgbClr val="A20000"/>
              </a:buClr>
              <a:buFont typeface="Wingdings 2" charset="2"/>
              <a:buChar char=""/>
            </a:pPr>
            <a:r>
              <a:rPr lang="en-US" altLang="fr-FR" sz="1500" dirty="0"/>
              <a:t>Pas de </a:t>
            </a:r>
            <a:r>
              <a:rPr lang="en-US" altLang="fr-FR" sz="1500" dirty="0" err="1"/>
              <a:t>schéma</a:t>
            </a:r>
            <a:r>
              <a:rPr lang="en-US" altLang="fr-FR" sz="1500" dirty="0"/>
              <a:t> pour les </a:t>
            </a:r>
            <a:r>
              <a:rPr lang="en-US" altLang="fr-FR" sz="1500" dirty="0" err="1"/>
              <a:t>objets</a:t>
            </a:r>
            <a:endParaRPr lang="en-US" altLang="fr-FR" sz="1500" dirty="0"/>
          </a:p>
          <a:p>
            <a:pPr lvl="2">
              <a:buClr>
                <a:srgbClr val="A20000"/>
              </a:buClr>
              <a:buNone/>
            </a:pPr>
            <a:endParaRPr lang="en-US" altLang="fr-FR" sz="1200" dirty="0"/>
          </a:p>
          <a:p>
            <a:pPr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2100" dirty="0">
                <a:solidFill>
                  <a:srgbClr val="9E211E"/>
                </a:solidFill>
              </a:rPr>
              <a:t>Ne </a:t>
            </a:r>
            <a:r>
              <a:rPr lang="en-US" altLang="fr-FR" sz="2100" dirty="0" err="1">
                <a:solidFill>
                  <a:srgbClr val="9E211E"/>
                </a:solidFill>
              </a:rPr>
              <a:t>remplace</a:t>
            </a:r>
            <a:r>
              <a:rPr lang="en-US" altLang="fr-FR" sz="2100" dirty="0">
                <a:solidFill>
                  <a:srgbClr val="9E211E"/>
                </a:solidFill>
              </a:rPr>
              <a:t> pas les SGBDR !!</a:t>
            </a:r>
          </a:p>
          <a:p>
            <a:pPr lvl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Quantité</a:t>
            </a:r>
            <a:r>
              <a:rPr lang="en-US" altLang="fr-FR" sz="1500" dirty="0"/>
              <a:t> de </a:t>
            </a:r>
            <a:r>
              <a:rPr lang="en-US" altLang="fr-FR" sz="1500" dirty="0" err="1"/>
              <a:t>données</a:t>
            </a:r>
            <a:r>
              <a:rPr lang="en-US" altLang="fr-FR" sz="1500" dirty="0"/>
              <a:t> </a:t>
            </a:r>
            <a:r>
              <a:rPr lang="en-US" altLang="fr-FR" sz="1500" dirty="0" err="1"/>
              <a:t>énorme</a:t>
            </a:r>
            <a:r>
              <a:rPr lang="en-US" altLang="fr-FR" sz="1500" dirty="0"/>
              <a:t> (</a:t>
            </a:r>
            <a:r>
              <a:rPr lang="en-US" altLang="fr-FR" sz="1500" dirty="0" err="1"/>
              <a:t>PétaBytes</a:t>
            </a:r>
            <a:r>
              <a:rPr lang="en-US" altLang="fr-FR" sz="1500" dirty="0"/>
              <a:t>)</a:t>
            </a:r>
          </a:p>
          <a:p>
            <a:pPr lvl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Besoin</a:t>
            </a:r>
            <a:r>
              <a:rPr lang="en-US" altLang="fr-FR" sz="1500" dirty="0"/>
              <a:t> de temps de </a:t>
            </a:r>
            <a:r>
              <a:rPr lang="en-US" altLang="fr-FR" sz="1500" dirty="0" err="1"/>
              <a:t>réponse</a:t>
            </a:r>
            <a:endParaRPr lang="en-US" altLang="fr-FR" sz="1500" dirty="0"/>
          </a:p>
          <a:p>
            <a:pPr lvl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Cohérence</a:t>
            </a:r>
            <a:r>
              <a:rPr lang="en-US" altLang="fr-FR" sz="1500" dirty="0"/>
              <a:t> de </a:t>
            </a:r>
            <a:r>
              <a:rPr lang="en-US" altLang="fr-FR" sz="1500" dirty="0" err="1"/>
              <a:t>données</a:t>
            </a:r>
            <a:r>
              <a:rPr lang="en-US" altLang="fr-FR" sz="1500" dirty="0"/>
              <a:t> </a:t>
            </a:r>
            <a:r>
              <a:rPr lang="en-US" altLang="fr-FR" sz="1500" dirty="0" err="1"/>
              <a:t>faible</a:t>
            </a:r>
            <a:endParaRPr lang="en-US" altLang="fr-FR" sz="1500" dirty="0"/>
          </a:p>
          <a:p>
            <a:endParaRPr lang="fr-FR" sz="15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16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5" y="1047750"/>
            <a:ext cx="2676525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Les bases de </a:t>
            </a:r>
            <a:r>
              <a:rPr lang="en-US" altLang="fr-FR" dirty="0" err="1"/>
              <a:t>données</a:t>
            </a:r>
            <a:r>
              <a:rPr lang="en-US" altLang="fr-FR" dirty="0"/>
              <a:t> </a:t>
            </a:r>
            <a:r>
              <a:rPr lang="en-US" altLang="fr-FR" dirty="0" smtClean="0"/>
              <a:t>NoSQL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17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BD NoSQL : </a:t>
            </a:r>
            <a:r>
              <a:rPr lang="en-US" altLang="fr-FR" dirty="0" err="1"/>
              <a:t>Caractéristiques</a:t>
            </a:r>
            <a:endParaRPr lang="fr-FR" dirty="0"/>
          </a:p>
        </p:txBody>
      </p:sp>
      <p:sp>
        <p:nvSpPr>
          <p:cNvPr id="52228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>
                <a:solidFill>
                  <a:srgbClr val="9E211E"/>
                </a:solidFill>
              </a:rPr>
              <a:t>Pas de relations</a:t>
            </a:r>
          </a:p>
          <a:p>
            <a:pPr lvl="2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/>
              <a:t>Pas de </a:t>
            </a:r>
            <a:r>
              <a:rPr lang="en-US" altLang="fr-FR" sz="1500" dirty="0" err="1"/>
              <a:t>schéma</a:t>
            </a:r>
            <a:r>
              <a:rPr lang="en-US" altLang="fr-FR" sz="1500" dirty="0"/>
              <a:t> physiques </a:t>
            </a:r>
            <a:r>
              <a:rPr lang="en-US" altLang="fr-FR" sz="1500" dirty="0" err="1"/>
              <a:t>ou</a:t>
            </a:r>
            <a:r>
              <a:rPr lang="en-US" altLang="fr-FR" sz="1500" dirty="0"/>
              <a:t> </a:t>
            </a:r>
            <a:r>
              <a:rPr lang="en-US" altLang="fr-FR" sz="1500" dirty="0" err="1"/>
              <a:t>dynamiques</a:t>
            </a:r>
            <a:endParaRPr lang="en-US" altLang="fr-FR" sz="1500" dirty="0"/>
          </a:p>
          <a:p>
            <a:pPr lvl="2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/>
              <a:t>Notion de “collections”</a:t>
            </a:r>
          </a:p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 err="1">
                <a:solidFill>
                  <a:srgbClr val="9E211E"/>
                </a:solidFill>
              </a:rPr>
              <a:t>Données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éventuellement</a:t>
            </a:r>
            <a:r>
              <a:rPr lang="en-US" altLang="fr-FR" sz="1950" dirty="0">
                <a:solidFill>
                  <a:srgbClr val="9E211E"/>
                </a:solidFill>
              </a:rPr>
              <a:t> complexes</a:t>
            </a:r>
          </a:p>
          <a:p>
            <a:pPr lvl="2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/>
              <a:t>Imbrication, tableaux</a:t>
            </a:r>
          </a:p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>
                <a:solidFill>
                  <a:srgbClr val="9E211E"/>
                </a:solidFill>
              </a:rPr>
              <a:t>Distribution de </a:t>
            </a:r>
            <a:r>
              <a:rPr lang="en-US" altLang="fr-FR" sz="1950" dirty="0" err="1">
                <a:solidFill>
                  <a:srgbClr val="9E211E"/>
                </a:solidFill>
              </a:rPr>
              <a:t>données</a:t>
            </a:r>
            <a:r>
              <a:rPr lang="en-US" altLang="fr-FR" sz="1950" dirty="0">
                <a:solidFill>
                  <a:srgbClr val="9E211E"/>
                </a:solidFill>
              </a:rPr>
              <a:t> (</a:t>
            </a:r>
            <a:r>
              <a:rPr lang="en-US" altLang="fr-FR" sz="1950" dirty="0" err="1">
                <a:solidFill>
                  <a:srgbClr val="9E211E"/>
                </a:solidFill>
              </a:rPr>
              <a:t>milliers</a:t>
            </a:r>
            <a:r>
              <a:rPr lang="en-US" altLang="fr-FR" sz="1950" dirty="0">
                <a:solidFill>
                  <a:srgbClr val="9E211E"/>
                </a:solidFill>
              </a:rPr>
              <a:t> de </a:t>
            </a:r>
            <a:r>
              <a:rPr lang="en-US" altLang="fr-FR" sz="1950" dirty="0" err="1">
                <a:solidFill>
                  <a:srgbClr val="9E211E"/>
                </a:solidFill>
              </a:rPr>
              <a:t>serveurs</a:t>
            </a:r>
            <a:r>
              <a:rPr lang="en-US" altLang="fr-FR" sz="1950" dirty="0">
                <a:solidFill>
                  <a:srgbClr val="9E211E"/>
                </a:solidFill>
              </a:rPr>
              <a:t>)</a:t>
            </a:r>
          </a:p>
          <a:p>
            <a:pPr lvl="2">
              <a:spcAft>
                <a:spcPts val="450"/>
              </a:spcAft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Parallélisation</a:t>
            </a:r>
            <a:r>
              <a:rPr lang="en-US" altLang="fr-FR" sz="1500" dirty="0"/>
              <a:t> des </a:t>
            </a:r>
            <a:r>
              <a:rPr lang="en-US" altLang="fr-FR" sz="1500" dirty="0" err="1"/>
              <a:t>traitements</a:t>
            </a:r>
            <a:r>
              <a:rPr lang="en-US" altLang="fr-FR" sz="1500" dirty="0"/>
              <a:t> (Map/Reduce)</a:t>
            </a:r>
          </a:p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>
                <a:solidFill>
                  <a:srgbClr val="9E211E"/>
                </a:solidFill>
              </a:rPr>
              <a:t>Replication des </a:t>
            </a:r>
            <a:r>
              <a:rPr lang="en-US" altLang="fr-FR" sz="1950" dirty="0" err="1">
                <a:solidFill>
                  <a:srgbClr val="9E211E"/>
                </a:solidFill>
              </a:rPr>
              <a:t>données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lvl="2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Disponibilité</a:t>
            </a:r>
            <a:r>
              <a:rPr lang="en-US" altLang="fr-FR" sz="1500" dirty="0"/>
              <a:t> vs </a:t>
            </a:r>
            <a:r>
              <a:rPr lang="en-US" altLang="fr-FR" sz="1500" dirty="0" err="1"/>
              <a:t>Cohérence</a:t>
            </a:r>
            <a:r>
              <a:rPr lang="en-US" altLang="fr-FR" sz="1500" dirty="0"/>
              <a:t> (pas de transactions)</a:t>
            </a:r>
          </a:p>
          <a:p>
            <a:pPr lvl="2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500" dirty="0" err="1"/>
              <a:t>Peu</a:t>
            </a:r>
            <a:r>
              <a:rPr lang="en-US" altLang="fr-FR" sz="1500" dirty="0"/>
              <a:t> </a:t>
            </a:r>
            <a:r>
              <a:rPr lang="en-US" altLang="fr-FR" sz="1500" dirty="0" err="1"/>
              <a:t>d’écritures</a:t>
            </a:r>
            <a:r>
              <a:rPr lang="en-US" altLang="fr-FR" sz="1500" dirty="0"/>
              <a:t>, beaucoup de lectures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18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Sharding</a:t>
            </a:r>
            <a:r>
              <a:rPr lang="fr-FR" dirty="0"/>
              <a:t> : Passage à l’échelle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>
                <a:solidFill>
                  <a:srgbClr val="9E211E"/>
                </a:solidFill>
              </a:rPr>
              <a:t>Distribution des blocs de </a:t>
            </a:r>
            <a:r>
              <a:rPr lang="en-US" altLang="fr-FR" sz="1950" dirty="0" err="1" smtClean="0">
                <a:solidFill>
                  <a:srgbClr val="9E211E"/>
                </a:solidFill>
              </a:rPr>
              <a:t>données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smtClean="0">
                <a:solidFill>
                  <a:srgbClr val="9E211E"/>
                </a:solidFill>
              </a:rPr>
              <a:t>sur </a:t>
            </a:r>
            <a:r>
              <a:rPr lang="en-US" altLang="fr-FR" sz="1950" dirty="0">
                <a:solidFill>
                  <a:srgbClr val="9E211E"/>
                </a:solidFill>
              </a:rPr>
              <a:t>un ensemble de </a:t>
            </a:r>
            <a:r>
              <a:rPr lang="en-US" altLang="fr-FR" sz="1950" dirty="0" err="1">
                <a:solidFill>
                  <a:srgbClr val="9E211E"/>
                </a:solidFill>
              </a:rPr>
              <a:t>serveurs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 err="1">
                <a:solidFill>
                  <a:srgbClr val="9E211E"/>
                </a:solidFill>
              </a:rPr>
              <a:t>Partitionnement</a:t>
            </a:r>
            <a:r>
              <a:rPr lang="en-US" altLang="fr-FR" sz="1950" dirty="0">
                <a:solidFill>
                  <a:srgbClr val="9E211E"/>
                </a:solidFill>
              </a:rPr>
              <a:t> horizontal</a:t>
            </a:r>
          </a:p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950" dirty="0">
                <a:solidFill>
                  <a:srgbClr val="9E211E"/>
                </a:solidFill>
              </a:rPr>
              <a:t>Trois types de techniques :</a:t>
            </a:r>
          </a:p>
          <a:p>
            <a:pPr marL="685800" lvl="1" indent="-342900">
              <a:buClr>
                <a:srgbClr val="9F0000"/>
              </a:buClr>
              <a:buFont typeface="+mj-lt"/>
              <a:buAutoNum type="arabicPeriod"/>
            </a:pPr>
            <a:r>
              <a:rPr lang="en-US" altLang="fr-FR" sz="1500" dirty="0" err="1"/>
              <a:t>Basée</a:t>
            </a:r>
            <a:r>
              <a:rPr lang="en-US" altLang="fr-FR" sz="1500" dirty="0"/>
              <a:t> sur </a:t>
            </a:r>
            <a:r>
              <a:rPr lang="en-US" altLang="fr-FR" sz="1500" dirty="0" err="1"/>
              <a:t>l’allocation</a:t>
            </a:r>
            <a:r>
              <a:rPr lang="en-US" altLang="fr-FR" sz="1500" dirty="0"/>
              <a:t> de </a:t>
            </a:r>
            <a:r>
              <a:rPr lang="en-US" altLang="fr-FR" sz="1500" dirty="0" err="1"/>
              <a:t>ressources</a:t>
            </a:r>
            <a:r>
              <a:rPr lang="en-US" altLang="fr-FR" sz="1500" dirty="0"/>
              <a:t> : </a:t>
            </a:r>
            <a:r>
              <a:rPr lang="en-US" altLang="fr-FR" sz="1500" i="1" dirty="0"/>
              <a:t>HDFS</a:t>
            </a:r>
          </a:p>
          <a:p>
            <a:pPr marL="685800" lvl="1" indent="-342900">
              <a:buClr>
                <a:srgbClr val="9F0000"/>
              </a:buClr>
              <a:buFont typeface="+mj-lt"/>
              <a:buAutoNum type="arabicPeriod"/>
            </a:pPr>
            <a:r>
              <a:rPr lang="en-US" altLang="fr-FR" sz="1500" dirty="0" err="1"/>
              <a:t>Basée</a:t>
            </a:r>
            <a:r>
              <a:rPr lang="en-US" altLang="fr-FR" sz="1500" dirty="0"/>
              <a:t> sur </a:t>
            </a:r>
            <a:r>
              <a:rPr lang="en-US" altLang="fr-FR" sz="1500" dirty="0" err="1"/>
              <a:t>une</a:t>
            </a:r>
            <a:r>
              <a:rPr lang="en-US" altLang="fr-FR" sz="1500" dirty="0"/>
              <a:t> structure </a:t>
            </a:r>
            <a:r>
              <a:rPr lang="en-US" altLang="fr-FR" sz="1500" dirty="0" err="1"/>
              <a:t>arborescente</a:t>
            </a:r>
            <a:r>
              <a:rPr lang="en-US" altLang="fr-FR" sz="1500" dirty="0"/>
              <a:t> : </a:t>
            </a:r>
            <a:r>
              <a:rPr lang="en-US" altLang="fr-FR" sz="1500" i="1" dirty="0"/>
              <a:t>Index non-dense</a:t>
            </a:r>
          </a:p>
          <a:p>
            <a:pPr marL="685800" lvl="1" indent="-342900">
              <a:buClr>
                <a:srgbClr val="9F0000"/>
              </a:buClr>
              <a:buFont typeface="+mj-lt"/>
              <a:buAutoNum type="arabicPeriod"/>
            </a:pPr>
            <a:r>
              <a:rPr lang="en-US" altLang="fr-FR" sz="1500" dirty="0" err="1"/>
              <a:t>Basée</a:t>
            </a:r>
            <a:r>
              <a:rPr lang="en-US" altLang="fr-FR" sz="1500" dirty="0"/>
              <a:t> sur le </a:t>
            </a:r>
            <a:r>
              <a:rPr lang="en-US" altLang="fr-FR" sz="1500" dirty="0" err="1"/>
              <a:t>hachage</a:t>
            </a:r>
            <a:r>
              <a:rPr lang="en-US" altLang="fr-FR" sz="1500" dirty="0"/>
              <a:t> : </a:t>
            </a:r>
            <a:r>
              <a:rPr lang="en-US" altLang="fr-FR" sz="1500" i="1" dirty="0" err="1"/>
              <a:t>Hachage</a:t>
            </a:r>
            <a:r>
              <a:rPr lang="en-US" altLang="fr-FR" sz="1500" i="1" dirty="0"/>
              <a:t> </a:t>
            </a:r>
            <a:r>
              <a:rPr lang="en-US" altLang="fr-FR" sz="1500" i="1" dirty="0" err="1"/>
              <a:t>Cohérent</a:t>
            </a:r>
            <a:endParaRPr lang="en-US" altLang="fr-FR" sz="1500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19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7590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Sharding</a:t>
            </a:r>
            <a:r>
              <a:rPr lang="fr-FR" altLang="fr-FR" dirty="0"/>
              <a:t> </a:t>
            </a:r>
            <a:r>
              <a:rPr lang="fr-FR" altLang="fr-FR" dirty="0" smtClean="0"/>
              <a:t>: HDFS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rgbClr val="9E211E"/>
              </a:buClr>
              <a:buFont typeface="Arial" charset="0"/>
              <a:buChar char="•"/>
              <a:defRPr/>
            </a:pPr>
            <a:r>
              <a:rPr lang="en-US" altLang="fr-FR" sz="2400" b="1" dirty="0">
                <a:solidFill>
                  <a:srgbClr val="9E211E"/>
                </a:solidFill>
              </a:rPr>
              <a:t>HDFS</a:t>
            </a:r>
            <a:r>
              <a:rPr lang="en-US" altLang="fr-FR" sz="2400" b="1" baseline="30000" dirty="0">
                <a:solidFill>
                  <a:srgbClr val="9E211E"/>
                </a:solidFill>
              </a:rPr>
              <a:t>1</a:t>
            </a:r>
            <a:r>
              <a:rPr lang="en-US" altLang="fr-FR" sz="2800" b="1" dirty="0">
                <a:solidFill>
                  <a:srgbClr val="9E211E"/>
                </a:solidFill>
              </a:rPr>
              <a:t> </a:t>
            </a:r>
          </a:p>
          <a:p>
            <a:pPr lvl="1">
              <a:buClr>
                <a:srgbClr val="9E211E"/>
              </a:buClr>
              <a:buFont typeface="Arial" charset="0"/>
              <a:buChar char="•"/>
              <a:defRPr/>
            </a:pPr>
            <a:r>
              <a:rPr lang="fr-FR" sz="1800" dirty="0"/>
              <a:t>Système de fichier distribué</a:t>
            </a:r>
          </a:p>
          <a:p>
            <a:pPr lvl="2">
              <a:buClr>
                <a:srgbClr val="9E211E"/>
              </a:buClr>
              <a:buFont typeface="Arial" charset="0"/>
              <a:buChar char="•"/>
              <a:defRPr/>
            </a:pPr>
            <a:r>
              <a:rPr lang="fr-FR" sz="1600" dirty="0"/>
              <a:t>Dépend de la charge des serveurs</a:t>
            </a:r>
          </a:p>
          <a:p>
            <a:pPr lvl="2">
              <a:buClr>
                <a:srgbClr val="9E211E"/>
              </a:buClr>
              <a:buFont typeface="Arial" charset="0"/>
              <a:buChar char="•"/>
              <a:defRPr/>
            </a:pPr>
            <a:r>
              <a:rPr lang="fr-FR" sz="1600" dirty="0"/>
              <a:t>Distribution, tolérance aux pannes</a:t>
            </a:r>
          </a:p>
          <a:p>
            <a:pPr lvl="2">
              <a:buClr>
                <a:srgbClr val="9E211E"/>
              </a:buClr>
              <a:buFont typeface="Arial" charset="0"/>
              <a:buChar char="•"/>
              <a:defRPr/>
            </a:pPr>
            <a:r>
              <a:rPr lang="fr-FR" sz="1600" dirty="0"/>
              <a:t>Allocation dynamique et </a:t>
            </a:r>
            <a:r>
              <a:rPr lang="fr-FR" sz="1600" dirty="0" smtClean="0"/>
              <a:t>optimisée</a:t>
            </a:r>
            <a:endParaRPr lang="fr-FR" sz="16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20</a:t>
            </a:fld>
            <a:endParaRPr lang="fr-FR" altLang="fr-FR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82153" indent="0">
              <a:buNone/>
            </a:pPr>
            <a:r>
              <a:rPr lang="fr-FR" altLang="fr-FR" i="1" dirty="0">
                <a:solidFill>
                  <a:schemeClr val="tx1"/>
                </a:solidFill>
              </a:rPr>
              <a:t>Allocation de ressources</a:t>
            </a:r>
            <a:endParaRPr lang="fr-FR" i="1" dirty="0">
              <a:solidFill>
                <a:schemeClr val="tx1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620890" y="4870701"/>
            <a:ext cx="624132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>
                    <a:lumMod val="75000"/>
                  </a:schemeClr>
                </a:solidFill>
              </a:rPr>
              <a:t>(1) Voir cours sur </a:t>
            </a:r>
            <a:r>
              <a:rPr lang="fr-FR" sz="1050" i="1" dirty="0" err="1">
                <a:solidFill>
                  <a:schemeClr val="bg1">
                    <a:lumMod val="75000"/>
                  </a:schemeClr>
                </a:solidFill>
              </a:rPr>
              <a:t>Hadoop</a:t>
            </a:r>
            <a:r>
              <a:rPr lang="fr-FR" sz="1050" i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fr-FR" sz="1050" i="1" dirty="0" err="1">
                <a:solidFill>
                  <a:schemeClr val="bg1">
                    <a:lumMod val="75000"/>
                  </a:schemeClr>
                </a:solidFill>
              </a:rPr>
              <a:t>Distributed</a:t>
            </a:r>
            <a:r>
              <a:rPr lang="fr-FR" sz="1050" i="1" dirty="0">
                <a:solidFill>
                  <a:schemeClr val="bg1">
                    <a:lumMod val="75000"/>
                  </a:schemeClr>
                </a:solidFill>
              </a:rPr>
              <a:t> File </a:t>
            </a:r>
            <a:r>
              <a:rPr lang="fr-FR" sz="1050" i="1" dirty="0" smtClean="0">
                <a:solidFill>
                  <a:schemeClr val="bg1">
                    <a:lumMod val="75000"/>
                  </a:schemeClr>
                </a:solidFill>
              </a:rPr>
              <a:t>System </a:t>
            </a:r>
            <a:r>
              <a:rPr lang="fr-FR" sz="1050" dirty="0" smtClean="0">
                <a:solidFill>
                  <a:schemeClr val="bg1">
                    <a:lumMod val="75000"/>
                  </a:schemeClr>
                </a:solidFill>
                <a:hlinkClick r:id="rId2"/>
              </a:rPr>
              <a:t>http</a:t>
            </a:r>
            <a:r>
              <a:rPr lang="fr-FR" sz="1050" dirty="0">
                <a:solidFill>
                  <a:schemeClr val="bg1">
                    <a:lumMod val="75000"/>
                  </a:schemeClr>
                </a:solidFill>
                <a:hlinkClick r:id="rId2"/>
              </a:rPr>
              <a:t>://chewbii.com/transparents-hdfs-hadoop/</a:t>
            </a:r>
            <a:endParaRPr lang="fr-FR" sz="105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Sharding</a:t>
            </a:r>
            <a:r>
              <a:rPr lang="fr-FR" dirty="0" smtClean="0"/>
              <a:t> : HDFS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21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46" y="1063665"/>
            <a:ext cx="7963229" cy="35159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46" y="1063665"/>
            <a:ext cx="7963229" cy="351590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59582"/>
            <a:ext cx="8013576" cy="35326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59582"/>
            <a:ext cx="8013576" cy="353268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59582"/>
            <a:ext cx="8013576" cy="353268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59582"/>
            <a:ext cx="8013576" cy="353268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59582"/>
            <a:ext cx="8013576" cy="3532686"/>
          </a:xfrm>
          <a:prstGeom prst="rect">
            <a:avLst/>
          </a:prstGeom>
        </p:spPr>
      </p:pic>
      <p:sp>
        <p:nvSpPr>
          <p:cNvPr id="13" name="Espace réservé du texte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845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61" t="37845" r="20708" b="40224"/>
          <a:stretch/>
        </p:blipFill>
        <p:spPr>
          <a:xfrm>
            <a:off x="931478" y="1315312"/>
            <a:ext cx="2945568" cy="82439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40" b="10277"/>
          <a:stretch/>
        </p:blipFill>
        <p:spPr>
          <a:xfrm>
            <a:off x="5759517" y="1283123"/>
            <a:ext cx="2840636" cy="100059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7" t="8400" r="6817" b="6847"/>
          <a:stretch/>
        </p:blipFill>
        <p:spPr>
          <a:xfrm>
            <a:off x="3041947" y="2296616"/>
            <a:ext cx="3552669" cy="214734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931478" y="4375352"/>
            <a:ext cx="337784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Distribution de calcul</a:t>
            </a:r>
            <a:endParaRPr lang="fr-FR" sz="2700" dirty="0">
              <a:solidFill>
                <a:schemeClr val="accent2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438133" y="4381094"/>
            <a:ext cx="35705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Tolérance aux pannes</a:t>
            </a:r>
            <a:endParaRPr lang="fr-FR" sz="2700" dirty="0">
              <a:solidFill>
                <a:schemeClr val="accent2"/>
              </a:solidFill>
            </a:endParaRPr>
          </a:p>
        </p:txBody>
      </p:sp>
      <p:sp>
        <p:nvSpPr>
          <p:cNvPr id="10" name="Titr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Sharding</a:t>
            </a:r>
            <a:r>
              <a:rPr lang="fr-FR" dirty="0"/>
              <a:t> : </a:t>
            </a:r>
            <a:r>
              <a:rPr lang="fr-FR" dirty="0" smtClean="0"/>
              <a:t>HDFS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3F3BAD-C446-B449-8DD8-64CCAD984DE3}" type="slidenum">
              <a:rPr lang="fr-FR" smtClean="0"/>
              <a:t>22</a:t>
            </a:fld>
            <a:endParaRPr lang="fr-FR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Solutions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737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Sharding</a:t>
            </a:r>
            <a:r>
              <a:rPr lang="fr-FR" dirty="0"/>
              <a:t> : </a:t>
            </a:r>
            <a:r>
              <a:rPr lang="fr-FR" dirty="0" err="1" smtClean="0"/>
              <a:t>Clustered</a:t>
            </a:r>
            <a:r>
              <a:rPr lang="fr-FR" dirty="0" smtClean="0"/>
              <a:t> index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Clr>
                <a:srgbClr val="9E211E"/>
              </a:buClr>
              <a:buFont typeface="Arial" charset="0"/>
              <a:buChar char="•"/>
              <a:defRPr/>
            </a:pPr>
            <a:r>
              <a:rPr lang="en-US" altLang="fr-FR" sz="2400" b="1" dirty="0">
                <a:solidFill>
                  <a:srgbClr val="9E211E"/>
                </a:solidFill>
              </a:rPr>
              <a:t>Index non-dense</a:t>
            </a:r>
            <a:r>
              <a:rPr lang="en-US" altLang="fr-FR" sz="2400" b="1" baseline="30000" dirty="0">
                <a:solidFill>
                  <a:srgbClr val="9E211E"/>
                </a:solidFill>
              </a:rPr>
              <a:t>2</a:t>
            </a:r>
            <a:r>
              <a:rPr lang="en-US" altLang="fr-FR" sz="2400" b="1" dirty="0">
                <a:solidFill>
                  <a:srgbClr val="9E211E"/>
                </a:solidFill>
              </a:rPr>
              <a:t> </a:t>
            </a:r>
            <a:r>
              <a:rPr lang="en-US" altLang="fr-FR" sz="2400" b="1" dirty="0" err="1">
                <a:solidFill>
                  <a:srgbClr val="9E211E"/>
                </a:solidFill>
              </a:rPr>
              <a:t>distribué</a:t>
            </a:r>
            <a:r>
              <a:rPr lang="en-US" altLang="fr-FR" sz="2800" b="1" dirty="0">
                <a:solidFill>
                  <a:srgbClr val="9E211E"/>
                </a:solidFill>
              </a:rPr>
              <a:t> </a:t>
            </a:r>
          </a:p>
          <a:p>
            <a:pPr lvl="1">
              <a:buClr>
                <a:srgbClr val="9E211E"/>
              </a:buClr>
              <a:buFont typeface="Arial" charset="0"/>
              <a:buChar char="•"/>
              <a:defRPr/>
            </a:pPr>
            <a:r>
              <a:rPr lang="fr-FR" sz="1800" dirty="0"/>
              <a:t>Données triées physiquement</a:t>
            </a:r>
          </a:p>
          <a:p>
            <a:pPr lvl="2">
              <a:buClr>
                <a:srgbClr val="9E211E"/>
              </a:buClr>
              <a:buFont typeface="Arial" charset="0"/>
              <a:buChar char="•"/>
              <a:defRPr/>
            </a:pPr>
            <a:r>
              <a:rPr lang="fr-FR" sz="1600" dirty="0"/>
              <a:t>Découpées en blocs sur les nœuds (souvent 256Mo)</a:t>
            </a:r>
          </a:p>
          <a:p>
            <a:pPr lvl="1">
              <a:buClr>
                <a:srgbClr val="9E211E"/>
              </a:buClr>
              <a:buFont typeface="Arial" charset="0"/>
              <a:buChar char="•"/>
              <a:defRPr/>
            </a:pPr>
            <a:r>
              <a:rPr lang="fr-FR" sz="1800" dirty="0"/>
              <a:t>Distribution, </a:t>
            </a:r>
            <a:r>
              <a:rPr lang="fr-FR" sz="1800" dirty="0" smtClean="0"/>
              <a:t>tolérance</a:t>
            </a:r>
          </a:p>
          <a:p>
            <a:pPr marL="342900" lvl="1" indent="0">
              <a:buClr>
                <a:srgbClr val="9E211E"/>
              </a:buClr>
              <a:buNone/>
              <a:defRPr/>
            </a:pPr>
            <a:r>
              <a:rPr lang="fr-FR" sz="1800" dirty="0" smtClean="0"/>
              <a:t>➡Requêtes par intervalles / regroupement</a:t>
            </a:r>
          </a:p>
          <a:p>
            <a:pPr marL="342900" lvl="1" indent="0">
              <a:buClr>
                <a:srgbClr val="9E211E"/>
              </a:buClr>
              <a:buNone/>
              <a:defRPr/>
            </a:pPr>
            <a:r>
              <a:rPr lang="fr-FR" sz="1800" dirty="0" smtClean="0"/>
              <a:t>⚠️</a:t>
            </a:r>
            <a:r>
              <a:rPr lang="fr-FR" sz="1800" dirty="0"/>
              <a:t>Bien choisir la clé pour le </a:t>
            </a:r>
            <a:r>
              <a:rPr lang="fr-FR" sz="1800" dirty="0" smtClean="0"/>
              <a:t>tri</a:t>
            </a:r>
            <a:endParaRPr lang="fr-FR" sz="1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23</a:t>
            </a:fld>
            <a:endParaRPr lang="fr-FR" alt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Technique arborescente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683568" y="4731990"/>
            <a:ext cx="74888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>
                    <a:lumMod val="75000"/>
                  </a:schemeClr>
                </a:solidFill>
              </a:rPr>
              <a:t>(2) Voir cours sur index dense vs </a:t>
            </a:r>
            <a:r>
              <a:rPr lang="fr-FR" sz="1050" dirty="0" smtClean="0">
                <a:solidFill>
                  <a:schemeClr val="bg1">
                    <a:lumMod val="75000"/>
                  </a:schemeClr>
                </a:solidFill>
              </a:rPr>
              <a:t>non-dense </a:t>
            </a:r>
            <a:r>
              <a:rPr lang="fr-FR" sz="1050" dirty="0" smtClean="0">
                <a:solidFill>
                  <a:schemeClr val="bg1">
                    <a:lumMod val="75000"/>
                  </a:schemeClr>
                </a:solidFill>
                <a:hlinkClick r:id="rId2"/>
              </a:rPr>
              <a:t>http</a:t>
            </a:r>
            <a:r>
              <a:rPr lang="fr-FR" sz="1050" dirty="0">
                <a:solidFill>
                  <a:schemeClr val="bg1">
                    <a:lumMod val="75000"/>
                  </a:schemeClr>
                </a:solidFill>
                <a:hlinkClick r:id="rId2"/>
              </a:rPr>
              <a:t>://chewbii.com/videos-optimisation-bases-de-donnees/</a:t>
            </a:r>
            <a:r>
              <a:rPr lang="fr-FR" sz="1050" dirty="0">
                <a:solidFill>
                  <a:schemeClr val="bg1">
                    <a:lumMod val="75000"/>
                  </a:schemeClr>
                </a:solidFill>
              </a:rPr>
              <a:t>    (Vidéo 4)</a:t>
            </a:r>
          </a:p>
        </p:txBody>
      </p:sp>
    </p:spTree>
    <p:extLst>
      <p:ext uri="{BB962C8B-B14F-4D97-AF65-F5344CB8AC3E}">
        <p14:creationId xmlns:p14="http://schemas.microsoft.com/office/powerpoint/2010/main" val="16570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Sharding</a:t>
            </a:r>
            <a:r>
              <a:rPr lang="fr-FR" dirty="0"/>
              <a:t> : </a:t>
            </a:r>
            <a:r>
              <a:rPr lang="fr-FR" dirty="0" err="1"/>
              <a:t>Clustered</a:t>
            </a:r>
            <a:r>
              <a:rPr lang="fr-FR" dirty="0"/>
              <a:t> index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24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25037"/>
            <a:ext cx="8167025" cy="222492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25037"/>
            <a:ext cx="8167025" cy="2224922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25037"/>
            <a:ext cx="8167025" cy="222492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25037"/>
            <a:ext cx="8167025" cy="222492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25037"/>
            <a:ext cx="8167025" cy="2224922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3678"/>
            <a:ext cx="8167024" cy="2232248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3678"/>
            <a:ext cx="8167024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97154" y="4375352"/>
            <a:ext cx="247375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Regroupement</a:t>
            </a:r>
            <a:endParaRPr lang="fr-FR" sz="2700" dirty="0">
              <a:solidFill>
                <a:schemeClr val="accent2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376793" y="4375352"/>
            <a:ext cx="189667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 dirty="0" err="1">
                <a:solidFill>
                  <a:schemeClr val="accent2"/>
                </a:solidFill>
              </a:rPr>
              <a:t>Dynamicité</a:t>
            </a:r>
            <a:endParaRPr lang="fr-FR" sz="2700" dirty="0">
              <a:solidFill>
                <a:schemeClr val="accent2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026" y="1715747"/>
            <a:ext cx="4014216" cy="1090422"/>
          </a:xfrm>
          <a:prstGeom prst="rect">
            <a:avLst/>
          </a:prstGeom>
        </p:spPr>
      </p:pic>
      <p:sp>
        <p:nvSpPr>
          <p:cNvPr id="12" name="Titr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Sharding</a:t>
            </a:r>
            <a:r>
              <a:rPr lang="fr-FR" dirty="0"/>
              <a:t> : </a:t>
            </a:r>
            <a:r>
              <a:rPr lang="fr-FR" dirty="0" err="1"/>
              <a:t>Clustered</a:t>
            </a:r>
            <a:r>
              <a:rPr lang="fr-FR" dirty="0"/>
              <a:t> </a:t>
            </a:r>
            <a:r>
              <a:rPr lang="fr-FR" dirty="0" smtClean="0"/>
              <a:t>index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3F3BAD-C446-B449-8DD8-64CCAD984DE3}" type="slidenum">
              <a:rPr lang="fr-FR" smtClean="0"/>
              <a:t>25</a:t>
            </a:fld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Solutions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645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err="1"/>
              <a:t>Sharding</a:t>
            </a:r>
            <a:r>
              <a:rPr lang="en-US" altLang="fr-FR" dirty="0"/>
              <a:t> : Consistent Hashing</a:t>
            </a:r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half" idx="1"/>
          </p:nvPr>
        </p:nvSpPr>
        <p:spPr>
          <a:xfrm>
            <a:off x="449262" y="1275605"/>
            <a:ext cx="7939161" cy="3464273"/>
          </a:xfrm>
        </p:spPr>
        <p:txBody>
          <a:bodyPr/>
          <a:lstStyle/>
          <a:p>
            <a:pPr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2400" b="1" dirty="0" err="1">
                <a:solidFill>
                  <a:srgbClr val="9E211E"/>
                </a:solidFill>
              </a:rPr>
              <a:t>Hachage</a:t>
            </a:r>
            <a:r>
              <a:rPr lang="en-US" altLang="fr-FR" sz="2400" b="1" dirty="0">
                <a:solidFill>
                  <a:srgbClr val="9E211E"/>
                </a:solidFill>
              </a:rPr>
              <a:t> </a:t>
            </a:r>
            <a:r>
              <a:rPr lang="en-US" altLang="fr-FR" sz="2400" b="1" dirty="0" err="1">
                <a:solidFill>
                  <a:srgbClr val="9E211E"/>
                </a:solidFill>
              </a:rPr>
              <a:t>cohérent</a:t>
            </a:r>
            <a:r>
              <a:rPr lang="en-US" altLang="fr-FR" sz="2400" b="1" dirty="0">
                <a:solidFill>
                  <a:srgbClr val="9E211E"/>
                </a:solidFill>
              </a:rPr>
              <a:t> (DHT</a:t>
            </a:r>
            <a:r>
              <a:rPr lang="en-US" altLang="fr-FR" sz="2400" b="1" baseline="30000" dirty="0">
                <a:solidFill>
                  <a:srgbClr val="9E211E"/>
                </a:solidFill>
              </a:rPr>
              <a:t>3</a:t>
            </a:r>
            <a:r>
              <a:rPr lang="en-US" altLang="fr-FR" sz="2400" b="1" dirty="0">
                <a:solidFill>
                  <a:srgbClr val="9E211E"/>
                </a:solidFill>
              </a:rPr>
              <a:t>)</a:t>
            </a:r>
          </a:p>
          <a:p>
            <a:pPr lvl="1"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/>
              <a:t>Technique de </a:t>
            </a:r>
            <a:r>
              <a:rPr lang="en-US" altLang="fr-FR" sz="1600" dirty="0" err="1"/>
              <a:t>hachage</a:t>
            </a:r>
            <a:r>
              <a:rPr lang="en-US" altLang="fr-FR" sz="1600" dirty="0"/>
              <a:t> unique et </a:t>
            </a:r>
            <a:r>
              <a:rPr lang="en-US" altLang="fr-FR" sz="1600" dirty="0" err="1"/>
              <a:t>dynamique</a:t>
            </a:r>
            <a:r>
              <a:rPr lang="en-US" altLang="fr-FR" sz="1600" dirty="0"/>
              <a:t> pour les </a:t>
            </a:r>
            <a:r>
              <a:rPr lang="en-US" altLang="fr-FR" sz="1600" dirty="0" err="1"/>
              <a:t>données</a:t>
            </a:r>
            <a:r>
              <a:rPr lang="en-US" altLang="fr-FR" sz="1600" dirty="0"/>
              <a:t> et les </a:t>
            </a:r>
            <a:r>
              <a:rPr lang="en-US" altLang="fr-FR" sz="1600" dirty="0" err="1" smtClean="0"/>
              <a:t>serveurs</a:t>
            </a:r>
            <a:endParaRPr lang="en-US" altLang="fr-FR" sz="1600" dirty="0" smtClean="0"/>
          </a:p>
          <a:p>
            <a:pPr lvl="1"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/>
              <a:t>Distribution </a:t>
            </a:r>
            <a:r>
              <a:rPr lang="en-US" altLang="fr-FR" sz="1600" dirty="0" err="1"/>
              <a:t>en</a:t>
            </a:r>
            <a:r>
              <a:rPr lang="en-US" altLang="fr-FR" sz="1600" dirty="0"/>
              <a:t> </a:t>
            </a:r>
            <a:r>
              <a:rPr lang="en-US" altLang="fr-FR" sz="1600" dirty="0" err="1"/>
              <a:t>anneau</a:t>
            </a:r>
            <a:r>
              <a:rPr lang="en-US" altLang="fr-FR" sz="1600" dirty="0"/>
              <a:t> (</a:t>
            </a:r>
            <a:r>
              <a:rPr lang="en-US" altLang="fr-FR" sz="1600" dirty="0" err="1" smtClean="0"/>
              <a:t>virtuel</a:t>
            </a:r>
            <a:r>
              <a:rPr lang="en-US" altLang="fr-FR" sz="1600" dirty="0" smtClean="0"/>
              <a:t>)</a:t>
            </a:r>
          </a:p>
          <a:p>
            <a:pPr lvl="1"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 smtClean="0"/>
              <a:t>Pas de </a:t>
            </a:r>
            <a:r>
              <a:rPr lang="en-US" altLang="fr-FR" sz="1600" dirty="0" err="1" smtClean="0"/>
              <a:t>serveur</a:t>
            </a:r>
            <a:r>
              <a:rPr lang="en-US" altLang="fr-FR" sz="1600" dirty="0" smtClean="0"/>
              <a:t> </a:t>
            </a:r>
            <a:r>
              <a:rPr lang="en-US" altLang="fr-FR" sz="1600" dirty="0" err="1" smtClean="0"/>
              <a:t>centralisé</a:t>
            </a:r>
            <a:r>
              <a:rPr lang="en-US" altLang="fr-FR" sz="1600" dirty="0" smtClean="0"/>
              <a:t> (tout </a:t>
            </a:r>
            <a:r>
              <a:rPr lang="en-US" altLang="fr-FR" sz="1600" dirty="0" err="1" smtClean="0"/>
              <a:t>est</a:t>
            </a:r>
            <a:r>
              <a:rPr lang="en-US" altLang="fr-FR" sz="1600" dirty="0" smtClean="0"/>
              <a:t> client/</a:t>
            </a:r>
            <a:r>
              <a:rPr lang="en-US" altLang="fr-FR" sz="1600" dirty="0" err="1" smtClean="0"/>
              <a:t>serveur</a:t>
            </a:r>
            <a:r>
              <a:rPr lang="en-US" altLang="fr-FR" sz="1600" dirty="0" smtClean="0"/>
              <a:t>)</a:t>
            </a:r>
          </a:p>
          <a:p>
            <a:pPr lvl="1" eaLnBrk="1" hangingPunct="1">
              <a:buClr>
                <a:srgbClr val="9F0000"/>
              </a:buClr>
              <a:buFont typeface="Georgia" charset="0"/>
              <a:buChar char="•"/>
            </a:pPr>
            <a:r>
              <a:rPr lang="en-US" altLang="fr-FR" sz="1600" dirty="0" err="1" smtClean="0"/>
              <a:t>Autonomie</a:t>
            </a:r>
            <a:r>
              <a:rPr lang="en-US" altLang="fr-FR" sz="1600" dirty="0" smtClean="0"/>
              <a:t> de </a:t>
            </a:r>
            <a:r>
              <a:rPr lang="en-US" altLang="fr-FR" sz="1600" dirty="0" err="1" smtClean="0"/>
              <a:t>gestion</a:t>
            </a:r>
            <a:endParaRPr lang="en-US" altLang="fr-FR" sz="1600" dirty="0" smtClean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26</a:t>
            </a:fld>
            <a:endParaRPr lang="fr-FR" alt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Une table de hachage </a:t>
            </a:r>
            <a:r>
              <a:rPr lang="fr-FR" dirty="0" smtClean="0"/>
              <a:t>distribuée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11188" y="4731990"/>
            <a:ext cx="63864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chemeClr val="bg1">
                    <a:lumMod val="75000"/>
                  </a:schemeClr>
                </a:solidFill>
              </a:rPr>
              <a:t>(3) Voir cours sur </a:t>
            </a:r>
            <a:r>
              <a:rPr lang="fr-FR" sz="1050" dirty="0" smtClean="0">
                <a:solidFill>
                  <a:schemeClr val="bg1">
                    <a:lumMod val="75000"/>
                  </a:schemeClr>
                </a:solidFill>
              </a:rPr>
              <a:t>DHT </a:t>
            </a:r>
            <a:r>
              <a:rPr lang="fr-FR" sz="1050" dirty="0" smtClean="0">
                <a:solidFill>
                  <a:schemeClr val="bg1">
                    <a:lumMod val="75000"/>
                  </a:schemeClr>
                </a:solidFill>
                <a:hlinkClick r:id="rId3"/>
              </a:rPr>
              <a:t>http</a:t>
            </a:r>
            <a:r>
              <a:rPr lang="fr-FR" sz="1050" dirty="0">
                <a:solidFill>
                  <a:schemeClr val="bg1">
                    <a:lumMod val="75000"/>
                  </a:schemeClr>
                </a:solidFill>
                <a:hlinkClick r:id="rId3"/>
              </a:rPr>
              <a:t>://chewbii.com/hachagedynamique/</a:t>
            </a:r>
            <a:r>
              <a:rPr lang="fr-FR" sz="1050" dirty="0">
                <a:solidFill>
                  <a:schemeClr val="bg1">
                    <a:lumMod val="75000"/>
                  </a:schemeClr>
                </a:solidFill>
              </a:rPr>
              <a:t>   (Vidéo 4 &amp; 5)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Sharding</a:t>
            </a:r>
            <a:r>
              <a:rPr lang="fr-FR" dirty="0" smtClean="0"/>
              <a:t> : Consistent </a:t>
            </a:r>
            <a:r>
              <a:rPr lang="fr-FR" dirty="0" err="1" smtClean="0"/>
              <a:t>Hashing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27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pic>
        <p:nvPicPr>
          <p:cNvPr id="6" name="Image 5"/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19" y="826075"/>
            <a:ext cx="5439383" cy="4154399"/>
          </a:xfrm>
          <a:prstGeom prst="rect">
            <a:avLst/>
          </a:prstGeom>
        </p:spPr>
      </p:pic>
      <p:pic>
        <p:nvPicPr>
          <p:cNvPr id="7" name="Image 6"/>
          <p:cNvPicPr preferRelativeResize="0"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238" y="836401"/>
            <a:ext cx="5439383" cy="4154399"/>
          </a:xfrm>
          <a:prstGeom prst="rect">
            <a:avLst/>
          </a:prstGeom>
        </p:spPr>
      </p:pic>
      <p:pic>
        <p:nvPicPr>
          <p:cNvPr id="8" name="Image 7"/>
          <p:cNvPicPr preferRelativeResize="0"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73" y="826064"/>
            <a:ext cx="5364030" cy="4154399"/>
          </a:xfrm>
          <a:prstGeom prst="rect">
            <a:avLst/>
          </a:prstGeom>
        </p:spPr>
      </p:pic>
      <p:pic>
        <p:nvPicPr>
          <p:cNvPr id="9" name="Image 8"/>
          <p:cNvPicPr preferRelativeResize="0"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73" y="826064"/>
            <a:ext cx="5364030" cy="4154399"/>
          </a:xfrm>
          <a:prstGeom prst="rect">
            <a:avLst/>
          </a:prstGeom>
        </p:spPr>
      </p:pic>
      <p:pic>
        <p:nvPicPr>
          <p:cNvPr id="10" name="Image 9"/>
          <p:cNvPicPr preferRelativeResize="0"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73" y="826064"/>
            <a:ext cx="5364030" cy="4154399"/>
          </a:xfrm>
          <a:prstGeom prst="rect">
            <a:avLst/>
          </a:prstGeom>
        </p:spPr>
      </p:pic>
      <p:pic>
        <p:nvPicPr>
          <p:cNvPr id="11" name="Image 10"/>
          <p:cNvPicPr preferRelativeResize="0"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73" y="826064"/>
            <a:ext cx="5364030" cy="4154399"/>
          </a:xfrm>
          <a:prstGeom prst="rect">
            <a:avLst/>
          </a:prstGeom>
        </p:spPr>
      </p:pic>
      <p:pic>
        <p:nvPicPr>
          <p:cNvPr id="12" name="Image 11"/>
          <p:cNvPicPr preferRelativeResize="0"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73" y="826064"/>
            <a:ext cx="5364030" cy="4154399"/>
          </a:xfrm>
          <a:prstGeom prst="rect">
            <a:avLst/>
          </a:prstGeom>
        </p:spPr>
      </p:pic>
      <p:pic>
        <p:nvPicPr>
          <p:cNvPr id="13" name="Image 12"/>
          <p:cNvPicPr preferRelativeResize="0"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73" y="826064"/>
            <a:ext cx="5364030" cy="415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356767" y="4377323"/>
            <a:ext cx="156966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 dirty="0">
                <a:solidFill>
                  <a:schemeClr val="accent2"/>
                </a:solidFill>
              </a:rPr>
              <a:t>Elasticité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5985899" y="4377323"/>
            <a:ext cx="2127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Auto-gestion</a:t>
            </a:r>
            <a:endParaRPr lang="fr-FR" sz="2700" dirty="0">
              <a:solidFill>
                <a:schemeClr val="accent2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99" y="1710104"/>
            <a:ext cx="2574533" cy="172574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157" y="1710104"/>
            <a:ext cx="1725742" cy="172574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024" y="1710104"/>
            <a:ext cx="1492533" cy="1725742"/>
          </a:xfrm>
          <a:prstGeom prst="rect">
            <a:avLst/>
          </a:prstGeom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Sharding</a:t>
            </a:r>
            <a:r>
              <a:rPr lang="fr-FR" dirty="0"/>
              <a:t> : Consistent </a:t>
            </a:r>
            <a:r>
              <a:rPr lang="fr-FR" dirty="0" err="1" smtClean="0"/>
              <a:t>Hashing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3F3BAD-C446-B449-8DD8-64CCAD984DE3}" type="slidenum">
              <a:rPr lang="fr-FR" smtClean="0"/>
              <a:t>28</a:t>
            </a:fld>
            <a:endParaRPr lang="fr-FR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solutions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089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NoSQL</a:t>
            </a:r>
            <a:r>
              <a:rPr lang="fr-FR" altLang="fr-FR" dirty="0"/>
              <a:t> : une grande famille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29</a:t>
            </a:fld>
            <a:endParaRPr lang="fr-FR" alt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4 familles</a:t>
            </a:r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4" t="10452" r="389" b="2339"/>
          <a:stretch/>
        </p:blipFill>
        <p:spPr>
          <a:xfrm>
            <a:off x="5004048" y="1275606"/>
            <a:ext cx="3351418" cy="192294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3626596"/>
            <a:ext cx="3995936" cy="110088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626596"/>
            <a:ext cx="3347864" cy="110539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1915302"/>
            <a:ext cx="3995936" cy="584440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2123728" y="1410330"/>
            <a:ext cx="1488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9E211E"/>
                </a:solidFill>
              </a:rPr>
              <a:t>Clés-Valeurs</a:t>
            </a:r>
            <a:endParaRPr lang="fr-FR" dirty="0">
              <a:solidFill>
                <a:srgbClr val="9E211E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715390" y="97593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9E211E"/>
                </a:solidFill>
              </a:rPr>
              <a:t>Orienté colonnes</a:t>
            </a:r>
            <a:endParaRPr lang="fr-FR" dirty="0">
              <a:solidFill>
                <a:srgbClr val="9E211E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1801011" y="3171830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9E211E"/>
                </a:solidFill>
              </a:rPr>
              <a:t>Orienté documents</a:t>
            </a:r>
            <a:endParaRPr lang="fr-FR" dirty="0">
              <a:solidFill>
                <a:srgbClr val="9E211E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902513" y="3199798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9E211E"/>
                </a:solidFill>
              </a:rPr>
              <a:t>Orienté graphes</a:t>
            </a:r>
            <a:endParaRPr lang="fr-FR" dirty="0">
              <a:solidFill>
                <a:srgbClr val="9E211E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err="1" smtClean="0"/>
              <a:t>Clé-Valeurs</a:t>
            </a:r>
            <a:endParaRPr lang="fr-FR" dirty="0"/>
          </a:p>
        </p:txBody>
      </p:sp>
      <p:sp>
        <p:nvSpPr>
          <p:cNvPr id="8" name="Text Box 2"/>
          <p:cNvSpPr txBox="1"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lIns="67500" tIns="35100" rIns="67500" bIns="35100" rtlCol="0">
            <a:noAutofit/>
          </a:bodyPr>
          <a:lstStyle>
            <a:lvl1pPr marL="361950" indent="-2555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marL="654050" indent="-2428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>
                <a:solidFill>
                  <a:srgbClr val="9E211E"/>
                </a:solidFill>
              </a:rPr>
              <a:t>“</a:t>
            </a:r>
            <a:r>
              <a:rPr lang="en-US" altLang="ja-JP" sz="1950" i="1" dirty="0" err="1">
                <a:solidFill>
                  <a:srgbClr val="9E211E"/>
                </a:solidFill>
              </a:rPr>
              <a:t>HashMap</a:t>
            </a:r>
            <a:r>
              <a:rPr lang="en-US" altLang="fr-FR" sz="1950" dirty="0">
                <a:solidFill>
                  <a:srgbClr val="9E211E"/>
                </a:solidFill>
              </a:rPr>
              <a:t>”</a:t>
            </a:r>
            <a:r>
              <a:rPr lang="en-US" altLang="ja-JP" sz="1950" dirty="0">
                <a:solidFill>
                  <a:srgbClr val="9E211E"/>
                </a:solidFill>
              </a:rPr>
              <a:t> </a:t>
            </a:r>
            <a:r>
              <a:rPr lang="en-US" altLang="ja-JP" sz="1950" dirty="0" err="1">
                <a:solidFill>
                  <a:srgbClr val="9E211E"/>
                </a:solidFill>
              </a:rPr>
              <a:t>distribué</a:t>
            </a:r>
            <a:endParaRPr lang="en-US" altLang="ja-JP" sz="1950" dirty="0">
              <a:solidFill>
                <a:srgbClr val="9E211E"/>
              </a:solidFill>
            </a:endParaRPr>
          </a:p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>
                <a:solidFill>
                  <a:srgbClr val="9E211E"/>
                </a:solidFill>
              </a:rPr>
              <a:t>Couple </a:t>
            </a:r>
            <a:r>
              <a:rPr lang="en-US" altLang="fr-FR" sz="1950" dirty="0" err="1">
                <a:solidFill>
                  <a:srgbClr val="9E211E"/>
                </a:solidFill>
              </a:rPr>
              <a:t>Clé+Valeur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Pas de </a:t>
            </a:r>
            <a:r>
              <a:rPr lang="en-US" altLang="fr-FR" sz="1650" dirty="0" err="1">
                <a:solidFill>
                  <a:srgbClr val="000000"/>
                </a:solidFill>
              </a:rPr>
              <a:t>schéma</a:t>
            </a:r>
            <a:r>
              <a:rPr lang="en-US" altLang="fr-FR" sz="1650" dirty="0">
                <a:solidFill>
                  <a:srgbClr val="000000"/>
                </a:solidFill>
              </a:rPr>
              <a:t> pour la </a:t>
            </a:r>
            <a:r>
              <a:rPr lang="en-US" altLang="fr-FR" sz="1650" dirty="0" err="1">
                <a:solidFill>
                  <a:srgbClr val="000000"/>
                </a:solidFill>
              </a:rPr>
              <a:t>valeur</a:t>
            </a:r>
            <a:r>
              <a:rPr lang="en-US" altLang="fr-FR" sz="1650" dirty="0">
                <a:solidFill>
                  <a:srgbClr val="000000"/>
                </a:solidFill>
              </a:rPr>
              <a:t> (</a:t>
            </a:r>
            <a:r>
              <a:rPr lang="en-US" altLang="fr-FR" sz="1650" dirty="0" err="1">
                <a:solidFill>
                  <a:srgbClr val="000000"/>
                </a:solidFill>
              </a:rPr>
              <a:t>chaine</a:t>
            </a:r>
            <a:r>
              <a:rPr lang="en-US" altLang="fr-FR" sz="1650" dirty="0">
                <a:solidFill>
                  <a:srgbClr val="000000"/>
                </a:solidFill>
              </a:rPr>
              <a:t>, objet, </a:t>
            </a:r>
            <a:r>
              <a:rPr lang="en-US" altLang="fr-FR" sz="1650" dirty="0" err="1">
                <a:solidFill>
                  <a:srgbClr val="000000"/>
                </a:solidFill>
              </a:rPr>
              <a:t>entier</a:t>
            </a:r>
            <a:r>
              <a:rPr lang="en-US" altLang="fr-FR" sz="1650" dirty="0">
                <a:solidFill>
                  <a:srgbClr val="000000"/>
                </a:solidFill>
              </a:rPr>
              <a:t>, </a:t>
            </a:r>
            <a:r>
              <a:rPr lang="en-US" altLang="fr-FR" sz="1650" dirty="0" err="1">
                <a:solidFill>
                  <a:srgbClr val="000000"/>
                </a:solidFill>
              </a:rPr>
              <a:t>binaires</a:t>
            </a:r>
            <a:r>
              <a:rPr lang="en-US" altLang="fr-FR" sz="1650" dirty="0">
                <a:solidFill>
                  <a:srgbClr val="000000"/>
                </a:solidFill>
              </a:rPr>
              <a:t>…) qui </a:t>
            </a:r>
            <a:r>
              <a:rPr lang="en-US" altLang="fr-FR" sz="1650" dirty="0" err="1">
                <a:solidFill>
                  <a:srgbClr val="000000"/>
                </a:solidFill>
              </a:rPr>
              <a:t>peut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donc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être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différente</a:t>
            </a:r>
            <a:r>
              <a:rPr lang="en-US" altLang="fr-FR" sz="1650" dirty="0">
                <a:solidFill>
                  <a:srgbClr val="000000"/>
                </a:solidFill>
              </a:rPr>
              <a:t> pour </a:t>
            </a:r>
            <a:r>
              <a:rPr lang="en-US" altLang="fr-FR" sz="1650" dirty="0" err="1">
                <a:solidFill>
                  <a:srgbClr val="000000"/>
                </a:solidFill>
              </a:rPr>
              <a:t>chaque</a:t>
            </a:r>
            <a:endParaRPr lang="en-US" altLang="fr-FR" sz="1650" dirty="0">
              <a:solidFill>
                <a:srgbClr val="000000"/>
              </a:solidFill>
            </a:endParaRPr>
          </a:p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 err="1">
                <a:solidFill>
                  <a:srgbClr val="9E211E"/>
                </a:solidFill>
              </a:rPr>
              <a:t>Conséquences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Pas de structure </a:t>
            </a:r>
            <a:r>
              <a:rPr lang="en-US" altLang="fr-FR" sz="1650" dirty="0" err="1">
                <a:solidFill>
                  <a:srgbClr val="000000"/>
                </a:solidFill>
              </a:rPr>
              <a:t>ni</a:t>
            </a:r>
            <a:r>
              <a:rPr lang="en-US" altLang="fr-FR" sz="1650" dirty="0">
                <a:solidFill>
                  <a:srgbClr val="000000"/>
                </a:solidFill>
              </a:rPr>
              <a:t> de types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Pas </a:t>
            </a:r>
            <a:r>
              <a:rPr lang="en-US" altLang="fr-FR" sz="1650" dirty="0" err="1">
                <a:solidFill>
                  <a:srgbClr val="000000"/>
                </a:solidFill>
              </a:rPr>
              <a:t>d’expressivité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d’interrogation</a:t>
            </a:r>
            <a:r>
              <a:rPr lang="en-US" altLang="fr-FR" sz="1650" dirty="0">
                <a:solidFill>
                  <a:srgbClr val="000000"/>
                </a:solidFill>
              </a:rPr>
              <a:t> (</a:t>
            </a:r>
            <a:r>
              <a:rPr lang="en-US" altLang="fr-FR" sz="1650" dirty="0" err="1">
                <a:solidFill>
                  <a:srgbClr val="000000"/>
                </a:solidFill>
              </a:rPr>
              <a:t>pré</a:t>
            </a:r>
            <a:r>
              <a:rPr lang="en-US" altLang="fr-FR" sz="1650" dirty="0">
                <a:solidFill>
                  <a:srgbClr val="000000"/>
                </a:solidFill>
              </a:rPr>
              <a:t>/post </a:t>
            </a:r>
            <a:r>
              <a:rPr lang="en-US" altLang="fr-FR" sz="1650" dirty="0" err="1">
                <a:solidFill>
                  <a:srgbClr val="000000"/>
                </a:solidFill>
              </a:rPr>
              <a:t>traitement</a:t>
            </a:r>
            <a:r>
              <a:rPr lang="en-US" altLang="fr-FR" sz="1650" dirty="0">
                <a:solidFill>
                  <a:srgbClr val="000000"/>
                </a:solidFill>
              </a:rPr>
              <a:t> pour </a:t>
            </a:r>
            <a:r>
              <a:rPr lang="en-US" altLang="fr-FR" sz="1650" dirty="0" err="1">
                <a:solidFill>
                  <a:srgbClr val="000000"/>
                </a:solidFill>
              </a:rPr>
              <a:t>manipuler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concrètement</a:t>
            </a:r>
            <a:r>
              <a:rPr lang="en-US" altLang="fr-FR" sz="1650" dirty="0">
                <a:solidFill>
                  <a:srgbClr val="000000"/>
                </a:solidFill>
              </a:rPr>
              <a:t> les </a:t>
            </a:r>
            <a:r>
              <a:rPr lang="en-US" altLang="fr-FR" sz="1650" dirty="0" err="1">
                <a:solidFill>
                  <a:srgbClr val="000000"/>
                </a:solidFill>
              </a:rPr>
              <a:t>données</a:t>
            </a:r>
            <a:r>
              <a:rPr lang="en-US" altLang="fr-FR" sz="1650" dirty="0" smtClean="0">
                <a:solidFill>
                  <a:srgbClr val="000000"/>
                </a:solidFill>
              </a:rPr>
              <a:t>)</a:t>
            </a:r>
            <a:endParaRPr lang="en-US" altLang="fr-FR" sz="1650" dirty="0">
              <a:solidFill>
                <a:srgbClr val="0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30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err="1" smtClean="0"/>
              <a:t>Clé-Valeurs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31</a:t>
            </a:fld>
            <a:endParaRPr lang="fr-FR" alt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11677" r="49591" b="43687"/>
          <a:stretch/>
        </p:blipFill>
        <p:spPr>
          <a:xfrm>
            <a:off x="1432932" y="1297306"/>
            <a:ext cx="6810808" cy="192251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83"/>
          <a:stretch/>
        </p:blipFill>
        <p:spPr>
          <a:xfrm>
            <a:off x="683567" y="3435846"/>
            <a:ext cx="8460433" cy="32521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2" r="68036"/>
          <a:stretch/>
        </p:blipFill>
        <p:spPr>
          <a:xfrm>
            <a:off x="683567" y="3758557"/>
            <a:ext cx="2736305" cy="104103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64" t="24632" r="45446"/>
          <a:stretch/>
        </p:blipFill>
        <p:spPr>
          <a:xfrm>
            <a:off x="3277212" y="3758557"/>
            <a:ext cx="2014868" cy="104103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54" t="24632" r="23035"/>
          <a:stretch/>
        </p:blipFill>
        <p:spPr>
          <a:xfrm>
            <a:off x="5220072" y="3758557"/>
            <a:ext cx="2048099" cy="104104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64" t="24632"/>
          <a:stretch/>
        </p:blipFill>
        <p:spPr>
          <a:xfrm>
            <a:off x="7234940" y="3758557"/>
            <a:ext cx="1976091" cy="104103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473798" y="1710152"/>
            <a:ext cx="6741000" cy="358564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473798" y="2068717"/>
            <a:ext cx="6741000" cy="356977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1473798" y="2425695"/>
            <a:ext cx="6741000" cy="353350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473798" y="2779045"/>
            <a:ext cx="6741000" cy="359117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467544" y="1703517"/>
            <a:ext cx="965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chemeClr val="tx1"/>
                </a:solidFill>
              </a:rPr>
              <a:t>Relationnel</a:t>
            </a:r>
            <a:endParaRPr lang="fr-FR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repeatCount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 autoUpdateAnimBg="0"/>
      <p:bldP spid="16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smtClean="0"/>
              <a:t>I - NoSQL </a:t>
            </a:r>
            <a:r>
              <a:rPr lang="en-US" altLang="fr-FR" dirty="0"/>
              <a:t>&amp; </a:t>
            </a:r>
            <a:r>
              <a:rPr lang="en-US" altLang="fr-FR" dirty="0" err="1" smtClean="0"/>
              <a:t>Clé-Valeurs</a:t>
            </a:r>
            <a:endParaRPr lang="fr-FR" dirty="0"/>
          </a:p>
        </p:txBody>
      </p:sp>
      <p:sp>
        <p:nvSpPr>
          <p:cNvPr id="10" name="Espace réservé du contenu 3"/>
          <p:cNvSpPr>
            <a:spLocks noGrp="1"/>
          </p:cNvSpPr>
          <p:nvPr>
            <p:ph sz="half" idx="1"/>
          </p:nvPr>
        </p:nvSpPr>
        <p:spPr>
          <a:xfrm>
            <a:off x="449262" y="1275605"/>
            <a:ext cx="8083177" cy="3464273"/>
          </a:xfrm>
        </p:spPr>
        <p:txBody>
          <a:bodyPr>
            <a:normAutofit/>
          </a:bodyPr>
          <a:lstStyle/>
          <a:p>
            <a:r>
              <a:rPr lang="fr-FR" sz="2400" dirty="0" smtClean="0"/>
              <a:t>CRUD</a:t>
            </a:r>
          </a:p>
          <a:p>
            <a:pPr lvl="1"/>
            <a:r>
              <a:rPr lang="fr-FR" sz="1400" dirty="0" smtClean="0"/>
              <a:t>CREATE ( </a:t>
            </a:r>
            <a:r>
              <a:rPr lang="fr-FR" sz="1400" b="1" dirty="0" smtClean="0">
                <a:solidFill>
                  <a:schemeClr val="accent1"/>
                </a:solidFill>
              </a:rPr>
              <a:t>clé</a:t>
            </a:r>
            <a:r>
              <a:rPr lang="fr-FR" sz="1400" dirty="0" smtClean="0"/>
              <a:t>, </a:t>
            </a:r>
            <a:r>
              <a:rPr lang="fr-FR" sz="1400" b="1" dirty="0" smtClean="0">
                <a:solidFill>
                  <a:schemeClr val="accent2"/>
                </a:solidFill>
              </a:rPr>
              <a:t>valeur </a:t>
            </a:r>
            <a:r>
              <a:rPr lang="fr-FR" sz="1400" dirty="0" smtClean="0"/>
              <a:t>)</a:t>
            </a:r>
          </a:p>
          <a:p>
            <a:pPr lvl="2"/>
            <a:r>
              <a:rPr lang="fr-FR" sz="1200" dirty="0" smtClean="0"/>
              <a:t>CREATE (</a:t>
            </a:r>
            <a:r>
              <a:rPr lang="fr-FR" sz="1200" b="1" dirty="0" smtClean="0">
                <a:solidFill>
                  <a:srgbClr val="0070C0"/>
                </a:solidFill>
              </a:rPr>
              <a:t>"Nicolas"</a:t>
            </a:r>
            <a:r>
              <a:rPr lang="fr-FR" sz="1200" dirty="0" smtClean="0"/>
              <a:t>, </a:t>
            </a:r>
            <a:r>
              <a:rPr lang="fr-FR" sz="1200" b="1" dirty="0" smtClean="0">
                <a:solidFill>
                  <a:schemeClr val="accent2"/>
                </a:solidFill>
              </a:rPr>
              <a:t>"type:'prof',lieu:'CNAM</a:t>
            </a:r>
            <a:r>
              <a:rPr lang="fr-FR" sz="1200" b="1" dirty="0">
                <a:solidFill>
                  <a:schemeClr val="accent2"/>
                </a:solidFill>
              </a:rPr>
              <a:t>'</a:t>
            </a:r>
            <a:r>
              <a:rPr lang="fr-FR" sz="1200" b="1" dirty="0" smtClean="0">
                <a:solidFill>
                  <a:schemeClr val="accent2"/>
                </a:solidFill>
              </a:rPr>
              <a:t>,</a:t>
            </a:r>
            <a:r>
              <a:rPr lang="fr-FR" sz="1200" b="1" dirty="0" err="1" smtClean="0">
                <a:solidFill>
                  <a:schemeClr val="accent2"/>
                </a:solidFill>
              </a:rPr>
              <a:t>spec</a:t>
            </a:r>
            <a:r>
              <a:rPr lang="fr-FR" sz="1200" b="1" dirty="0" smtClean="0">
                <a:solidFill>
                  <a:schemeClr val="accent2"/>
                </a:solidFill>
              </a:rPr>
              <a:t>:'BDD,</a:t>
            </a:r>
            <a:r>
              <a:rPr lang="fr-FR" sz="1200" b="1" dirty="0" err="1" smtClean="0">
                <a:solidFill>
                  <a:schemeClr val="accent2"/>
                </a:solidFill>
              </a:rPr>
              <a:t>NoSQL</a:t>
            </a:r>
            <a:r>
              <a:rPr lang="fr-FR" sz="1200" b="1" dirty="0">
                <a:solidFill>
                  <a:schemeClr val="accent2"/>
                </a:solidFill>
              </a:rPr>
              <a:t>'</a:t>
            </a:r>
            <a:r>
              <a:rPr lang="fr-FR" sz="1200" b="1" dirty="0" smtClean="0">
                <a:solidFill>
                  <a:schemeClr val="accent2"/>
                </a:solidFill>
              </a:rPr>
              <a:t>,</a:t>
            </a:r>
            <a:r>
              <a:rPr lang="fr-FR" sz="1200" b="1" dirty="0" err="1" smtClean="0">
                <a:solidFill>
                  <a:schemeClr val="accent2"/>
                </a:solidFill>
              </a:rPr>
              <a:t>interets</a:t>
            </a:r>
            <a:r>
              <a:rPr lang="fr-FR" sz="1200" b="1" dirty="0" smtClean="0">
                <a:solidFill>
                  <a:schemeClr val="accent2"/>
                </a:solidFill>
              </a:rPr>
              <a:t>:'</a:t>
            </a:r>
            <a:r>
              <a:rPr lang="fr-FR" sz="1200" b="1" dirty="0" err="1" smtClean="0">
                <a:solidFill>
                  <a:schemeClr val="accent2"/>
                </a:solidFill>
              </a:rPr>
              <a:t>BZH,Star</a:t>
            </a:r>
            <a:r>
              <a:rPr lang="fr-FR" sz="1200" b="1" dirty="0" smtClean="0">
                <a:solidFill>
                  <a:schemeClr val="accent2"/>
                </a:solidFill>
              </a:rPr>
              <a:t> </a:t>
            </a:r>
            <a:r>
              <a:rPr lang="fr-FR" sz="1200" b="1" dirty="0" err="1" smtClean="0">
                <a:solidFill>
                  <a:schemeClr val="accent2"/>
                </a:solidFill>
              </a:rPr>
              <a:t>Wars</a:t>
            </a:r>
            <a:r>
              <a:rPr lang="fr-FR" sz="1200" b="1" dirty="0" smtClean="0">
                <a:solidFill>
                  <a:schemeClr val="accent2"/>
                </a:solidFill>
              </a:rPr>
              <a:t>' "</a:t>
            </a:r>
            <a:r>
              <a:rPr lang="fr-FR" sz="1200" dirty="0" smtClean="0"/>
              <a:t>) </a:t>
            </a:r>
            <a:r>
              <a:rPr lang="fr-FR" sz="1200" b="1" dirty="0" smtClean="0">
                <a:solidFill>
                  <a:srgbClr val="0070C0"/>
                </a:solidFill>
                <a:sym typeface="Wingdings"/>
              </a:rPr>
              <a:t> OK</a:t>
            </a:r>
            <a:endParaRPr lang="fr-FR" sz="1200" dirty="0" smtClean="0"/>
          </a:p>
          <a:p>
            <a:pPr lvl="1"/>
            <a:r>
              <a:rPr lang="fr-FR" sz="1400" dirty="0" smtClean="0"/>
              <a:t>READ( </a:t>
            </a:r>
            <a:r>
              <a:rPr lang="fr-FR" sz="1400" b="1" dirty="0" smtClean="0">
                <a:solidFill>
                  <a:schemeClr val="accent1"/>
                </a:solidFill>
              </a:rPr>
              <a:t>clé </a:t>
            </a:r>
            <a:r>
              <a:rPr lang="fr-FR" sz="1400" dirty="0" smtClean="0"/>
              <a:t>)</a:t>
            </a:r>
            <a:endParaRPr lang="fr-FR" sz="1400" dirty="0"/>
          </a:p>
          <a:p>
            <a:pPr lvl="2"/>
            <a:r>
              <a:rPr lang="fr-FR" sz="1200" dirty="0" smtClean="0"/>
              <a:t>READ(</a:t>
            </a:r>
            <a:r>
              <a:rPr lang="fr-FR" sz="1200" b="1" dirty="0" smtClean="0">
                <a:solidFill>
                  <a:srgbClr val="0070C0"/>
                </a:solidFill>
              </a:rPr>
              <a:t>"</a:t>
            </a:r>
            <a:r>
              <a:rPr lang="fr-FR" sz="1200" b="1" dirty="0">
                <a:solidFill>
                  <a:srgbClr val="0070C0"/>
                </a:solidFill>
              </a:rPr>
              <a:t>Nicolas</a:t>
            </a:r>
            <a:r>
              <a:rPr lang="fr-FR" sz="1200" b="1" dirty="0" smtClean="0">
                <a:solidFill>
                  <a:srgbClr val="0070C0"/>
                </a:solidFill>
              </a:rPr>
              <a:t>")   </a:t>
            </a:r>
            <a:r>
              <a:rPr lang="fr-FR" sz="1200" b="1" dirty="0" smtClean="0">
                <a:solidFill>
                  <a:srgbClr val="0070C0"/>
                </a:solidFill>
                <a:sym typeface="Wingdings"/>
              </a:rPr>
              <a:t> </a:t>
            </a:r>
            <a:r>
              <a:rPr lang="fr-FR" sz="1200" dirty="0" smtClean="0"/>
              <a:t> </a:t>
            </a:r>
            <a:r>
              <a:rPr lang="fr-FR" sz="1200" b="1" dirty="0">
                <a:solidFill>
                  <a:schemeClr val="accent2"/>
                </a:solidFill>
              </a:rPr>
              <a:t>"type:'prof',lieu:'CNAM',</a:t>
            </a:r>
            <a:r>
              <a:rPr lang="fr-FR" sz="1200" b="1" dirty="0" err="1">
                <a:solidFill>
                  <a:schemeClr val="accent2"/>
                </a:solidFill>
              </a:rPr>
              <a:t>spec</a:t>
            </a:r>
            <a:r>
              <a:rPr lang="fr-FR" sz="1200" b="1" dirty="0">
                <a:solidFill>
                  <a:schemeClr val="accent2"/>
                </a:solidFill>
              </a:rPr>
              <a:t>:'BDD,</a:t>
            </a:r>
            <a:r>
              <a:rPr lang="fr-FR" sz="1200" b="1" dirty="0" err="1">
                <a:solidFill>
                  <a:schemeClr val="accent2"/>
                </a:solidFill>
              </a:rPr>
              <a:t>NoSQL</a:t>
            </a:r>
            <a:r>
              <a:rPr lang="fr-FR" sz="1200" b="1" dirty="0">
                <a:solidFill>
                  <a:schemeClr val="accent2"/>
                </a:solidFill>
              </a:rPr>
              <a:t>',</a:t>
            </a:r>
            <a:r>
              <a:rPr lang="fr-FR" sz="1200" b="1" dirty="0" err="1">
                <a:solidFill>
                  <a:schemeClr val="accent2"/>
                </a:solidFill>
              </a:rPr>
              <a:t>interets</a:t>
            </a:r>
            <a:r>
              <a:rPr lang="fr-FR" sz="1200" b="1" dirty="0">
                <a:solidFill>
                  <a:schemeClr val="accent2"/>
                </a:solidFill>
              </a:rPr>
              <a:t>:'</a:t>
            </a:r>
            <a:r>
              <a:rPr lang="fr-FR" sz="1200" b="1" dirty="0" err="1">
                <a:solidFill>
                  <a:schemeClr val="accent2"/>
                </a:solidFill>
              </a:rPr>
              <a:t>BZH,Star</a:t>
            </a:r>
            <a:r>
              <a:rPr lang="fr-FR" sz="1200" b="1" dirty="0">
                <a:solidFill>
                  <a:schemeClr val="accent2"/>
                </a:solidFill>
              </a:rPr>
              <a:t> </a:t>
            </a:r>
            <a:r>
              <a:rPr lang="fr-FR" sz="1200" b="1" dirty="0" err="1">
                <a:solidFill>
                  <a:schemeClr val="accent2"/>
                </a:solidFill>
              </a:rPr>
              <a:t>Wars</a:t>
            </a:r>
            <a:r>
              <a:rPr lang="fr-FR" sz="1200" b="1" dirty="0">
                <a:solidFill>
                  <a:schemeClr val="accent2"/>
                </a:solidFill>
              </a:rPr>
              <a:t>' </a:t>
            </a:r>
            <a:r>
              <a:rPr lang="fr-FR" sz="1200" b="1" dirty="0" smtClean="0">
                <a:solidFill>
                  <a:schemeClr val="accent2"/>
                </a:solidFill>
              </a:rPr>
              <a:t>"</a:t>
            </a:r>
          </a:p>
          <a:p>
            <a:pPr lvl="1"/>
            <a:r>
              <a:rPr lang="fr-FR" sz="1400" dirty="0" smtClean="0"/>
              <a:t>UPDATE( </a:t>
            </a:r>
            <a:r>
              <a:rPr lang="fr-FR" sz="1400" b="1" dirty="0">
                <a:solidFill>
                  <a:schemeClr val="accent1"/>
                </a:solidFill>
              </a:rPr>
              <a:t>clé</a:t>
            </a:r>
            <a:r>
              <a:rPr lang="fr-FR" sz="1400" dirty="0"/>
              <a:t>, </a:t>
            </a:r>
            <a:r>
              <a:rPr lang="fr-FR" sz="1400" b="1" dirty="0">
                <a:solidFill>
                  <a:schemeClr val="accent2"/>
                </a:solidFill>
              </a:rPr>
              <a:t>valeur </a:t>
            </a:r>
            <a:r>
              <a:rPr lang="fr-FR" sz="1400" dirty="0"/>
              <a:t>)</a:t>
            </a:r>
          </a:p>
          <a:p>
            <a:pPr lvl="2"/>
            <a:r>
              <a:rPr lang="fr-FR" sz="1200" dirty="0" smtClean="0"/>
              <a:t>UPDATE(</a:t>
            </a:r>
            <a:r>
              <a:rPr lang="fr-FR" sz="1200" b="1" dirty="0" smtClean="0">
                <a:solidFill>
                  <a:srgbClr val="0070C0"/>
                </a:solidFill>
              </a:rPr>
              <a:t>"</a:t>
            </a:r>
            <a:r>
              <a:rPr lang="fr-FR" sz="1200" b="1" dirty="0">
                <a:solidFill>
                  <a:srgbClr val="0070C0"/>
                </a:solidFill>
              </a:rPr>
              <a:t>Nicolas"</a:t>
            </a:r>
            <a:r>
              <a:rPr lang="fr-FR" sz="1200" dirty="0"/>
              <a:t>, </a:t>
            </a:r>
            <a:r>
              <a:rPr lang="fr-FR" sz="1200" b="1" dirty="0">
                <a:solidFill>
                  <a:schemeClr val="accent2"/>
                </a:solidFill>
              </a:rPr>
              <a:t>"type:'prof',lieu:</a:t>
            </a:r>
            <a:r>
              <a:rPr lang="fr-FR" sz="1200" b="1" dirty="0" smtClean="0">
                <a:solidFill>
                  <a:schemeClr val="accent2"/>
                </a:solidFill>
              </a:rPr>
              <a:t>'CNAM,CS',</a:t>
            </a:r>
            <a:r>
              <a:rPr lang="fr-FR" sz="1200" b="1" dirty="0" err="1">
                <a:solidFill>
                  <a:schemeClr val="accent2"/>
                </a:solidFill>
              </a:rPr>
              <a:t>spec</a:t>
            </a:r>
            <a:r>
              <a:rPr lang="fr-FR" sz="1200" b="1" dirty="0">
                <a:solidFill>
                  <a:schemeClr val="accent2"/>
                </a:solidFill>
              </a:rPr>
              <a:t>:'</a:t>
            </a:r>
            <a:r>
              <a:rPr lang="fr-FR" sz="1200" b="1" dirty="0" err="1">
                <a:solidFill>
                  <a:schemeClr val="accent2"/>
                </a:solidFill>
              </a:rPr>
              <a:t>BDD,NoSQL</a:t>
            </a:r>
            <a:r>
              <a:rPr lang="fr-FR" sz="1200" b="1" dirty="0" smtClean="0">
                <a:solidFill>
                  <a:schemeClr val="accent2"/>
                </a:solidFill>
              </a:rPr>
              <a:t>' </a:t>
            </a:r>
            <a:r>
              <a:rPr lang="fr-FR" sz="1200" b="1" dirty="0">
                <a:solidFill>
                  <a:schemeClr val="accent2"/>
                </a:solidFill>
              </a:rPr>
              <a:t>"</a:t>
            </a:r>
            <a:r>
              <a:rPr lang="fr-FR" sz="1200" dirty="0"/>
              <a:t>) </a:t>
            </a:r>
            <a:r>
              <a:rPr lang="fr-FR" sz="1200" b="1" dirty="0">
                <a:solidFill>
                  <a:srgbClr val="0070C0"/>
                </a:solidFill>
                <a:sym typeface="Wingdings"/>
              </a:rPr>
              <a:t> </a:t>
            </a:r>
            <a:r>
              <a:rPr lang="fr-FR" sz="1200" b="1" dirty="0" smtClean="0">
                <a:solidFill>
                  <a:srgbClr val="0070C0"/>
                </a:solidFill>
                <a:sym typeface="Wingdings"/>
              </a:rPr>
              <a:t>OK</a:t>
            </a:r>
          </a:p>
          <a:p>
            <a:pPr lvl="1"/>
            <a:r>
              <a:rPr lang="fr-FR" sz="1400" dirty="0" smtClean="0"/>
              <a:t>DELETE( </a:t>
            </a:r>
            <a:r>
              <a:rPr lang="fr-FR" sz="1400" b="1" dirty="0">
                <a:solidFill>
                  <a:schemeClr val="accent1"/>
                </a:solidFill>
              </a:rPr>
              <a:t>clé </a:t>
            </a:r>
            <a:r>
              <a:rPr lang="fr-FR" sz="1400" dirty="0"/>
              <a:t>)</a:t>
            </a:r>
          </a:p>
          <a:p>
            <a:pPr lvl="2"/>
            <a:r>
              <a:rPr lang="fr-FR" sz="1200" dirty="0" smtClean="0"/>
              <a:t>DELETE(</a:t>
            </a:r>
            <a:r>
              <a:rPr lang="fr-FR" sz="1200" b="1" dirty="0" smtClean="0">
                <a:solidFill>
                  <a:srgbClr val="0070C0"/>
                </a:solidFill>
              </a:rPr>
              <a:t>"</a:t>
            </a:r>
            <a:r>
              <a:rPr lang="fr-FR" sz="1200" b="1" dirty="0">
                <a:solidFill>
                  <a:srgbClr val="0070C0"/>
                </a:solidFill>
              </a:rPr>
              <a:t>Nicolas")   </a:t>
            </a:r>
            <a:r>
              <a:rPr lang="fr-FR" sz="1200" b="1" dirty="0" smtClean="0">
                <a:solidFill>
                  <a:srgbClr val="0070C0"/>
                </a:solidFill>
                <a:sym typeface="Wingdings"/>
              </a:rPr>
              <a:t> OK</a:t>
            </a:r>
            <a:endParaRPr lang="fr-FR" sz="1200" b="1" dirty="0">
              <a:solidFill>
                <a:schemeClr val="accent2"/>
              </a:solidFill>
            </a:endParaRPr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32</a:t>
            </a:fld>
            <a:endParaRPr lang="fr-FR" alt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interrogation</a:t>
            </a:r>
            <a:endParaRPr lang="fr-FR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671837"/>
            <a:ext cx="7488832" cy="129561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47665" y="3995875"/>
            <a:ext cx="6696744" cy="971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4" t="24632" r="68036"/>
          <a:stretch/>
        </p:blipFill>
        <p:spPr>
          <a:xfrm>
            <a:off x="1547664" y="3979366"/>
            <a:ext cx="1604168" cy="9880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81995" y="4769877"/>
            <a:ext cx="1335505" cy="167576"/>
          </a:xfrm>
          <a:prstGeom prst="rect">
            <a:avLst/>
          </a:prstGeom>
          <a:solidFill>
            <a:srgbClr val="FDF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7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7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tp://www.unixstickers.com/image/cache/data/stickers/redis/redis_bumper.sh-600x600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1" r="16486"/>
          <a:stretch/>
        </p:blipFill>
        <p:spPr bwMode="auto">
          <a:xfrm>
            <a:off x="899592" y="1291465"/>
            <a:ext cx="1500809" cy="221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mazon SimpleDB, Amazon SimpleDB,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1" r="17796"/>
          <a:stretch/>
        </p:blipFill>
        <p:spPr bwMode="auto">
          <a:xfrm>
            <a:off x="2899193" y="914400"/>
            <a:ext cx="1639958" cy="297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1007127" y="4295776"/>
            <a:ext cx="15826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Efficacité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3965015" y="4295776"/>
            <a:ext cx="41665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 dirty="0">
                <a:solidFill>
                  <a:schemeClr val="accent2"/>
                </a:solidFill>
              </a:rPr>
              <a:t>Facilité de mise en œuvre</a:t>
            </a:r>
          </a:p>
        </p:txBody>
      </p:sp>
      <p:grpSp>
        <p:nvGrpSpPr>
          <p:cNvPr id="2" name="Grouper 1"/>
          <p:cNvGrpSpPr/>
          <p:nvPr/>
        </p:nvGrpSpPr>
        <p:grpSpPr>
          <a:xfrm>
            <a:off x="5037943" y="2128101"/>
            <a:ext cx="1760042" cy="671660"/>
            <a:chOff x="5486953" y="2865748"/>
            <a:chExt cx="2346722" cy="895547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346" r="32136" b="33756"/>
            <a:stretch/>
          </p:blipFill>
          <p:spPr>
            <a:xfrm>
              <a:off x="5486953" y="2865748"/>
              <a:ext cx="2346722" cy="895547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091" t="44935" b="43888"/>
            <a:stretch/>
          </p:blipFill>
          <p:spPr>
            <a:xfrm>
              <a:off x="6410227" y="3374796"/>
              <a:ext cx="1103411" cy="386499"/>
            </a:xfrm>
            <a:prstGeom prst="rect">
              <a:avLst/>
            </a:prstGeom>
          </p:spPr>
        </p:pic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776" y="1600200"/>
            <a:ext cx="1607060" cy="1603382"/>
          </a:xfrm>
          <a:prstGeom prst="rect">
            <a:avLst/>
          </a:prstGeom>
        </p:spPr>
      </p:pic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 - </a:t>
            </a:r>
            <a:r>
              <a:rPr lang="en-US" altLang="fr-FR" dirty="0" smtClean="0"/>
              <a:t>NoSQL </a:t>
            </a:r>
            <a:r>
              <a:rPr lang="en-US" altLang="fr-FR" dirty="0"/>
              <a:t>&amp; </a:t>
            </a:r>
            <a:r>
              <a:rPr lang="en-US" altLang="fr-FR" dirty="0" err="1" smtClean="0"/>
              <a:t>Clé-Valeurs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33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solutions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715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 - NoSQL &amp; </a:t>
            </a:r>
            <a:r>
              <a:rPr lang="en-US" altLang="fr-FR" dirty="0" err="1" smtClean="0"/>
              <a:t>Clé-Valeurs</a:t>
            </a:r>
            <a:endParaRPr lang="fr-FR" dirty="0"/>
          </a:p>
        </p:txBody>
      </p:sp>
      <p:sp>
        <p:nvSpPr>
          <p:cNvPr id="73731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Exemples d’utilisation: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Logs de sites Web ou d’application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Profils utilisateurs de site Web/réseaux sociaux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Données de capteurs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Cache Web ou BD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Paniers sur sites de e-commerce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…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34</a:t>
            </a:fld>
            <a:endParaRPr lang="fr-FR" altLang="fr-FR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applications</a:t>
            </a:r>
            <a:endParaRPr 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500" tIns="35100" rIns="67500" bIns="35100"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II - NoSQL &amp; </a:t>
            </a:r>
            <a:r>
              <a:rPr lang="en-US" altLang="fr-FR" dirty="0" err="1" smtClean="0"/>
              <a:t>Colonnes</a:t>
            </a:r>
            <a:endParaRPr lang="fr-FR" dirty="0"/>
          </a:p>
        </p:txBody>
      </p:sp>
      <p:sp>
        <p:nvSpPr>
          <p:cNvPr id="8" name="Text Box 2"/>
          <p:cNvSpPr txBox="1"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lIns="67500" tIns="35100" rIns="67500" bIns="35100" rtlCol="0">
            <a:noAutofit/>
          </a:bodyPr>
          <a:lstStyle>
            <a:lvl1pPr marL="361950" indent="-2555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marL="654050" indent="-2428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 err="1">
                <a:solidFill>
                  <a:srgbClr val="9E211E"/>
                </a:solidFill>
              </a:rPr>
              <a:t>Stockage</a:t>
            </a:r>
            <a:r>
              <a:rPr lang="en-US" altLang="fr-FR" sz="1950" dirty="0">
                <a:solidFill>
                  <a:srgbClr val="9E211E"/>
                </a:solidFill>
              </a:rPr>
              <a:t> des </a:t>
            </a:r>
            <a:r>
              <a:rPr lang="en-US" altLang="fr-FR" sz="1950" dirty="0" err="1">
                <a:solidFill>
                  <a:srgbClr val="9E211E"/>
                </a:solidFill>
              </a:rPr>
              <a:t>données</a:t>
            </a:r>
            <a:r>
              <a:rPr lang="en-US" altLang="fr-FR" sz="1950" dirty="0">
                <a:solidFill>
                  <a:srgbClr val="9E211E"/>
                </a:solidFill>
              </a:rPr>
              <a:t> par </a:t>
            </a:r>
            <a:r>
              <a:rPr lang="en-US" altLang="fr-FR" sz="1950" dirty="0" err="1">
                <a:solidFill>
                  <a:srgbClr val="9E211E"/>
                </a:solidFill>
              </a:rPr>
              <a:t>colonnes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SGBD : tuples (</a:t>
            </a:r>
            <a:r>
              <a:rPr lang="en-US" altLang="fr-FR" sz="1650" dirty="0" err="1">
                <a:solidFill>
                  <a:srgbClr val="000000"/>
                </a:solidFill>
              </a:rPr>
              <a:t>lignes</a:t>
            </a:r>
            <a:r>
              <a:rPr lang="en-US" altLang="fr-FR" sz="1650" dirty="0">
                <a:solidFill>
                  <a:srgbClr val="000000"/>
                </a:solidFill>
              </a:rPr>
              <a:t>)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None/>
              <a:defRPr/>
            </a:pPr>
            <a:endParaRPr lang="en-US" altLang="fr-FR" sz="1650" dirty="0">
              <a:solidFill>
                <a:srgbClr val="000000"/>
              </a:solidFill>
            </a:endParaRPr>
          </a:p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>
                <a:solidFill>
                  <a:srgbClr val="9E211E"/>
                </a:solidFill>
              </a:rPr>
              <a:t>Facile </a:t>
            </a:r>
            <a:r>
              <a:rPr lang="en-US" altLang="fr-FR" sz="1950" dirty="0" err="1">
                <a:solidFill>
                  <a:srgbClr val="9E211E"/>
                </a:solidFill>
              </a:rPr>
              <a:t>d’ajouter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une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colonne</a:t>
            </a:r>
            <a:r>
              <a:rPr lang="en-US" altLang="fr-FR" sz="1950" dirty="0">
                <a:solidFill>
                  <a:srgbClr val="9E211E"/>
                </a:solidFill>
              </a:rPr>
              <a:t> (pas </a:t>
            </a:r>
            <a:r>
              <a:rPr lang="en-US" altLang="fr-FR" sz="1950" dirty="0" err="1">
                <a:solidFill>
                  <a:srgbClr val="9E211E"/>
                </a:solidFill>
              </a:rPr>
              <a:t>une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ligne</a:t>
            </a:r>
            <a:r>
              <a:rPr lang="en-US" altLang="fr-FR" sz="1950" dirty="0">
                <a:solidFill>
                  <a:srgbClr val="9E211E"/>
                </a:solidFill>
              </a:rPr>
              <a:t>!)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Schéma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peut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être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dynamique</a:t>
            </a:r>
            <a:r>
              <a:rPr lang="en-US" altLang="fr-FR" sz="1650" dirty="0">
                <a:solidFill>
                  <a:srgbClr val="000000"/>
                </a:solidFill>
              </a:rPr>
              <a:t> (d’un tuple </a:t>
            </a:r>
            <a:r>
              <a:rPr lang="en-US" altLang="fr-FR" sz="1650" dirty="0" err="1">
                <a:solidFill>
                  <a:srgbClr val="000000"/>
                </a:solidFill>
              </a:rPr>
              <a:t>à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l’autre</a:t>
            </a:r>
            <a:r>
              <a:rPr lang="en-US" altLang="fr-FR" sz="1650" dirty="0" smtClean="0">
                <a:solidFill>
                  <a:srgbClr val="000000"/>
                </a:solidFill>
              </a:rPr>
              <a:t>)</a:t>
            </a:r>
            <a:endParaRPr lang="en-US" altLang="fr-FR" sz="1650" dirty="0">
              <a:solidFill>
                <a:srgbClr val="0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35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n-US" altLang="fr-FR" dirty="0"/>
              <a:t>II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err="1" smtClean="0"/>
              <a:t>Colonnes</a:t>
            </a:r>
            <a:endParaRPr lang="en-US" alt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36</a:t>
            </a:fld>
            <a:endParaRPr lang="fr-FR" alt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8" t="9418" r="36710" b="33088"/>
          <a:stretch/>
        </p:blipFill>
        <p:spPr>
          <a:xfrm>
            <a:off x="1299522" y="2511827"/>
            <a:ext cx="1185251" cy="164409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11677" r="49591" b="43687"/>
          <a:stretch/>
        </p:blipFill>
        <p:spPr>
          <a:xfrm>
            <a:off x="1835696" y="843558"/>
            <a:ext cx="6051618" cy="170821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90" t="9418" r="25546" b="25534"/>
          <a:stretch/>
        </p:blipFill>
        <p:spPr>
          <a:xfrm>
            <a:off x="3126429" y="2511827"/>
            <a:ext cx="1115529" cy="186012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54" t="9418" r="12498" b="4055"/>
          <a:stretch/>
        </p:blipFill>
        <p:spPr>
          <a:xfrm>
            <a:off x="4932040" y="2511827"/>
            <a:ext cx="1303776" cy="247433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2" t="9418" r="715" b="7907"/>
          <a:stretch/>
        </p:blipFill>
        <p:spPr>
          <a:xfrm>
            <a:off x="6924745" y="2511827"/>
            <a:ext cx="1177317" cy="236417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484773" y="1214984"/>
            <a:ext cx="956150" cy="1242596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3440923" y="1201422"/>
            <a:ext cx="1214700" cy="1260735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4655623" y="1203598"/>
            <a:ext cx="1886414" cy="1253981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6542037" y="1207028"/>
            <a:ext cx="1332226" cy="1297457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II - NoSQL &amp; </a:t>
            </a:r>
            <a:r>
              <a:rPr lang="en-US" altLang="fr-FR" dirty="0" err="1"/>
              <a:t>Colonnes</a:t>
            </a:r>
            <a:endParaRPr lang="fr-FR" dirty="0"/>
          </a:p>
        </p:txBody>
      </p:sp>
      <p:sp>
        <p:nvSpPr>
          <p:cNvPr id="14" name="Espace réservé du contenu 1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1800" dirty="0"/>
              <a:t>Requêtes sur les colonnes</a:t>
            </a:r>
          </a:p>
          <a:p>
            <a:pPr lvl="1"/>
            <a:r>
              <a:rPr lang="fr-FR" sz="1600" dirty="0"/>
              <a:t>Combien de </a:t>
            </a:r>
            <a:r>
              <a:rPr lang="fr-FR" sz="1600" b="1" dirty="0">
                <a:solidFill>
                  <a:schemeClr val="accent2"/>
                </a:solidFill>
              </a:rPr>
              <a:t>professeurs </a:t>
            </a:r>
            <a:r>
              <a:rPr lang="fr-FR" sz="1600" b="1" dirty="0">
                <a:solidFill>
                  <a:schemeClr val="accent1"/>
                </a:solidFill>
              </a:rPr>
              <a:t>(type)</a:t>
            </a:r>
            <a:r>
              <a:rPr lang="fr-FR" sz="1600" dirty="0"/>
              <a:t> à </a:t>
            </a:r>
            <a:r>
              <a:rPr lang="fr-FR" sz="1600" b="1" dirty="0" err="1">
                <a:solidFill>
                  <a:schemeClr val="accent2"/>
                </a:solidFill>
              </a:rPr>
              <a:t>CentraleSupelec</a:t>
            </a:r>
            <a:r>
              <a:rPr lang="fr-FR" sz="1600" b="1" dirty="0">
                <a:solidFill>
                  <a:schemeClr val="accent2"/>
                </a:solidFill>
              </a:rPr>
              <a:t> </a:t>
            </a:r>
            <a:r>
              <a:rPr lang="fr-FR" sz="1600" b="1" dirty="0">
                <a:solidFill>
                  <a:schemeClr val="accent1"/>
                </a:solidFill>
              </a:rPr>
              <a:t>(lieu)</a:t>
            </a:r>
            <a:r>
              <a:rPr lang="fr-FR" sz="1600" dirty="0"/>
              <a:t> </a:t>
            </a:r>
          </a:p>
          <a:p>
            <a:pPr lvl="1"/>
            <a:endParaRPr lang="fr-FR" sz="1600" dirty="0"/>
          </a:p>
          <a:p>
            <a:endParaRPr lang="fr-FR" sz="1100" dirty="0"/>
          </a:p>
        </p:txBody>
      </p:sp>
      <p:sp>
        <p:nvSpPr>
          <p:cNvPr id="2" name="Espace réservé du contenu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37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interrogation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28" t="9418" r="36710" b="25936"/>
          <a:stretch/>
        </p:blipFill>
        <p:spPr>
          <a:xfrm>
            <a:off x="1259632" y="2275051"/>
            <a:ext cx="1431054" cy="246482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90" t="9417" r="25546" b="43368"/>
          <a:stretch/>
        </p:blipFill>
        <p:spPr>
          <a:xfrm>
            <a:off x="3110204" y="2283719"/>
            <a:ext cx="1346873" cy="18002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54" t="9418" r="12498" b="1592"/>
          <a:stretch/>
        </p:blipFill>
        <p:spPr>
          <a:xfrm>
            <a:off x="5219352" y="915566"/>
            <a:ext cx="1574159" cy="339304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2" t="9418" r="715" b="1592"/>
          <a:stretch/>
        </p:blipFill>
        <p:spPr>
          <a:xfrm>
            <a:off x="7254981" y="915566"/>
            <a:ext cx="1421475" cy="339304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62210" y="3393628"/>
            <a:ext cx="1850573" cy="906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2989104" y="3075806"/>
            <a:ext cx="1735521" cy="1325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087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igtabl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1" t="35146" r="19095" b="37551"/>
          <a:stretch/>
        </p:blipFill>
        <p:spPr bwMode="auto">
          <a:xfrm>
            <a:off x="5541704" y="1519235"/>
            <a:ext cx="2514441" cy="83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gTable概念解读：Google设计的分布式数据存储系统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8" t="21656" r="5391" b="32956"/>
          <a:stretch/>
        </p:blipFill>
        <p:spPr bwMode="auto">
          <a:xfrm>
            <a:off x="973534" y="1275606"/>
            <a:ext cx="3310434" cy="1322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18" y="2675969"/>
            <a:ext cx="2981934" cy="1551965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488870" y="4310830"/>
            <a:ext cx="20313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 dirty="0">
                <a:solidFill>
                  <a:schemeClr val="accent2"/>
                </a:solidFill>
              </a:rPr>
              <a:t>Agrégations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5867917" y="4310829"/>
            <a:ext cx="20505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Corrélations</a:t>
            </a:r>
            <a:endParaRPr lang="fr-FR" sz="2700" dirty="0">
              <a:solidFill>
                <a:schemeClr val="accent2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51" b="9752"/>
          <a:stretch/>
        </p:blipFill>
        <p:spPr>
          <a:xfrm>
            <a:off x="5689991" y="3056799"/>
            <a:ext cx="2217868" cy="790304"/>
          </a:xfrm>
          <a:prstGeom prst="rect">
            <a:avLst/>
          </a:prstGeom>
        </p:spPr>
      </p:pic>
      <p:sp>
        <p:nvSpPr>
          <p:cNvPr id="11" name="Titr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II - NoSQL &amp; </a:t>
            </a:r>
            <a:r>
              <a:rPr lang="en-US" altLang="fr-FR" dirty="0" err="1"/>
              <a:t>Colonnes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38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solutions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03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n-US" altLang="fr-FR" dirty="0"/>
              <a:t>II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err="1" smtClean="0"/>
              <a:t>Colonnes</a:t>
            </a:r>
            <a:endParaRPr lang="en-US" alt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Exemples d’utilisation: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Comptage (vote en ligne, compteur, </a:t>
            </a:r>
            <a:r>
              <a:rPr lang="fr-FR" altLang="fr-FR" dirty="0" err="1"/>
              <a:t>etc</a:t>
            </a:r>
            <a:r>
              <a:rPr lang="fr-FR" altLang="fr-FR" dirty="0"/>
              <a:t>)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Journalisation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Recherche de produits dans une catégorie (</a:t>
            </a:r>
            <a:r>
              <a:rPr lang="fr-FR" altLang="fr-FR" dirty="0" err="1"/>
              <a:t>Ebay</a:t>
            </a:r>
            <a:r>
              <a:rPr lang="fr-FR" altLang="fr-FR" dirty="0"/>
              <a:t>)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 err="1"/>
              <a:t>Reporting</a:t>
            </a:r>
            <a:r>
              <a:rPr lang="fr-FR" altLang="fr-FR" dirty="0"/>
              <a:t> large échelle (agrégats calculés sur une colonne)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39</a:t>
            </a:fld>
            <a:endParaRPr lang="fr-FR" altLang="fr-FR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body" sz="quarter" idx="11"/>
          </p:nvPr>
        </p:nvSpPr>
        <p:spPr/>
        <p:txBody>
          <a:bodyPr/>
          <a:lstStyle/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 smtClean="0"/>
              <a:t>applications</a:t>
            </a:r>
            <a:endParaRPr lang="fr-FR" alt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III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smtClean="0"/>
              <a:t>Documents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9772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 err="1">
                <a:solidFill>
                  <a:srgbClr val="9E211E"/>
                </a:solidFill>
              </a:rPr>
              <a:t>Basé</a:t>
            </a:r>
            <a:r>
              <a:rPr lang="en-US" altLang="fr-FR" sz="1950" dirty="0">
                <a:solidFill>
                  <a:srgbClr val="9E211E"/>
                </a:solidFill>
              </a:rPr>
              <a:t> sur le </a:t>
            </a:r>
            <a:r>
              <a:rPr lang="en-US" altLang="fr-FR" sz="1950" dirty="0" err="1">
                <a:solidFill>
                  <a:srgbClr val="9E211E"/>
                </a:solidFill>
              </a:rPr>
              <a:t>modèle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clé-valeur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lvl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Ajout</a:t>
            </a:r>
            <a:r>
              <a:rPr lang="en-US" altLang="fr-FR" sz="1650" dirty="0">
                <a:solidFill>
                  <a:srgbClr val="000000"/>
                </a:solidFill>
              </a:rPr>
              <a:t> de </a:t>
            </a:r>
            <a:r>
              <a:rPr lang="en-US" altLang="fr-FR" sz="1650" dirty="0" err="1">
                <a:solidFill>
                  <a:srgbClr val="000000"/>
                </a:solidFill>
              </a:rPr>
              <a:t>données</a:t>
            </a:r>
            <a:r>
              <a:rPr lang="en-US" altLang="fr-FR" sz="1650" dirty="0">
                <a:solidFill>
                  <a:srgbClr val="000000"/>
                </a:solidFill>
              </a:rPr>
              <a:t> semi-</a:t>
            </a:r>
            <a:r>
              <a:rPr lang="en-US" altLang="fr-FR" sz="1650" dirty="0" err="1">
                <a:solidFill>
                  <a:srgbClr val="000000"/>
                </a:solidFill>
              </a:rPr>
              <a:t>structurées</a:t>
            </a:r>
            <a:r>
              <a:rPr lang="en-US" altLang="fr-FR" sz="1650" dirty="0">
                <a:solidFill>
                  <a:srgbClr val="000000"/>
                </a:solidFill>
              </a:rPr>
              <a:t> (</a:t>
            </a:r>
            <a:r>
              <a:rPr lang="en-US" altLang="fr-FR" sz="1650" dirty="0" err="1">
                <a:solidFill>
                  <a:srgbClr val="000000"/>
                </a:solidFill>
              </a:rPr>
              <a:t>JSon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ou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smtClean="0">
                <a:solidFill>
                  <a:srgbClr val="000000"/>
                </a:solidFill>
              </a:rPr>
              <a:t>XML)</a:t>
            </a:r>
          </a:p>
          <a:p>
            <a:pPr lvl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800" dirty="0" smtClean="0"/>
              <a:t>Idem </a:t>
            </a:r>
            <a:r>
              <a:rPr lang="en-US" altLang="fr-FR" sz="1800" dirty="0"/>
              <a:t>que “</a:t>
            </a:r>
            <a:r>
              <a:rPr lang="en-US" altLang="fr-FR" sz="1800" dirty="0" err="1"/>
              <a:t>clé-valeur</a:t>
            </a:r>
            <a:r>
              <a:rPr lang="en-US" altLang="fr-FR" sz="1800" dirty="0"/>
              <a:t>” </a:t>
            </a:r>
            <a:r>
              <a:rPr lang="en-US" altLang="fr-FR" sz="1800" dirty="0" err="1"/>
              <a:t>mais</a:t>
            </a:r>
            <a:r>
              <a:rPr lang="en-US" altLang="fr-FR" sz="1800" dirty="0"/>
              <a:t> “</a:t>
            </a:r>
            <a:r>
              <a:rPr lang="en-US" altLang="fr-FR" sz="1800" dirty="0" err="1"/>
              <a:t>valeur</a:t>
            </a:r>
            <a:r>
              <a:rPr lang="en-US" altLang="fr-FR" sz="1800" dirty="0"/>
              <a:t> = document”</a:t>
            </a:r>
          </a:p>
          <a:p>
            <a:pPr lvl="2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650" dirty="0" smtClean="0">
                <a:solidFill>
                  <a:srgbClr val="000000"/>
                </a:solidFill>
              </a:rPr>
              <a:t>Document 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composé</a:t>
            </a:r>
            <a:r>
              <a:rPr lang="en-US" altLang="fr-FR" sz="1650" dirty="0" smtClean="0">
                <a:solidFill>
                  <a:srgbClr val="000000"/>
                </a:solidFill>
              </a:rPr>
              <a:t> </a:t>
            </a:r>
            <a:r>
              <a:rPr lang="en-US" altLang="fr-FR" sz="1650" dirty="0">
                <a:solidFill>
                  <a:srgbClr val="000000"/>
                </a:solidFill>
              </a:rPr>
              <a:t>de 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clés</a:t>
            </a:r>
            <a:r>
              <a:rPr lang="en-US" altLang="fr-FR" sz="1650" dirty="0" smtClean="0">
                <a:solidFill>
                  <a:srgbClr val="000000"/>
                </a:solidFill>
              </a:rPr>
              <a:t>/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valeurs</a:t>
            </a:r>
            <a:endParaRPr lang="en-US" altLang="fr-FR" sz="1650" dirty="0" smtClean="0">
              <a:solidFill>
                <a:srgbClr val="000000"/>
              </a:solidFill>
            </a:endParaRPr>
          </a:p>
          <a:p>
            <a:pPr lvl="2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650" dirty="0" smtClean="0">
                <a:solidFill>
                  <a:srgbClr val="000000"/>
                </a:solidFill>
              </a:rPr>
              <a:t>Types </a:t>
            </a:r>
            <a:r>
              <a:rPr lang="en-US" altLang="fr-FR" sz="1650" dirty="0">
                <a:solidFill>
                  <a:srgbClr val="000000"/>
                </a:solidFill>
              </a:rPr>
              <a:t>simples </a:t>
            </a:r>
            <a:r>
              <a:rPr lang="en-US" altLang="fr-FR" sz="1650" dirty="0" smtClean="0">
                <a:solidFill>
                  <a:srgbClr val="000000"/>
                </a:solidFill>
              </a:rPr>
              <a:t>(</a:t>
            </a:r>
            <a:r>
              <a:rPr lang="en-US" altLang="fr-FR" sz="1650" dirty="0" err="1">
                <a:solidFill>
                  <a:srgbClr val="000000"/>
                </a:solidFill>
              </a:rPr>
              <a:t>Int</a:t>
            </a:r>
            <a:r>
              <a:rPr lang="en-US" altLang="fr-FR" sz="1650" dirty="0">
                <a:solidFill>
                  <a:srgbClr val="000000"/>
                </a:solidFill>
              </a:rPr>
              <a:t>, String, </a:t>
            </a:r>
            <a:r>
              <a:rPr lang="en-US" altLang="fr-FR" sz="1650" dirty="0" smtClean="0">
                <a:solidFill>
                  <a:srgbClr val="000000"/>
                </a:solidFill>
              </a:rPr>
              <a:t>Date)</a:t>
            </a:r>
          </a:p>
          <a:p>
            <a:pPr lvl="2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650" dirty="0" err="1" smtClean="0">
                <a:solidFill>
                  <a:srgbClr val="000000"/>
                </a:solidFill>
              </a:rPr>
              <a:t>Schéma</a:t>
            </a:r>
            <a:r>
              <a:rPr lang="en-US" altLang="fr-FR" sz="1650" dirty="0" smtClean="0">
                <a:solidFill>
                  <a:srgbClr val="000000"/>
                </a:solidFill>
              </a:rPr>
              <a:t> </a:t>
            </a:r>
            <a:r>
              <a:rPr lang="en-US" altLang="fr-FR" sz="1650" dirty="0">
                <a:solidFill>
                  <a:srgbClr val="000000"/>
                </a:solidFill>
              </a:rPr>
              <a:t>non </a:t>
            </a:r>
            <a:r>
              <a:rPr lang="en-US" altLang="fr-FR" sz="1650" dirty="0" err="1">
                <a:solidFill>
                  <a:srgbClr val="000000"/>
                </a:solidFill>
              </a:rPr>
              <a:t>nécessaire</a:t>
            </a:r>
            <a:r>
              <a:rPr lang="en-US" altLang="fr-FR" sz="1650" dirty="0">
                <a:solidFill>
                  <a:srgbClr val="000000"/>
                </a:solidFill>
              </a:rPr>
              <a:t> (</a:t>
            </a:r>
            <a:r>
              <a:rPr lang="en-US" altLang="fr-FR" sz="1650" dirty="0" err="1">
                <a:solidFill>
                  <a:srgbClr val="000000"/>
                </a:solidFill>
              </a:rPr>
              <a:t>peut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varier</a:t>
            </a:r>
            <a:r>
              <a:rPr lang="en-US" altLang="fr-FR" sz="1650" dirty="0">
                <a:solidFill>
                  <a:srgbClr val="000000"/>
                </a:solidFill>
              </a:rPr>
              <a:t> d’un document </a:t>
            </a:r>
            <a:r>
              <a:rPr lang="en-US" altLang="fr-FR" sz="1650" dirty="0" err="1">
                <a:solidFill>
                  <a:srgbClr val="000000"/>
                </a:solidFill>
              </a:rPr>
              <a:t>à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l’autre</a:t>
            </a:r>
            <a:r>
              <a:rPr lang="en-US" altLang="fr-FR" sz="1650" dirty="0" smtClean="0">
                <a:solidFill>
                  <a:srgbClr val="000000"/>
                </a:solidFill>
              </a:rPr>
              <a:t>)</a:t>
            </a:r>
          </a:p>
          <a:p>
            <a:pPr lvl="2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650" dirty="0" smtClean="0">
                <a:solidFill>
                  <a:srgbClr val="000000"/>
                </a:solidFill>
              </a:rPr>
              <a:t>Imbrication </a:t>
            </a:r>
            <a:r>
              <a:rPr lang="en-US" altLang="fr-FR" sz="1650" dirty="0">
                <a:solidFill>
                  <a:srgbClr val="000000"/>
                </a:solidFill>
              </a:rPr>
              <a:t>de </a:t>
            </a:r>
            <a:r>
              <a:rPr lang="en-US" altLang="fr-FR" sz="1650" dirty="0" err="1">
                <a:solidFill>
                  <a:srgbClr val="000000"/>
                </a:solidFill>
              </a:rPr>
              <a:t>données</a:t>
            </a:r>
            <a:r>
              <a:rPr lang="en-US" altLang="fr-FR" sz="1650" dirty="0">
                <a:solidFill>
                  <a:srgbClr val="000000"/>
                </a:solidFill>
              </a:rPr>
              <a:t> (</a:t>
            </a:r>
            <a:r>
              <a:rPr lang="en-US" altLang="fr-FR" sz="1650" dirty="0" err="1">
                <a:solidFill>
                  <a:srgbClr val="000000"/>
                </a:solidFill>
              </a:rPr>
              <a:t>schéma</a:t>
            </a:r>
            <a:r>
              <a:rPr lang="en-US" altLang="fr-FR" sz="1650" dirty="0">
                <a:solidFill>
                  <a:srgbClr val="000000"/>
                </a:solidFill>
              </a:rPr>
              <a:t> arborescent</a:t>
            </a:r>
            <a:r>
              <a:rPr lang="en-US" altLang="fr-FR" sz="1650" dirty="0" smtClean="0">
                <a:solidFill>
                  <a:srgbClr val="000000"/>
                </a:solidFill>
              </a:rPr>
              <a:t>)</a:t>
            </a:r>
          </a:p>
          <a:p>
            <a:pPr lvl="2">
              <a:buClr>
                <a:srgbClr val="9F0000"/>
              </a:buClr>
              <a:buFont typeface="Georgia" charset="0"/>
              <a:buChar char="▫"/>
            </a:pPr>
            <a:r>
              <a:rPr lang="en-US" altLang="fr-FR" sz="1650" dirty="0" err="1" smtClean="0">
                <a:solidFill>
                  <a:srgbClr val="000000"/>
                </a:solidFill>
              </a:rPr>
              <a:t>Listes</a:t>
            </a:r>
            <a:r>
              <a:rPr lang="en-US" altLang="fr-FR" sz="1650" dirty="0" smtClean="0">
                <a:solidFill>
                  <a:srgbClr val="000000"/>
                </a:solidFill>
              </a:rPr>
              <a:t> de 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valeurs</a:t>
            </a:r>
            <a:endParaRPr lang="en-US" altLang="fr-FR" sz="1650" dirty="0" smtClean="0">
              <a:solidFill>
                <a:srgbClr val="000000"/>
              </a:solidFill>
            </a:endParaRPr>
          </a:p>
          <a:p>
            <a:pPr lvl="2">
              <a:buClr>
                <a:srgbClr val="9F0000"/>
              </a:buClr>
              <a:buFont typeface="Georgia" charset="0"/>
              <a:buChar char="▫"/>
            </a:pPr>
            <a:endParaRPr lang="en-US" altLang="fr-FR" sz="1650" dirty="0" smtClean="0">
              <a:solidFill>
                <a:srgbClr val="000000"/>
              </a:solidFill>
            </a:endParaRPr>
          </a:p>
          <a:p>
            <a:pPr marL="79772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 err="1" smtClean="0">
                <a:solidFill>
                  <a:srgbClr val="9E211E"/>
                </a:solidFill>
              </a:rPr>
              <a:t>Requêtes</a:t>
            </a:r>
            <a:r>
              <a:rPr lang="en-US" altLang="fr-FR" sz="1950" dirty="0" smtClean="0">
                <a:solidFill>
                  <a:srgbClr val="9E211E"/>
                </a:solidFill>
              </a:rPr>
              <a:t> </a:t>
            </a:r>
            <a:r>
              <a:rPr lang="en-US" altLang="fr-FR" sz="1950" dirty="0">
                <a:solidFill>
                  <a:srgbClr val="9E211E"/>
                </a:solidFill>
              </a:rPr>
              <a:t>: Interface HTTP</a:t>
            </a:r>
          </a:p>
          <a:p>
            <a:pPr lvl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Plus </a:t>
            </a:r>
            <a:r>
              <a:rPr lang="en-US" altLang="fr-FR" sz="1650" dirty="0" err="1">
                <a:solidFill>
                  <a:srgbClr val="000000"/>
                </a:solidFill>
              </a:rPr>
              <a:t>complexe</a:t>
            </a:r>
            <a:r>
              <a:rPr lang="en-US" altLang="fr-FR" sz="1650" dirty="0">
                <a:solidFill>
                  <a:srgbClr val="000000"/>
                </a:solidFill>
              </a:rPr>
              <a:t> que </a:t>
            </a:r>
            <a:r>
              <a:rPr lang="en-US" altLang="fr-FR" sz="1650" dirty="0" smtClean="0">
                <a:solidFill>
                  <a:srgbClr val="000000"/>
                </a:solidFill>
              </a:rPr>
              <a:t>CRUD</a:t>
            </a:r>
          </a:p>
          <a:p>
            <a:pPr lvl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Chaque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clé</a:t>
            </a:r>
            <a:r>
              <a:rPr lang="en-US" altLang="fr-FR" sz="1650" dirty="0" smtClean="0">
                <a:solidFill>
                  <a:srgbClr val="000000"/>
                </a:solidFill>
              </a:rPr>
              <a:t> du </a:t>
            </a:r>
            <a:r>
              <a:rPr lang="en-US" altLang="fr-FR" sz="1650" dirty="0">
                <a:solidFill>
                  <a:srgbClr val="000000"/>
                </a:solidFill>
              </a:rPr>
              <a:t>document </a:t>
            </a:r>
            <a:r>
              <a:rPr lang="en-US" altLang="fr-FR" sz="1650" dirty="0" err="1">
                <a:solidFill>
                  <a:srgbClr val="000000"/>
                </a:solidFill>
              </a:rPr>
              <a:t>peut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être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interrogée</a:t>
            </a:r>
            <a:endParaRPr lang="en-US" altLang="fr-FR" sz="1650" dirty="0">
              <a:solidFill>
                <a:srgbClr val="000000"/>
              </a:solidFill>
            </a:endParaRPr>
          </a:p>
          <a:p>
            <a:pPr lvl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endParaRPr lang="en-US" altLang="fr-FR" sz="1650" dirty="0">
              <a:solidFill>
                <a:srgbClr val="0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40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n-US" altLang="fr-FR" dirty="0"/>
              <a:t>III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smtClean="0"/>
              <a:t>Documents</a:t>
            </a:r>
            <a:endParaRPr lang="en-US" alt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>
          <a:xfrm>
            <a:off x="7642816" y="4848788"/>
            <a:ext cx="762000" cy="182165"/>
          </a:xfrm>
        </p:spPr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41</a:t>
            </a:fld>
            <a:endParaRPr lang="fr-FR" alt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11677" r="49591" b="43687"/>
          <a:stretch/>
        </p:blipFill>
        <p:spPr>
          <a:xfrm>
            <a:off x="2950187" y="833516"/>
            <a:ext cx="6086309" cy="171800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50187" y="1194890"/>
            <a:ext cx="6037054" cy="322788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2950187" y="1550088"/>
            <a:ext cx="6037054" cy="295709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2950187" y="1845797"/>
            <a:ext cx="6037055" cy="334801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2950187" y="2180598"/>
            <a:ext cx="6037054" cy="295709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55"/>
          <a:stretch/>
        </p:blipFill>
        <p:spPr>
          <a:xfrm>
            <a:off x="251520" y="2571750"/>
            <a:ext cx="8587770" cy="289715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5" r="67049"/>
          <a:stretch/>
        </p:blipFill>
        <p:spPr>
          <a:xfrm>
            <a:off x="287232" y="2834468"/>
            <a:ext cx="2829740" cy="2076232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1" t="12245" r="44795"/>
          <a:stretch/>
        </p:blipFill>
        <p:spPr>
          <a:xfrm>
            <a:off x="3148092" y="2834468"/>
            <a:ext cx="1911131" cy="2076232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05" t="12245" r="22540"/>
          <a:stretch/>
        </p:blipFill>
        <p:spPr>
          <a:xfrm>
            <a:off x="5034023" y="2834468"/>
            <a:ext cx="1911131" cy="2076232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59" t="12245"/>
          <a:stretch/>
        </p:blipFill>
        <p:spPr>
          <a:xfrm>
            <a:off x="6945154" y="2845488"/>
            <a:ext cx="1935768" cy="207623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55"/>
          <a:stretch/>
        </p:blipFill>
        <p:spPr>
          <a:xfrm>
            <a:off x="539552" y="2104400"/>
            <a:ext cx="8604448" cy="29027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5" r="67049"/>
          <a:stretch/>
        </p:blipFill>
        <p:spPr>
          <a:xfrm>
            <a:off x="599116" y="2394678"/>
            <a:ext cx="2793006" cy="20492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1" t="12245" r="44795"/>
          <a:stretch/>
        </p:blipFill>
        <p:spPr>
          <a:xfrm>
            <a:off x="3405757" y="2394678"/>
            <a:ext cx="1886323" cy="204928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05" t="12245" r="22540"/>
          <a:stretch/>
        </p:blipFill>
        <p:spPr>
          <a:xfrm>
            <a:off x="5292080" y="2394678"/>
            <a:ext cx="1886323" cy="204928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59" t="12245"/>
          <a:stretch/>
        </p:blipFill>
        <p:spPr>
          <a:xfrm>
            <a:off x="7162002" y="2394678"/>
            <a:ext cx="1910639" cy="2049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91680" y="2975281"/>
            <a:ext cx="794734" cy="176981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734199" y="3232512"/>
            <a:ext cx="962332" cy="186806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691680" y="3767187"/>
            <a:ext cx="1458411" cy="170452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III - NoSQL &amp; Documents</a:t>
            </a:r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1400" dirty="0"/>
              <a:t>Requêtes sur le contenu des documents</a:t>
            </a:r>
          </a:p>
          <a:p>
            <a:pPr lvl="1"/>
            <a:r>
              <a:rPr lang="fr-FR" sz="1200" b="1" dirty="0">
                <a:solidFill>
                  <a:schemeClr val="accent2"/>
                </a:solidFill>
              </a:rPr>
              <a:t>Etablissement</a:t>
            </a:r>
            <a:r>
              <a:rPr lang="fr-FR" sz="1200" dirty="0"/>
              <a:t> </a:t>
            </a:r>
            <a:r>
              <a:rPr lang="fr-FR" sz="1200" b="1" dirty="0">
                <a:solidFill>
                  <a:schemeClr val="accent1"/>
                </a:solidFill>
              </a:rPr>
              <a:t>(</a:t>
            </a:r>
            <a:r>
              <a:rPr lang="fr-FR" sz="1200" b="1" dirty="0" err="1">
                <a:solidFill>
                  <a:schemeClr val="accent1"/>
                </a:solidFill>
              </a:rPr>
              <a:t>lieu.nom</a:t>
            </a:r>
            <a:r>
              <a:rPr lang="fr-FR" sz="1200" b="1" dirty="0">
                <a:solidFill>
                  <a:schemeClr val="accent1"/>
                </a:solidFill>
              </a:rPr>
              <a:t>)</a:t>
            </a:r>
            <a:r>
              <a:rPr lang="fr-FR" sz="1200" dirty="0"/>
              <a:t> des </a:t>
            </a:r>
            <a:r>
              <a:rPr lang="fr-FR" sz="1200" b="1" dirty="0">
                <a:solidFill>
                  <a:schemeClr val="accent2"/>
                </a:solidFill>
              </a:rPr>
              <a:t>professeurs </a:t>
            </a:r>
            <a:r>
              <a:rPr lang="fr-FR" sz="1200" b="1" dirty="0">
                <a:solidFill>
                  <a:schemeClr val="accent1"/>
                </a:solidFill>
              </a:rPr>
              <a:t>(type)</a:t>
            </a:r>
            <a:r>
              <a:rPr lang="fr-FR" sz="1200" dirty="0"/>
              <a:t> spécialisé en </a:t>
            </a:r>
            <a:r>
              <a:rPr lang="fr-FR" sz="1200" b="1" dirty="0">
                <a:solidFill>
                  <a:schemeClr val="accent2"/>
                </a:solidFill>
              </a:rPr>
              <a:t>BDD </a:t>
            </a:r>
            <a:r>
              <a:rPr lang="fr-FR" sz="1200" b="1" dirty="0">
                <a:solidFill>
                  <a:schemeClr val="accent1"/>
                </a:solidFill>
              </a:rPr>
              <a:t>(</a:t>
            </a:r>
            <a:r>
              <a:rPr lang="fr-FR" sz="1200" b="1" i="1" dirty="0">
                <a:solidFill>
                  <a:schemeClr val="accent1"/>
                </a:solidFill>
              </a:rPr>
              <a:t>in</a:t>
            </a:r>
            <a:r>
              <a:rPr lang="fr-FR" sz="1200" b="1" dirty="0">
                <a:solidFill>
                  <a:schemeClr val="accent1"/>
                </a:solidFill>
              </a:rPr>
              <a:t> </a:t>
            </a:r>
            <a:r>
              <a:rPr lang="fr-FR" sz="1200" b="1" dirty="0" err="1">
                <a:solidFill>
                  <a:schemeClr val="accent1"/>
                </a:solidFill>
              </a:rPr>
              <a:t>spec</a:t>
            </a:r>
            <a:r>
              <a:rPr lang="fr-FR" sz="1200" b="1" dirty="0">
                <a:solidFill>
                  <a:schemeClr val="accent1"/>
                </a:solidFill>
              </a:rPr>
              <a:t>)</a:t>
            </a:r>
            <a:r>
              <a:rPr lang="fr-FR" sz="1200" dirty="0"/>
              <a:t> </a:t>
            </a:r>
          </a:p>
          <a:p>
            <a:pPr lvl="1"/>
            <a:endParaRPr lang="fr-FR" sz="1200" dirty="0"/>
          </a:p>
          <a:p>
            <a:endParaRPr lang="fr-FR" sz="1100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42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interrogation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800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312" y="1103932"/>
            <a:ext cx="2656981" cy="72174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3" t="21565" r="7588" b="20698"/>
          <a:stretch/>
        </p:blipFill>
        <p:spPr>
          <a:xfrm>
            <a:off x="5021770" y="1051632"/>
            <a:ext cx="3366654" cy="83721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144" y="2117769"/>
            <a:ext cx="1431133" cy="165474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343" y="2298546"/>
            <a:ext cx="2087067" cy="1398987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2288312" y="4358198"/>
            <a:ext cx="268535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Requêtes riches</a:t>
            </a:r>
            <a:endParaRPr lang="fr-FR" sz="2700" dirty="0">
              <a:solidFill>
                <a:schemeClr val="accent2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492264" y="4358199"/>
            <a:ext cx="265489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Gestion d'objets</a:t>
            </a:r>
            <a:endParaRPr lang="fr-FR" sz="2700" dirty="0">
              <a:solidFill>
                <a:schemeClr val="accent2"/>
              </a:solidFill>
            </a:endParaRP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III - NoSQL &amp; Documents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43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solutions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135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n-US" altLang="fr-FR" dirty="0"/>
              <a:t>III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smtClean="0"/>
              <a:t>Documents</a:t>
            </a:r>
            <a:endParaRPr lang="en-US" alt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Exemples d’utilisation:</a:t>
            </a:r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lnSpc>
                <a:spcPct val="90000"/>
              </a:lnSpc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Gestion de contenu: bibliothèques numériques, collections de produits, dépôts de logiciels « </a:t>
            </a:r>
            <a:r>
              <a:rPr lang="fr-FR" altLang="fr-FR" dirty="0" err="1"/>
              <a:t>xxxStores</a:t>
            </a:r>
            <a:r>
              <a:rPr lang="fr-FR" altLang="fr-FR" dirty="0"/>
              <a:t> », collections multimédia, </a:t>
            </a:r>
            <a:r>
              <a:rPr lang="fr-FR" altLang="fr-FR" dirty="0" err="1"/>
              <a:t>etc</a:t>
            </a:r>
            <a:endParaRPr lang="fr-FR" altLang="fr-FR" dirty="0"/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lnSpc>
                <a:spcPct val="90000"/>
              </a:lnSpc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Collection d’événements complexes</a:t>
            </a:r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indent="-255985">
              <a:lnSpc>
                <a:spcPct val="90000"/>
              </a:lnSpc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Gestion de boîtes email</a:t>
            </a:r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lnSpc>
                <a:spcPct val="90000"/>
              </a:lnSpc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Gestion des historiques d’utilisateurs sur réseaux sociaux</a:t>
            </a:r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44</a:t>
            </a:fld>
            <a:endParaRPr lang="fr-FR" altLang="fr-FR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body" sz="quarter" idx="11"/>
          </p:nvPr>
        </p:nvSpPr>
        <p:spPr/>
        <p:txBody>
          <a:bodyPr/>
          <a:lstStyle/>
          <a:p>
            <a:pPr indent="-255985">
              <a:lnSpc>
                <a:spcPct val="90000"/>
              </a:lnSpc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 smtClean="0"/>
              <a:t>applications</a:t>
            </a:r>
            <a:endParaRPr lang="fr-FR" alt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IV </a:t>
            </a:r>
            <a:r>
              <a:rPr lang="en-US" altLang="fr-FR" dirty="0" smtClean="0"/>
              <a:t>- </a:t>
            </a:r>
            <a:r>
              <a:rPr lang="en-US" altLang="fr-FR" dirty="0"/>
              <a:t>NoSQL &amp; Graph</a:t>
            </a:r>
            <a:endParaRPr lang="fr-FR" dirty="0"/>
          </a:p>
        </p:txBody>
      </p:sp>
      <p:sp>
        <p:nvSpPr>
          <p:cNvPr id="8" name="Text Box 2"/>
          <p:cNvSpPr txBox="1"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lIns="67500" tIns="35100" rIns="67500" bIns="35100" rtlCol="0">
            <a:noAutofit/>
          </a:bodyPr>
          <a:lstStyle>
            <a:lvl1pPr marL="361950" indent="-2555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marL="654050" indent="-2428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 err="1">
                <a:solidFill>
                  <a:srgbClr val="9E211E"/>
                </a:solidFill>
              </a:rPr>
              <a:t>Stockage</a:t>
            </a:r>
            <a:r>
              <a:rPr lang="en-US" altLang="fr-FR" sz="1950" dirty="0">
                <a:solidFill>
                  <a:srgbClr val="9E211E"/>
                </a:solidFill>
              </a:rPr>
              <a:t> des </a:t>
            </a:r>
            <a:r>
              <a:rPr lang="en-US" altLang="fr-FR" sz="1950" dirty="0" err="1">
                <a:solidFill>
                  <a:srgbClr val="9E211E"/>
                </a:solidFill>
              </a:rPr>
              <a:t>noeuds</a:t>
            </a:r>
            <a:r>
              <a:rPr lang="en-US" altLang="fr-FR" sz="1950" dirty="0">
                <a:solidFill>
                  <a:srgbClr val="9E211E"/>
                </a:solidFill>
              </a:rPr>
              <a:t>, relations et </a:t>
            </a:r>
            <a:r>
              <a:rPr lang="en-US" altLang="fr-FR" sz="1950" dirty="0" err="1">
                <a:solidFill>
                  <a:srgbClr val="9E211E"/>
                </a:solidFill>
              </a:rPr>
              <a:t>propriétés</a:t>
            </a:r>
            <a:endParaRPr lang="en-US" altLang="fr-FR" sz="1950" dirty="0">
              <a:solidFill>
                <a:srgbClr val="9E211E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Théorie</a:t>
            </a:r>
            <a:r>
              <a:rPr lang="en-US" altLang="fr-FR" sz="1650" dirty="0">
                <a:solidFill>
                  <a:srgbClr val="000000"/>
                </a:solidFill>
              </a:rPr>
              <a:t> des </a:t>
            </a:r>
            <a:r>
              <a:rPr lang="en-US" altLang="fr-FR" sz="1650" dirty="0" err="1">
                <a:solidFill>
                  <a:srgbClr val="000000"/>
                </a:solidFill>
              </a:rPr>
              <a:t>graphes</a:t>
            </a:r>
            <a:endParaRPr lang="en-US" altLang="fr-FR" sz="1650" dirty="0">
              <a:solidFill>
                <a:srgbClr val="000000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Interrogation par </a:t>
            </a:r>
            <a:r>
              <a:rPr lang="en-US" altLang="fr-FR" sz="1650" dirty="0" err="1">
                <a:solidFill>
                  <a:srgbClr val="000000"/>
                </a:solidFill>
              </a:rPr>
              <a:t>traversées</a:t>
            </a:r>
            <a:r>
              <a:rPr lang="en-US" altLang="fr-FR" sz="1650" dirty="0">
                <a:solidFill>
                  <a:srgbClr val="000000"/>
                </a:solidFill>
              </a:rPr>
              <a:t> de </a:t>
            </a:r>
            <a:r>
              <a:rPr lang="en-US" altLang="fr-FR" sz="1650" dirty="0" err="1">
                <a:solidFill>
                  <a:srgbClr val="000000"/>
                </a:solidFill>
              </a:rPr>
              <a:t>graphe</a:t>
            </a:r>
            <a:endParaRPr lang="en-US" altLang="fr-FR" sz="1650" dirty="0">
              <a:solidFill>
                <a:srgbClr val="000000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Appel des </a:t>
            </a:r>
            <a:r>
              <a:rPr lang="en-US" altLang="fr-FR" sz="1650" dirty="0" err="1">
                <a:solidFill>
                  <a:srgbClr val="000000"/>
                </a:solidFill>
              </a:rPr>
              <a:t>données</a:t>
            </a:r>
            <a:r>
              <a:rPr lang="en-US" altLang="fr-FR" sz="1650" dirty="0">
                <a:solidFill>
                  <a:srgbClr val="000000"/>
                </a:solidFill>
              </a:rPr>
              <a:t> sur </a:t>
            </a:r>
            <a:r>
              <a:rPr lang="en-US" altLang="fr-FR" sz="1650" dirty="0" err="1">
                <a:solidFill>
                  <a:srgbClr val="000000"/>
                </a:solidFill>
              </a:rPr>
              <a:t>demande</a:t>
            </a:r>
            <a:r>
              <a:rPr lang="en-US" altLang="fr-FR" sz="1650" dirty="0">
                <a:solidFill>
                  <a:srgbClr val="000000"/>
                </a:solidFill>
              </a:rPr>
              <a:t> (</a:t>
            </a:r>
            <a:r>
              <a:rPr lang="en-US" altLang="fr-FR" sz="1650" dirty="0" err="1">
                <a:solidFill>
                  <a:srgbClr val="000000"/>
                </a:solidFill>
              </a:rPr>
              <a:t>parcours</a:t>
            </a:r>
            <a:r>
              <a:rPr lang="en-US" altLang="fr-FR" sz="1650" dirty="0">
                <a:solidFill>
                  <a:srgbClr val="000000"/>
                </a:solidFill>
              </a:rPr>
              <a:t> performants)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Modélisation</a:t>
            </a:r>
            <a:r>
              <a:rPr lang="en-US" altLang="fr-FR" sz="1650" dirty="0">
                <a:solidFill>
                  <a:srgbClr val="000000"/>
                </a:solidFill>
              </a:rPr>
              <a:t> non </a:t>
            </a:r>
            <a:r>
              <a:rPr lang="en-US" altLang="fr-FR" sz="1650" dirty="0" err="1" smtClean="0">
                <a:solidFill>
                  <a:srgbClr val="000000"/>
                </a:solidFill>
              </a:rPr>
              <a:t>triviale</a:t>
            </a:r>
            <a:endParaRPr lang="en-US" altLang="fr-FR" sz="1650" dirty="0">
              <a:solidFill>
                <a:srgbClr val="0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45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11677" r="49591" b="43687"/>
          <a:stretch/>
        </p:blipFill>
        <p:spPr>
          <a:xfrm>
            <a:off x="1835696" y="843558"/>
            <a:ext cx="5062974" cy="14291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362885" y="1131589"/>
            <a:ext cx="816579" cy="1071251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3202142" y="1131588"/>
            <a:ext cx="1009817" cy="1071251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51812"/>
            <a:ext cx="7632848" cy="2496126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51812"/>
            <a:ext cx="7632848" cy="2496126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51812"/>
            <a:ext cx="7632848" cy="2496126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51812"/>
            <a:ext cx="7632848" cy="2496126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51812"/>
            <a:ext cx="7632848" cy="2496126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27734"/>
            <a:ext cx="7632848" cy="2520204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27734"/>
            <a:ext cx="7632848" cy="252020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858829" y="1131590"/>
            <a:ext cx="480923" cy="1071251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IV - NoSQL &amp; Graph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46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171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24" grpId="0" animBg="1"/>
      <p:bldP spid="24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70" y="2126902"/>
            <a:ext cx="8363212" cy="276135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2269" y="4329701"/>
            <a:ext cx="1170857" cy="609761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 rot="19919041">
            <a:off x="1593183" y="3743597"/>
            <a:ext cx="1743743" cy="322232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 rot="2418652">
            <a:off x="2702305" y="2699543"/>
            <a:ext cx="669437" cy="322233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835696" y="2155037"/>
            <a:ext cx="1086502" cy="556476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 rot="20869063">
            <a:off x="1733128" y="3768032"/>
            <a:ext cx="5151711" cy="322232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 rot="2152570">
            <a:off x="6331110" y="2684197"/>
            <a:ext cx="669438" cy="322232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5579327" y="2126902"/>
            <a:ext cx="1086502" cy="556476"/>
          </a:xfrm>
          <a:prstGeom prst="rect">
            <a:avLst/>
          </a:prstGeom>
          <a:solidFill>
            <a:srgbClr val="FF2200">
              <a:alpha val="1137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IV - NoSQL &amp; Graph</a:t>
            </a:r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1"/>
          </p:nvPr>
        </p:nvSpPr>
        <p:spPr>
          <a:xfrm>
            <a:off x="449262" y="1275605"/>
            <a:ext cx="7147073" cy="3464273"/>
          </a:xfrm>
        </p:spPr>
        <p:txBody>
          <a:bodyPr/>
          <a:lstStyle/>
          <a:p>
            <a:r>
              <a:rPr lang="fr-FR" sz="1800" dirty="0"/>
              <a:t>Requêtes sur les graphes</a:t>
            </a:r>
          </a:p>
          <a:p>
            <a:pPr lvl="1"/>
            <a:r>
              <a:rPr lang="fr-FR" sz="1500" b="1" dirty="0">
                <a:solidFill>
                  <a:schemeClr val="accent2"/>
                </a:solidFill>
              </a:rPr>
              <a:t>Personnes </a:t>
            </a:r>
            <a:r>
              <a:rPr lang="fr-FR" sz="1500" dirty="0"/>
              <a:t>faisant des </a:t>
            </a:r>
            <a:r>
              <a:rPr lang="fr-FR" sz="1500" b="1" dirty="0">
                <a:solidFill>
                  <a:schemeClr val="accent2"/>
                </a:solidFill>
              </a:rPr>
              <a:t>vacations </a:t>
            </a:r>
            <a:r>
              <a:rPr lang="fr-FR" sz="1500" dirty="0"/>
              <a:t>à</a:t>
            </a:r>
            <a:r>
              <a:rPr lang="fr-FR" sz="1500" b="1" dirty="0">
                <a:solidFill>
                  <a:schemeClr val="accent2"/>
                </a:solidFill>
              </a:rPr>
              <a:t> </a:t>
            </a:r>
            <a:r>
              <a:rPr lang="fr-FR" sz="1500" b="1" dirty="0">
                <a:solidFill>
                  <a:schemeClr val="accent1"/>
                </a:solidFill>
              </a:rPr>
              <a:t>Paris </a:t>
            </a:r>
            <a:r>
              <a:rPr lang="fr-FR" sz="1500" i="1" dirty="0"/>
              <a:t>et</a:t>
            </a:r>
            <a:r>
              <a:rPr lang="fr-FR" sz="1500" dirty="0"/>
              <a:t> à</a:t>
            </a:r>
            <a:r>
              <a:rPr lang="fr-FR" sz="1500" b="1" dirty="0">
                <a:solidFill>
                  <a:schemeClr val="accent1"/>
                </a:solidFill>
              </a:rPr>
              <a:t> </a:t>
            </a:r>
            <a:r>
              <a:rPr lang="fr-FR" sz="1500" b="1" dirty="0" smtClean="0">
                <a:solidFill>
                  <a:schemeClr val="accent1"/>
                </a:solidFill>
              </a:rPr>
              <a:t>Gif-sur-Yvette</a:t>
            </a:r>
            <a:endParaRPr lang="fr-FR" sz="1500" b="1" dirty="0">
              <a:solidFill>
                <a:schemeClr val="accent1"/>
              </a:solidFill>
            </a:endParaRP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47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interrogation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87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094504"/>
            <a:ext cx="3341078" cy="133643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83" b="20799"/>
          <a:stretch/>
        </p:blipFill>
        <p:spPr>
          <a:xfrm>
            <a:off x="1931187" y="2733729"/>
            <a:ext cx="2286000" cy="129885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689" y="888022"/>
            <a:ext cx="1732775" cy="1736891"/>
          </a:xfrm>
          <a:prstGeom prst="rect">
            <a:avLst/>
          </a:prstGeom>
        </p:spPr>
      </p:pic>
      <p:grpSp>
        <p:nvGrpSpPr>
          <p:cNvPr id="5" name="Grouper 4"/>
          <p:cNvGrpSpPr/>
          <p:nvPr/>
        </p:nvGrpSpPr>
        <p:grpSpPr>
          <a:xfrm>
            <a:off x="6419317" y="2855499"/>
            <a:ext cx="1053517" cy="1055313"/>
            <a:chOff x="8559091" y="4003673"/>
            <a:chExt cx="1404689" cy="1407083"/>
          </a:xfrm>
        </p:grpSpPr>
        <p:pic>
          <p:nvPicPr>
            <p:cNvPr id="1026" name="Picture 2" descr="mage result for twitter flockDB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60042" y="4003673"/>
              <a:ext cx="1202786" cy="976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ZoneTexte 5"/>
            <p:cNvSpPr txBox="1"/>
            <p:nvPr/>
          </p:nvSpPr>
          <p:spPr>
            <a:xfrm>
              <a:off x="8559091" y="4979869"/>
              <a:ext cx="14046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500" b="1" dirty="0" err="1">
                  <a:solidFill>
                    <a:srgbClr val="54AAF0"/>
                  </a:solidFill>
                  <a:latin typeface="PicoWhiteAl" charset="0"/>
                  <a:ea typeface="PicoWhiteAl" charset="0"/>
                  <a:cs typeface="PicoWhiteAl" charset="0"/>
                </a:rPr>
                <a:t>FlockDB</a:t>
              </a:r>
              <a:endParaRPr lang="fr-FR" sz="1500" b="1" dirty="0">
                <a:solidFill>
                  <a:srgbClr val="54AAF0"/>
                </a:solidFill>
                <a:latin typeface="PicoWhiteAl" charset="0"/>
                <a:ea typeface="PicoWhiteAl" charset="0"/>
                <a:cs typeface="PicoWhiteAl" charset="0"/>
              </a:endParaRPr>
            </a:p>
          </p:txBody>
        </p:sp>
      </p:grpSp>
      <p:sp>
        <p:nvSpPr>
          <p:cNvPr id="7" name="ZoneTexte 6"/>
          <p:cNvSpPr txBox="1"/>
          <p:nvPr/>
        </p:nvSpPr>
        <p:spPr>
          <a:xfrm>
            <a:off x="2353766" y="4375354"/>
            <a:ext cx="155042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 dirty="0">
                <a:solidFill>
                  <a:schemeClr val="accent2"/>
                </a:solidFill>
              </a:rPr>
              <a:t>Réseaux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634780" y="4375353"/>
            <a:ext cx="289694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700">
                <a:solidFill>
                  <a:schemeClr val="accent2"/>
                </a:solidFill>
              </a:rPr>
              <a:t>Recommandation</a:t>
            </a:r>
            <a:endParaRPr lang="fr-FR" sz="2700" dirty="0">
              <a:solidFill>
                <a:schemeClr val="accent2"/>
              </a:solidFill>
            </a:endParaRPr>
          </a:p>
        </p:txBody>
      </p:sp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/>
              <a:t>IV - NoSQL &amp; Graph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48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solutions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47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en-US" altLang="fr-FR" dirty="0"/>
              <a:t>IV </a:t>
            </a:r>
            <a:r>
              <a:rPr lang="en-US" altLang="fr-FR" dirty="0" smtClean="0"/>
              <a:t>- </a:t>
            </a:r>
            <a:r>
              <a:rPr lang="en-US" altLang="fr-FR" dirty="0"/>
              <a:t>NoSQL &amp; </a:t>
            </a:r>
            <a:r>
              <a:rPr lang="en-US" altLang="fr-FR" dirty="0" smtClean="0"/>
              <a:t>Graph</a:t>
            </a:r>
            <a:endParaRPr lang="en-US" alt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Exemples d’applications: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Calcul sur les graphes sociaux (recommandations, plus courts chemins, </a:t>
            </a:r>
            <a:r>
              <a:rPr lang="fr-FR" altLang="fr-FR" dirty="0" err="1"/>
              <a:t>atteignabilité</a:t>
            </a:r>
            <a:r>
              <a:rPr lang="fr-FR" altLang="fr-FR" dirty="0"/>
              <a:t>,…) 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Calculs sur les réseaux des SIG: réseaux routiers, canalisations, électricité, …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buFont typeface="Times New Roman" charset="0"/>
              <a:buChar char="•"/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/>
              <a:t>Web social (</a:t>
            </a:r>
            <a:r>
              <a:rPr lang="fr-FR" altLang="fr-FR" dirty="0" err="1"/>
              <a:t>linked</a:t>
            </a:r>
            <a:r>
              <a:rPr lang="fr-FR" altLang="fr-FR" dirty="0"/>
              <a:t> data)</a:t>
            </a:r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endParaRPr lang="fr-FR" altLang="fr-FR" dirty="0"/>
          </a:p>
          <a:p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49</a:t>
            </a:fld>
            <a:endParaRPr lang="fr-FR" altLang="fr-FR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body" sz="quarter" idx="11"/>
          </p:nvPr>
        </p:nvSpPr>
        <p:spPr/>
        <p:txBody>
          <a:bodyPr/>
          <a:lstStyle/>
          <a:p>
            <a:pPr indent="-255985">
              <a:tabLst>
                <a:tab pos="257175" algn="l"/>
                <a:tab pos="335756" algn="l"/>
                <a:tab pos="672704" algn="l"/>
                <a:tab pos="1009650" algn="l"/>
                <a:tab pos="1346597" algn="l"/>
                <a:tab pos="1683544" algn="l"/>
                <a:tab pos="2020491" algn="l"/>
                <a:tab pos="2357438" algn="l"/>
                <a:tab pos="2694385" algn="l"/>
                <a:tab pos="3031331" algn="l"/>
                <a:tab pos="3368279" algn="l"/>
                <a:tab pos="3705225" algn="l"/>
                <a:tab pos="4042172" algn="l"/>
                <a:tab pos="4379119" algn="l"/>
                <a:tab pos="4716066" algn="l"/>
                <a:tab pos="5053013" algn="l"/>
                <a:tab pos="5389960" algn="l"/>
                <a:tab pos="5726906" algn="l"/>
                <a:tab pos="6063854" algn="l"/>
                <a:tab pos="6400800" algn="l"/>
                <a:tab pos="6737747" algn="l"/>
              </a:tabLst>
            </a:pPr>
            <a:r>
              <a:rPr lang="fr-FR" altLang="fr-FR" dirty="0" smtClean="0"/>
              <a:t>applications</a:t>
            </a:r>
            <a:endParaRPr lang="fr-FR" altLang="fr-F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56" y="771550"/>
            <a:ext cx="7482993" cy="4176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DB-</a:t>
            </a:r>
            <a:r>
              <a:rPr lang="fr-FR" dirty="0" err="1" smtClean="0"/>
              <a:t>Engines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50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>
                <a:solidFill>
                  <a:srgbClr val="2A0101"/>
                </a:solidFill>
              </a:rPr>
              <a:t>“</a:t>
            </a:r>
            <a:r>
              <a:rPr lang="en-US" altLang="ja-JP" i="1" dirty="0" err="1">
                <a:solidFill>
                  <a:srgbClr val="2A0101"/>
                </a:solidFill>
              </a:rPr>
              <a:t>Théorème</a:t>
            </a:r>
            <a:r>
              <a:rPr lang="en-US" altLang="ja-JP" i="1" dirty="0">
                <a:solidFill>
                  <a:srgbClr val="2A0101"/>
                </a:solidFill>
              </a:rPr>
              <a:t> de CAP</a:t>
            </a:r>
            <a:r>
              <a:rPr lang="en-US" altLang="fr-FR" dirty="0" smtClean="0">
                <a:solidFill>
                  <a:srgbClr val="2A0101"/>
                </a:solidFill>
              </a:rPr>
              <a:t>”</a:t>
            </a:r>
            <a:endParaRPr lang="fr-FR" dirty="0"/>
          </a:p>
        </p:txBody>
      </p:sp>
      <p:sp>
        <p:nvSpPr>
          <p:cNvPr id="8" name="Text Box 2"/>
          <p:cNvSpPr txBox="1">
            <a:spLocks noGrp="1" noChangeArrowheads="1"/>
          </p:cNvSpPr>
          <p:nvPr>
            <p:ph sz="half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lIns="67500" tIns="35100" rIns="67500" bIns="35100" rtlCol="0">
            <a:noAutofit/>
          </a:bodyPr>
          <a:lstStyle>
            <a:lvl1pPr marL="363538" indent="-254000" eaLnBrk="0" hangingPunct="0"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marL="920750" indent="-514350" eaLnBrk="0" hangingPunct="0"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3538" algn="l"/>
                <a:tab pos="811213" algn="l"/>
                <a:tab pos="1260475" algn="l"/>
                <a:tab pos="1709738" algn="l"/>
                <a:tab pos="2159000" algn="l"/>
                <a:tab pos="2608263" algn="l"/>
                <a:tab pos="3057525" algn="l"/>
                <a:tab pos="3506788" algn="l"/>
                <a:tab pos="3956050" algn="l"/>
                <a:tab pos="4405313" algn="l"/>
                <a:tab pos="4854575" algn="l"/>
                <a:tab pos="5303838" algn="l"/>
                <a:tab pos="5753100" algn="l"/>
                <a:tab pos="6202363" algn="l"/>
                <a:tab pos="6651625" algn="l"/>
                <a:tab pos="7100888" algn="l"/>
                <a:tab pos="7550150" algn="l"/>
                <a:tab pos="7999413" algn="l"/>
                <a:tab pos="8448675" algn="l"/>
                <a:tab pos="8897938" algn="l"/>
                <a:tab pos="93472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82154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600" dirty="0" err="1">
                <a:solidFill>
                  <a:srgbClr val="2A0101"/>
                </a:solidFill>
                <a:ea typeface="Arial" charset="0"/>
                <a:cs typeface="Arial" charset="0"/>
              </a:rPr>
              <a:t>Théorème</a:t>
            </a:r>
            <a:r>
              <a:rPr lang="en-US" altLang="fr-FR" sz="1600" dirty="0">
                <a:solidFill>
                  <a:srgbClr val="2A0101"/>
                </a:solidFill>
                <a:ea typeface="Arial" charset="0"/>
                <a:cs typeface="Arial" charset="0"/>
              </a:rPr>
              <a:t> de Brewer (2000) </a:t>
            </a:r>
          </a:p>
          <a:p>
            <a:pPr marL="82154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400" dirty="0">
                <a:solidFill>
                  <a:srgbClr val="9E211E"/>
                </a:solidFill>
              </a:rPr>
              <a:t>3 </a:t>
            </a:r>
            <a:r>
              <a:rPr lang="en-US" altLang="fr-FR" sz="1400" dirty="0" err="1">
                <a:solidFill>
                  <a:srgbClr val="9E211E"/>
                </a:solidFill>
              </a:rPr>
              <a:t>propriétés</a:t>
            </a:r>
            <a:r>
              <a:rPr lang="en-US" altLang="fr-FR" sz="1400" dirty="0">
                <a:solidFill>
                  <a:srgbClr val="9E211E"/>
                </a:solidFill>
              </a:rPr>
              <a:t> </a:t>
            </a:r>
            <a:r>
              <a:rPr lang="en-US" altLang="fr-FR" sz="1400" dirty="0" err="1">
                <a:solidFill>
                  <a:srgbClr val="9E211E"/>
                </a:solidFill>
              </a:rPr>
              <a:t>fondamentales</a:t>
            </a:r>
            <a:r>
              <a:rPr lang="en-US" altLang="fr-FR" sz="1400" dirty="0">
                <a:solidFill>
                  <a:srgbClr val="9E211E"/>
                </a:solidFill>
              </a:rPr>
              <a:t> pour les </a:t>
            </a:r>
            <a:r>
              <a:rPr lang="en-US" altLang="fr-FR" sz="1400" dirty="0" err="1">
                <a:solidFill>
                  <a:srgbClr val="9E211E"/>
                </a:solidFill>
              </a:rPr>
              <a:t>systèmes</a:t>
            </a:r>
            <a:r>
              <a:rPr lang="en-US" altLang="fr-FR" sz="1400" dirty="0">
                <a:solidFill>
                  <a:srgbClr val="9E211E"/>
                </a:solidFill>
              </a:rPr>
              <a:t> </a:t>
            </a:r>
            <a:r>
              <a:rPr lang="en-US" altLang="fr-FR" sz="1400" dirty="0" err="1">
                <a:solidFill>
                  <a:srgbClr val="9E211E"/>
                </a:solidFill>
              </a:rPr>
              <a:t>distribués</a:t>
            </a:r>
            <a:endParaRPr lang="en-US" altLang="fr-FR" sz="1400" dirty="0">
              <a:solidFill>
                <a:srgbClr val="9E211E"/>
              </a:solidFill>
            </a:endParaRPr>
          </a:p>
          <a:p>
            <a:pPr marL="360000" lvl="1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Arial" charset="0"/>
              <a:buAutoNum type="arabicPeriod"/>
              <a:defRPr/>
            </a:pPr>
            <a:r>
              <a:rPr lang="en-US" altLang="fr-FR" sz="1200" b="1" i="1" dirty="0">
                <a:solidFill>
                  <a:srgbClr val="000000"/>
                </a:solidFill>
              </a:rPr>
              <a:t>Consistency</a:t>
            </a:r>
            <a:r>
              <a:rPr lang="en-US" altLang="fr-FR" sz="1200" dirty="0">
                <a:solidFill>
                  <a:srgbClr val="000000"/>
                </a:solidFill>
              </a:rPr>
              <a:t>: </a:t>
            </a:r>
            <a:r>
              <a:rPr lang="en-US" altLang="fr-FR" sz="1100" dirty="0" err="1">
                <a:solidFill>
                  <a:srgbClr val="000000"/>
                </a:solidFill>
              </a:rPr>
              <a:t>Tous</a:t>
            </a:r>
            <a:r>
              <a:rPr lang="en-US" altLang="fr-FR" sz="1100" dirty="0">
                <a:solidFill>
                  <a:srgbClr val="000000"/>
                </a:solidFill>
              </a:rPr>
              <a:t> les </a:t>
            </a:r>
            <a:r>
              <a:rPr lang="en-US" altLang="fr-FR" sz="1100" dirty="0" err="1">
                <a:solidFill>
                  <a:srgbClr val="000000"/>
                </a:solidFill>
              </a:rPr>
              <a:t>serveurs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voient</a:t>
            </a:r>
            <a:r>
              <a:rPr lang="en-US" altLang="fr-FR" sz="1100" dirty="0">
                <a:solidFill>
                  <a:srgbClr val="000000"/>
                </a:solidFill>
              </a:rPr>
              <a:t> la </a:t>
            </a:r>
            <a:r>
              <a:rPr lang="en-US" altLang="fr-FR" sz="1100" dirty="0" err="1">
                <a:solidFill>
                  <a:srgbClr val="000000"/>
                </a:solidFill>
              </a:rPr>
              <a:t>même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donnée</a:t>
            </a:r>
            <a:r>
              <a:rPr lang="en-US" altLang="fr-FR" sz="1100" dirty="0">
                <a:solidFill>
                  <a:srgbClr val="000000"/>
                </a:solidFill>
              </a:rPr>
              <a:t> (</a:t>
            </a:r>
            <a:r>
              <a:rPr lang="en-US" altLang="fr-FR" sz="1100" dirty="0" err="1">
                <a:solidFill>
                  <a:srgbClr val="000000"/>
                </a:solidFill>
              </a:rPr>
              <a:t>valeur</a:t>
            </a:r>
            <a:r>
              <a:rPr lang="en-US" altLang="fr-FR" sz="1100" dirty="0">
                <a:solidFill>
                  <a:srgbClr val="000000"/>
                </a:solidFill>
              </a:rPr>
              <a:t>) </a:t>
            </a:r>
            <a:r>
              <a:rPr lang="en-US" altLang="fr-FR" sz="1100" dirty="0" err="1">
                <a:solidFill>
                  <a:srgbClr val="000000"/>
                </a:solidFill>
              </a:rPr>
              <a:t>en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même</a:t>
            </a:r>
            <a:r>
              <a:rPr lang="en-US" altLang="fr-FR" sz="1100" dirty="0">
                <a:solidFill>
                  <a:srgbClr val="000000"/>
                </a:solidFill>
              </a:rPr>
              <a:t> temps (</a:t>
            </a:r>
            <a:r>
              <a:rPr lang="en-US" altLang="fr-FR" sz="1100" dirty="0" err="1">
                <a:solidFill>
                  <a:srgbClr val="000000"/>
                </a:solidFill>
              </a:rPr>
              <a:t>ou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b="1" i="1" dirty="0" err="1">
                <a:solidFill>
                  <a:srgbClr val="000000"/>
                </a:solidFill>
              </a:rPr>
              <a:t>Cohérence</a:t>
            </a:r>
            <a:r>
              <a:rPr lang="en-US" altLang="fr-FR" sz="1100" dirty="0">
                <a:solidFill>
                  <a:srgbClr val="000000"/>
                </a:solidFill>
              </a:rPr>
              <a:t>)</a:t>
            </a:r>
          </a:p>
          <a:p>
            <a:pPr marL="360000" lvl="1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Arial" charset="0"/>
              <a:buAutoNum type="arabicPeriod"/>
              <a:defRPr/>
            </a:pPr>
            <a:r>
              <a:rPr lang="en-US" altLang="fr-FR" sz="1200" b="1" i="1" dirty="0">
                <a:solidFill>
                  <a:srgbClr val="000000"/>
                </a:solidFill>
              </a:rPr>
              <a:t>Availability</a:t>
            </a:r>
            <a:r>
              <a:rPr lang="en-US" altLang="fr-FR" sz="1200" dirty="0">
                <a:solidFill>
                  <a:srgbClr val="000000"/>
                </a:solidFill>
              </a:rPr>
              <a:t>: </a:t>
            </a:r>
            <a:r>
              <a:rPr lang="en-US" altLang="fr-FR" sz="1100" dirty="0">
                <a:solidFill>
                  <a:srgbClr val="000000"/>
                </a:solidFill>
              </a:rPr>
              <a:t>Si un </a:t>
            </a:r>
            <a:r>
              <a:rPr lang="en-US" altLang="fr-FR" sz="1100" dirty="0" err="1">
                <a:solidFill>
                  <a:srgbClr val="000000"/>
                </a:solidFill>
              </a:rPr>
              <a:t>serveur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tombe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en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panne</a:t>
            </a:r>
            <a:r>
              <a:rPr lang="en-US" altLang="fr-FR" sz="1100" dirty="0">
                <a:solidFill>
                  <a:srgbClr val="000000"/>
                </a:solidFill>
              </a:rPr>
              <a:t>, les </a:t>
            </a:r>
            <a:r>
              <a:rPr lang="en-US" altLang="fr-FR" sz="1100" dirty="0" err="1">
                <a:solidFill>
                  <a:srgbClr val="000000"/>
                </a:solidFill>
              </a:rPr>
              <a:t>données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restent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disponibles</a:t>
            </a:r>
            <a:endParaRPr lang="en-US" altLang="fr-FR" sz="1100" dirty="0">
              <a:solidFill>
                <a:srgbClr val="000000"/>
              </a:solidFill>
            </a:endParaRPr>
          </a:p>
          <a:p>
            <a:pPr marL="360000" lvl="1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Arial" charset="0"/>
              <a:buAutoNum type="arabicPeriod"/>
              <a:defRPr/>
            </a:pPr>
            <a:r>
              <a:rPr lang="en-US" altLang="fr-FR" sz="1200" b="1" i="1" dirty="0">
                <a:solidFill>
                  <a:srgbClr val="000000"/>
                </a:solidFill>
              </a:rPr>
              <a:t>Partition Tolerance</a:t>
            </a:r>
            <a:r>
              <a:rPr lang="en-US" altLang="fr-FR" sz="1200" dirty="0">
                <a:solidFill>
                  <a:srgbClr val="000000"/>
                </a:solidFill>
              </a:rPr>
              <a:t>: </a:t>
            </a:r>
            <a:r>
              <a:rPr lang="en-US" altLang="fr-FR" sz="1100" dirty="0">
                <a:solidFill>
                  <a:srgbClr val="000000"/>
                </a:solidFill>
              </a:rPr>
              <a:t>Le </a:t>
            </a:r>
            <a:r>
              <a:rPr lang="en-US" altLang="fr-FR" sz="1100" dirty="0" err="1">
                <a:solidFill>
                  <a:srgbClr val="000000"/>
                </a:solidFill>
              </a:rPr>
              <a:t>système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même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partitionné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doit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répondre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correctement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à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toute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requête</a:t>
            </a:r>
            <a:r>
              <a:rPr lang="en-US" altLang="fr-FR" sz="1100" dirty="0">
                <a:solidFill>
                  <a:srgbClr val="000000"/>
                </a:solidFill>
              </a:rPr>
              <a:t> (</a:t>
            </a:r>
            <a:r>
              <a:rPr lang="en-US" altLang="fr-FR" sz="1100" dirty="0" err="1">
                <a:solidFill>
                  <a:srgbClr val="000000"/>
                </a:solidFill>
              </a:rPr>
              <a:t>sauf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en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>
                <a:solidFill>
                  <a:srgbClr val="000000"/>
                </a:solidFill>
              </a:rPr>
              <a:t>cas</a:t>
            </a:r>
            <a:r>
              <a:rPr lang="en-US" altLang="fr-FR" sz="1100" dirty="0">
                <a:solidFill>
                  <a:srgbClr val="000000"/>
                </a:solidFill>
              </a:rPr>
              <a:t> de </a:t>
            </a:r>
            <a:r>
              <a:rPr lang="en-US" altLang="fr-FR" sz="1100" dirty="0" err="1">
                <a:solidFill>
                  <a:srgbClr val="000000"/>
                </a:solidFill>
              </a:rPr>
              <a:t>panne</a:t>
            </a:r>
            <a:r>
              <a:rPr lang="en-US" altLang="fr-FR" sz="1100" dirty="0">
                <a:solidFill>
                  <a:srgbClr val="000000"/>
                </a:solidFill>
              </a:rPr>
              <a:t> </a:t>
            </a:r>
            <a:r>
              <a:rPr lang="en-US" altLang="fr-FR" sz="1100" dirty="0" err="1" smtClean="0">
                <a:solidFill>
                  <a:srgbClr val="000000"/>
                </a:solidFill>
              </a:rPr>
              <a:t>réseau</a:t>
            </a:r>
            <a:r>
              <a:rPr lang="en-US" altLang="fr-FR" sz="1100" dirty="0" smtClean="0">
                <a:solidFill>
                  <a:srgbClr val="000000"/>
                </a:solidFill>
              </a:rPr>
              <a:t>)</a:t>
            </a:r>
          </a:p>
          <a:p>
            <a:pPr marL="180000" lvl="1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buNone/>
              <a:defRPr/>
            </a:pPr>
            <a:endParaRPr lang="en-US" altLang="fr-FR" sz="1100" dirty="0">
              <a:solidFill>
                <a:srgbClr val="000000"/>
              </a:solidFill>
            </a:endParaRPr>
          </a:p>
          <a:p>
            <a:pPr marL="180000" lvl="1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buNone/>
              <a:defRPr/>
            </a:pPr>
            <a:r>
              <a:rPr lang="en-US" altLang="fr-FR" sz="1400" dirty="0" err="1" smtClean="0">
                <a:solidFill>
                  <a:srgbClr val="9F0000"/>
                </a:solidFill>
              </a:rPr>
              <a:t>Théorème</a:t>
            </a:r>
            <a:r>
              <a:rPr lang="en-US" altLang="fr-FR" sz="1400" dirty="0" smtClean="0">
                <a:solidFill>
                  <a:srgbClr val="9F0000"/>
                </a:solidFill>
              </a:rPr>
              <a:t> </a:t>
            </a:r>
            <a:r>
              <a:rPr lang="en-US" altLang="fr-FR" sz="1400" dirty="0">
                <a:solidFill>
                  <a:srgbClr val="9F0000"/>
                </a:solidFill>
              </a:rPr>
              <a:t>: “</a:t>
            </a:r>
            <a:r>
              <a:rPr lang="en-US" altLang="fr-FR" sz="1400" dirty="0" err="1">
                <a:solidFill>
                  <a:srgbClr val="9F0000"/>
                </a:solidFill>
              </a:rPr>
              <a:t>Dans</a:t>
            </a:r>
            <a:r>
              <a:rPr lang="en-US" altLang="fr-FR" sz="1400" dirty="0">
                <a:solidFill>
                  <a:srgbClr val="9F0000"/>
                </a:solidFill>
              </a:rPr>
              <a:t> un </a:t>
            </a:r>
            <a:r>
              <a:rPr lang="en-US" altLang="fr-FR" sz="1400" dirty="0" err="1">
                <a:solidFill>
                  <a:srgbClr val="9F0000"/>
                </a:solidFill>
              </a:rPr>
              <a:t>système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dirty="0" err="1">
                <a:solidFill>
                  <a:srgbClr val="9F0000"/>
                </a:solidFill>
              </a:rPr>
              <a:t>distribué</a:t>
            </a:r>
            <a:r>
              <a:rPr lang="en-US" altLang="fr-FR" sz="1400" dirty="0">
                <a:solidFill>
                  <a:srgbClr val="9F0000"/>
                </a:solidFill>
              </a:rPr>
              <a:t>, </a:t>
            </a:r>
            <a:r>
              <a:rPr lang="en-US" altLang="fr-FR" sz="1400" dirty="0" err="1">
                <a:solidFill>
                  <a:srgbClr val="9F0000"/>
                </a:solidFill>
              </a:rPr>
              <a:t>il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dirty="0" err="1">
                <a:solidFill>
                  <a:srgbClr val="9F0000"/>
                </a:solidFill>
              </a:rPr>
              <a:t>est</a:t>
            </a:r>
            <a:r>
              <a:rPr lang="en-US" altLang="fr-FR" sz="1400" dirty="0">
                <a:solidFill>
                  <a:srgbClr val="9F0000"/>
                </a:solidFill>
              </a:rPr>
              <a:t> impossible que </a:t>
            </a:r>
            <a:r>
              <a:rPr lang="en-US" altLang="fr-FR" sz="1400" dirty="0" err="1">
                <a:solidFill>
                  <a:srgbClr val="9F0000"/>
                </a:solidFill>
              </a:rPr>
              <a:t>ces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b="1" dirty="0">
                <a:solidFill>
                  <a:srgbClr val="9F0000"/>
                </a:solidFill>
              </a:rPr>
              <a:t>3 </a:t>
            </a:r>
            <a:r>
              <a:rPr lang="en-US" altLang="fr-FR" sz="1400" b="1" dirty="0" err="1">
                <a:solidFill>
                  <a:srgbClr val="9F0000"/>
                </a:solidFill>
              </a:rPr>
              <a:t>propriétés</a:t>
            </a:r>
            <a:r>
              <a:rPr lang="en-US" altLang="fr-FR" sz="1400" b="1" dirty="0">
                <a:solidFill>
                  <a:srgbClr val="9F0000"/>
                </a:solidFill>
              </a:rPr>
              <a:t> </a:t>
            </a:r>
            <a:r>
              <a:rPr lang="en-US" altLang="fr-FR" sz="1400" dirty="0">
                <a:solidFill>
                  <a:srgbClr val="9F0000"/>
                </a:solidFill>
              </a:rPr>
              <a:t>co-existent, </a:t>
            </a:r>
            <a:r>
              <a:rPr lang="en-US" altLang="fr-FR" sz="1400" dirty="0" err="1">
                <a:solidFill>
                  <a:srgbClr val="9F0000"/>
                </a:solidFill>
              </a:rPr>
              <a:t>vous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dirty="0" err="1">
                <a:solidFill>
                  <a:srgbClr val="9F0000"/>
                </a:solidFill>
              </a:rPr>
              <a:t>devez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dirty="0" err="1">
                <a:solidFill>
                  <a:srgbClr val="9F0000"/>
                </a:solidFill>
              </a:rPr>
              <a:t>choisir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b="1" dirty="0">
                <a:solidFill>
                  <a:srgbClr val="9F0000"/>
                </a:solidFill>
              </a:rPr>
              <a:t>2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dirty="0" err="1">
                <a:solidFill>
                  <a:srgbClr val="9F0000"/>
                </a:solidFill>
              </a:rPr>
              <a:t>d’entre</a:t>
            </a:r>
            <a:r>
              <a:rPr lang="en-US" altLang="fr-FR" sz="1400" dirty="0">
                <a:solidFill>
                  <a:srgbClr val="9F0000"/>
                </a:solidFill>
              </a:rPr>
              <a:t> </a:t>
            </a:r>
            <a:r>
              <a:rPr lang="en-US" altLang="fr-FR" sz="1400" dirty="0" err="1">
                <a:solidFill>
                  <a:srgbClr val="9F0000"/>
                </a:solidFill>
              </a:rPr>
              <a:t>elles</a:t>
            </a:r>
            <a:r>
              <a:rPr lang="en-US" altLang="fr-FR" sz="1400" dirty="0">
                <a:solidFill>
                  <a:srgbClr val="9F0000"/>
                </a:solidFill>
              </a:rPr>
              <a:t>”.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51</a:t>
            </a:fld>
            <a:endParaRPr lang="fr-FR" alt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787" y="2716502"/>
            <a:ext cx="1728287" cy="1026336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4022395" y="3742838"/>
            <a:ext cx="15568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rgbClr val="FF0000"/>
                </a:solidFill>
              </a:rPr>
              <a:t>C</a:t>
            </a:r>
            <a:r>
              <a:rPr lang="fr-FR" b="1" dirty="0" err="1">
                <a:solidFill>
                  <a:schemeClr val="tx1"/>
                </a:solidFill>
              </a:rPr>
              <a:t>onsistency</a:t>
            </a:r>
            <a:endParaRPr lang="fr-FR" b="1" dirty="0">
              <a:solidFill>
                <a:schemeClr val="tx1"/>
              </a:solidFill>
            </a:endParaRPr>
          </a:p>
          <a:p>
            <a:pPr algn="ctr"/>
            <a:r>
              <a:rPr lang="fr-FR" sz="1500" dirty="0"/>
              <a:t>Cohérence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5648252" y="1179498"/>
            <a:ext cx="13944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>
                <a:solidFill>
                  <a:srgbClr val="FF0000"/>
                </a:solidFill>
              </a:rPr>
              <a:t>A</a:t>
            </a:r>
            <a:r>
              <a:rPr lang="fr-FR" b="1" dirty="0" err="1">
                <a:solidFill>
                  <a:schemeClr val="tx1"/>
                </a:solidFill>
              </a:rPr>
              <a:t>vailability</a:t>
            </a:r>
            <a:endParaRPr lang="fr-FR" b="1" dirty="0">
              <a:solidFill>
                <a:schemeClr val="tx1"/>
              </a:solidFill>
            </a:endParaRPr>
          </a:p>
          <a:p>
            <a:pPr algn="ctr"/>
            <a:r>
              <a:rPr lang="fr-FR" sz="1500" dirty="0"/>
              <a:t>Disponibilité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763840" y="3748153"/>
            <a:ext cx="23702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P</a:t>
            </a:r>
            <a:r>
              <a:rPr lang="fr-FR" b="1" dirty="0">
                <a:solidFill>
                  <a:schemeClr val="tx1"/>
                </a:solidFill>
              </a:rPr>
              <a:t>artition </a:t>
            </a:r>
            <a:r>
              <a:rPr lang="fr-FR" b="1" dirty="0" err="1">
                <a:solidFill>
                  <a:schemeClr val="tx1"/>
                </a:solidFill>
              </a:rPr>
              <a:t>Tolerance</a:t>
            </a:r>
            <a:endParaRPr lang="fr-FR" b="1" dirty="0">
              <a:solidFill>
                <a:schemeClr val="tx1"/>
              </a:solidFill>
            </a:endParaRPr>
          </a:p>
          <a:p>
            <a:pPr algn="ctr"/>
            <a:r>
              <a:rPr lang="fr-FR" sz="1500" dirty="0"/>
              <a:t>Distribution</a:t>
            </a:r>
          </a:p>
        </p:txBody>
      </p:sp>
      <p:cxnSp>
        <p:nvCxnSpPr>
          <p:cNvPr id="12" name="Connecteur droit 11"/>
          <p:cNvCxnSpPr>
            <a:stCxn id="13" idx="0"/>
            <a:endCxn id="14" idx="2"/>
          </p:cNvCxnSpPr>
          <p:nvPr/>
        </p:nvCxnSpPr>
        <p:spPr>
          <a:xfrm flipV="1">
            <a:off x="4800813" y="1779662"/>
            <a:ext cx="1544650" cy="196317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>
            <a:stCxn id="15" idx="0"/>
            <a:endCxn id="14" idx="2"/>
          </p:cNvCxnSpPr>
          <p:nvPr/>
        </p:nvCxnSpPr>
        <p:spPr>
          <a:xfrm flipH="1" flipV="1">
            <a:off x="6345463" y="1779662"/>
            <a:ext cx="1603488" cy="196849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stCxn id="13" idx="0"/>
            <a:endCxn id="15" idx="0"/>
          </p:cNvCxnSpPr>
          <p:nvPr/>
        </p:nvCxnSpPr>
        <p:spPr>
          <a:xfrm>
            <a:off x="4800813" y="3742838"/>
            <a:ext cx="3148138" cy="531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5138884" y="2344241"/>
            <a:ext cx="5725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CA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7048260" y="2344241"/>
            <a:ext cx="5581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AP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6100785" y="3788434"/>
            <a:ext cx="5581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CP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/>
      <p:bldP spid="15" grpId="1"/>
      <p:bldP spid="16" grpId="0"/>
      <p:bldP spid="16" grpId="1"/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58677"/>
            <a:ext cx="8972550" cy="21717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58677"/>
            <a:ext cx="8972550" cy="21717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58677"/>
            <a:ext cx="8972550" cy="21717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58677"/>
            <a:ext cx="8972550" cy="21717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58677"/>
            <a:ext cx="8972550" cy="21717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58677"/>
            <a:ext cx="8972550" cy="21717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58677"/>
            <a:ext cx="8972550" cy="21717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49152"/>
            <a:ext cx="8972550" cy="21907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49152"/>
            <a:ext cx="8972550" cy="219075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49152"/>
            <a:ext cx="8972550" cy="219075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49152"/>
            <a:ext cx="8972550" cy="219075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49152"/>
            <a:ext cx="8972550" cy="219075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49152"/>
            <a:ext cx="8972550" cy="219075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" y="1749152"/>
            <a:ext cx="8972550" cy="219075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>
                <a:solidFill>
                  <a:srgbClr val="2A0101"/>
                </a:solidFill>
              </a:rPr>
              <a:t>“</a:t>
            </a:r>
            <a:r>
              <a:rPr lang="en-US" altLang="ja-JP" i="1" dirty="0" err="1">
                <a:solidFill>
                  <a:srgbClr val="2A0101"/>
                </a:solidFill>
              </a:rPr>
              <a:t>Théorème</a:t>
            </a:r>
            <a:r>
              <a:rPr lang="en-US" altLang="ja-JP" i="1" dirty="0">
                <a:solidFill>
                  <a:srgbClr val="2A0101"/>
                </a:solidFill>
              </a:rPr>
              <a:t> de CAP</a:t>
            </a:r>
            <a:r>
              <a:rPr lang="en-US" altLang="fr-FR" dirty="0">
                <a:solidFill>
                  <a:srgbClr val="2A0101"/>
                </a:solidFill>
              </a:rPr>
              <a:t>”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52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illustration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1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839675"/>
            <a:ext cx="7560840" cy="415041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837932"/>
            <a:ext cx="7560840" cy="415041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832388"/>
            <a:ext cx="7560840" cy="416328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832388"/>
            <a:ext cx="7560840" cy="416328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832388"/>
            <a:ext cx="7560840" cy="416328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832388"/>
            <a:ext cx="7560840" cy="416328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5" y="832388"/>
            <a:ext cx="7560840" cy="4163288"/>
          </a:xfrm>
          <a:prstGeom prst="rect">
            <a:avLst/>
          </a:prstGeom>
        </p:spPr>
      </p:pic>
      <p:sp>
        <p:nvSpPr>
          <p:cNvPr id="12" name="Titr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>
                <a:solidFill>
                  <a:srgbClr val="2A0101"/>
                </a:solidFill>
              </a:rPr>
              <a:t>“</a:t>
            </a:r>
            <a:r>
              <a:rPr lang="en-US" altLang="ja-JP" i="1" dirty="0" err="1">
                <a:solidFill>
                  <a:srgbClr val="2A0101"/>
                </a:solidFill>
              </a:rPr>
              <a:t>Théorème</a:t>
            </a:r>
            <a:r>
              <a:rPr lang="en-US" altLang="ja-JP" i="1" dirty="0">
                <a:solidFill>
                  <a:srgbClr val="2A0101"/>
                </a:solidFill>
              </a:rPr>
              <a:t> de CAP</a:t>
            </a:r>
            <a:r>
              <a:rPr lang="en-US" altLang="fr-FR" dirty="0">
                <a:solidFill>
                  <a:srgbClr val="2A0101"/>
                </a:solidFill>
              </a:rPr>
              <a:t>”</a:t>
            </a:r>
            <a:endParaRPr lang="fr-FR" dirty="0"/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858401-1896-4F80-9B2B-186795E41C27}" type="slidenum">
              <a:rPr lang="fr-FR" smtClean="0">
                <a:solidFill>
                  <a:srgbClr val="000000"/>
                </a:solidFill>
              </a:rPr>
              <a:pPr/>
              <a:t>53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 smtClean="0"/>
              <a:t>Triangle de CAP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089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Map</a:t>
            </a:r>
            <a:r>
              <a:rPr lang="fr-FR" altLang="fr-FR" dirty="0"/>
              <a:t>/</a:t>
            </a:r>
            <a:r>
              <a:rPr lang="fr-FR" altLang="fr-FR" dirty="0" err="1"/>
              <a:t>Reduce</a:t>
            </a:r>
            <a:r>
              <a:rPr lang="fr-FR" altLang="fr-FR" dirty="0"/>
              <a:t> (résumé)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FR" sz="1950" dirty="0">
                <a:solidFill>
                  <a:srgbClr val="9E211E"/>
                </a:solidFill>
              </a:rPr>
              <a:t>Framework de calcul distribué</a:t>
            </a:r>
          </a:p>
          <a:p>
            <a:pPr>
              <a:buFont typeface="Arial" charset="0"/>
              <a:buChar char="•"/>
              <a:defRPr/>
            </a:pPr>
            <a:r>
              <a:rPr lang="fr-FR" sz="1500" dirty="0">
                <a:solidFill>
                  <a:schemeClr val="tx1"/>
                </a:solidFill>
              </a:rPr>
              <a:t>Programme décomposé en 2 fonctions</a:t>
            </a:r>
          </a:p>
          <a:p>
            <a:pPr lvl="1">
              <a:buFont typeface="Arial" charset="0"/>
              <a:buChar char="•"/>
              <a:defRPr/>
            </a:pPr>
            <a:r>
              <a:rPr lang="fr-FR" sz="1500" i="1" dirty="0" err="1"/>
              <a:t>Map</a:t>
            </a:r>
            <a:r>
              <a:rPr lang="fr-FR" sz="1500" dirty="0"/>
              <a:t> : transformation de données</a:t>
            </a:r>
          </a:p>
          <a:p>
            <a:pPr lvl="2">
              <a:buFont typeface="Arial" charset="0"/>
              <a:buChar char="•"/>
              <a:defRPr/>
            </a:pPr>
            <a:r>
              <a:rPr lang="fr-FR" sz="1500" dirty="0"/>
              <a:t>Entrée : une donnée</a:t>
            </a:r>
          </a:p>
          <a:p>
            <a:pPr lvl="2">
              <a:buFont typeface="Arial" charset="0"/>
              <a:buChar char="•"/>
              <a:defRPr/>
            </a:pPr>
            <a:r>
              <a:rPr lang="fr-FR" sz="1500" dirty="0"/>
              <a:t>Sortie : un ensemble de pairs - </a:t>
            </a:r>
            <a:r>
              <a:rPr lang="fr-FR" sz="1500" b="1" dirty="0"/>
              <a:t>clé + valeur</a:t>
            </a:r>
            <a:endParaRPr lang="fr-FR" sz="1500" dirty="0"/>
          </a:p>
          <a:p>
            <a:pPr lvl="1">
              <a:buFont typeface="Arial" charset="0"/>
              <a:buChar char="•"/>
              <a:defRPr/>
            </a:pPr>
            <a:r>
              <a:rPr lang="fr-FR" sz="1500" i="1" dirty="0" err="1"/>
              <a:t>Reduce</a:t>
            </a:r>
            <a:r>
              <a:rPr lang="fr-FR" sz="1500" i="1" dirty="0"/>
              <a:t> </a:t>
            </a:r>
            <a:r>
              <a:rPr lang="fr-FR" sz="1500" dirty="0"/>
              <a:t>: agrège par clé un ensemble de valeurs</a:t>
            </a:r>
          </a:p>
          <a:p>
            <a:pPr lvl="2">
              <a:buFont typeface="Arial" charset="0"/>
              <a:buChar char="•"/>
              <a:defRPr/>
            </a:pPr>
            <a:r>
              <a:rPr lang="fr-FR" sz="1500" i="1" dirty="0"/>
              <a:t>Entrée : liste de valeurs d’une clé - </a:t>
            </a:r>
            <a:r>
              <a:rPr lang="fr-FR" sz="1500" b="1" i="1" dirty="0"/>
              <a:t>clé + liste(valeurs)</a:t>
            </a:r>
          </a:p>
          <a:p>
            <a:pPr lvl="2">
              <a:buFont typeface="Arial" charset="0"/>
              <a:buChar char="•"/>
              <a:defRPr/>
            </a:pPr>
            <a:r>
              <a:rPr lang="fr-FR" sz="1500" i="1" dirty="0"/>
              <a:t>Sortie : une valeur</a:t>
            </a:r>
            <a:r>
              <a:rPr lang="fr-FR" sz="1500" dirty="0"/>
              <a:t> - </a:t>
            </a:r>
            <a:r>
              <a:rPr lang="fr-FR" sz="1500" b="1" dirty="0"/>
              <a:t>clé + valeur</a:t>
            </a:r>
            <a:endParaRPr lang="fr-FR" sz="1500" i="1" dirty="0"/>
          </a:p>
          <a:p>
            <a:pPr>
              <a:defRPr/>
            </a:pPr>
            <a:r>
              <a:rPr lang="fr-FR" sz="1950" dirty="0">
                <a:solidFill>
                  <a:srgbClr val="9E211E"/>
                </a:solidFill>
              </a:rPr>
              <a:t>Passage à l’échelle et Tolérance aux pannes</a:t>
            </a:r>
            <a:endParaRPr lang="fr-FR" sz="1950" i="1" dirty="0">
              <a:solidFill>
                <a:schemeClr val="tx1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fr-FR" sz="1500" i="1" dirty="0">
                <a:solidFill>
                  <a:schemeClr val="tx1"/>
                </a:solidFill>
              </a:rPr>
              <a:t>Envoyé à tous les serveurs, appliquée à chaque donnée</a:t>
            </a:r>
          </a:p>
          <a:p>
            <a:pPr>
              <a:buFont typeface="Arial" charset="0"/>
              <a:buChar char="•"/>
              <a:defRPr/>
            </a:pPr>
            <a:r>
              <a:rPr lang="fr-FR" sz="1500" i="1" dirty="0">
                <a:solidFill>
                  <a:schemeClr val="tx1"/>
                </a:solidFill>
              </a:rPr>
              <a:t>Reprise de traitements en cas de panne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54</a:t>
            </a:fld>
            <a:endParaRPr lang="fr-FR" alt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Map/Reduce : Principe</a:t>
            </a:r>
          </a:p>
        </p:txBody>
      </p:sp>
      <p:pic>
        <p:nvPicPr>
          <p:cNvPr id="4" name="Picture 4" descr="mapred1.gi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31"/>
          <a:stretch/>
        </p:blipFill>
        <p:spPr>
          <a:xfrm>
            <a:off x="2177074" y="1116236"/>
            <a:ext cx="5347254" cy="1455514"/>
          </a:xfrm>
          <a:noFill/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50E2C1-6256-2646-9450-8726A33FEDEF}" type="slidenum">
              <a:rPr lang="fr-FR" altLang="fr-FR" smtClean="0"/>
              <a:pPr>
                <a:defRPr/>
              </a:pPr>
              <a:t>55</a:t>
            </a:fld>
            <a:endParaRPr lang="fr-FR" altLang="fr-FR"/>
          </a:p>
        </p:txBody>
      </p:sp>
      <p:pic>
        <p:nvPicPr>
          <p:cNvPr id="5" name="Picture 4" descr="mapred1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t="39088" r="-3" b="30672"/>
          <a:stretch>
            <a:fillRect/>
          </a:stretch>
        </p:blipFill>
        <p:spPr bwMode="auto">
          <a:xfrm>
            <a:off x="2180803" y="2571750"/>
            <a:ext cx="53435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pic>
        <p:nvPicPr>
          <p:cNvPr id="109572" name="Picture 4" descr="mapred1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" b="89740"/>
          <a:stretch>
            <a:fillRect/>
          </a:stretch>
        </p:blipFill>
        <p:spPr bwMode="auto">
          <a:xfrm>
            <a:off x="2141730" y="1114201"/>
            <a:ext cx="5342334" cy="377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pic>
        <p:nvPicPr>
          <p:cNvPr id="7" name="Picture 4" descr="mapred1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t="68764" r="-3" b="1564"/>
          <a:stretch>
            <a:fillRect/>
          </a:stretch>
        </p:blipFill>
        <p:spPr bwMode="auto">
          <a:xfrm>
            <a:off x="2180803" y="3651870"/>
            <a:ext cx="5343525" cy="109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1"/>
          <p:cNvSpPr txBox="1">
            <a:spLocks noChangeArrowheads="1"/>
          </p:cNvSpPr>
          <p:nvPr/>
        </p:nvSpPr>
        <p:spPr bwMode="auto">
          <a:xfrm>
            <a:off x="1479947" y="376238"/>
            <a:ext cx="6172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5146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9718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4290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886200" indent="-228600" defTabSz="449263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fr-FR" sz="300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 dirty="0" smtClean="0"/>
              <a:t>Conclusion</a:t>
            </a:r>
            <a:endParaRPr lang="fr-FR" dirty="0"/>
          </a:p>
        </p:txBody>
      </p:sp>
      <p:sp>
        <p:nvSpPr>
          <p:cNvPr id="8" name="Text Box 2"/>
          <p:cNvSpPr txBox="1"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>
            <a:lvl1pPr marL="361950" indent="-2555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 marL="654050" indent="-242888"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361950" algn="l"/>
                <a:tab pos="809625" algn="l"/>
                <a:tab pos="1258888" algn="l"/>
                <a:tab pos="1708150" algn="l"/>
                <a:tab pos="2157413" algn="l"/>
                <a:tab pos="2606675" algn="l"/>
                <a:tab pos="3055938" algn="l"/>
                <a:tab pos="3505200" algn="l"/>
                <a:tab pos="3954463" algn="l"/>
                <a:tab pos="4403725" algn="l"/>
                <a:tab pos="4852988" algn="l"/>
                <a:tab pos="5302250" algn="l"/>
                <a:tab pos="5751513" algn="l"/>
                <a:tab pos="6200775" algn="l"/>
                <a:tab pos="6650038" algn="l"/>
                <a:tab pos="7099300" algn="l"/>
                <a:tab pos="7548563" algn="l"/>
                <a:tab pos="7997825" algn="l"/>
                <a:tab pos="8447088" algn="l"/>
                <a:tab pos="8896350" algn="l"/>
                <a:tab pos="9345613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>
                <a:solidFill>
                  <a:srgbClr val="9E211E"/>
                </a:solidFill>
              </a:rPr>
              <a:t>NoSQL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Dédié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à</a:t>
            </a:r>
            <a:r>
              <a:rPr lang="en-US" altLang="fr-FR" sz="1650" dirty="0">
                <a:solidFill>
                  <a:srgbClr val="000000"/>
                </a:solidFill>
              </a:rPr>
              <a:t> un </a:t>
            </a:r>
            <a:r>
              <a:rPr lang="en-US" altLang="fr-FR" sz="1650" dirty="0" err="1">
                <a:solidFill>
                  <a:srgbClr val="000000"/>
                </a:solidFill>
              </a:rPr>
              <a:t>contexte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extrêmement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distribué</a:t>
            </a:r>
            <a:endParaRPr lang="en-US" altLang="fr-FR" sz="1650" dirty="0">
              <a:solidFill>
                <a:srgbClr val="000000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Calcul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fortement</a:t>
            </a:r>
            <a:r>
              <a:rPr lang="en-US" altLang="fr-FR" sz="1650" dirty="0">
                <a:solidFill>
                  <a:srgbClr val="000000"/>
                </a:solidFill>
              </a:rPr>
              <a:t> </a:t>
            </a:r>
            <a:r>
              <a:rPr lang="en-US" altLang="fr-FR" sz="1650" dirty="0" err="1">
                <a:solidFill>
                  <a:srgbClr val="000000"/>
                </a:solidFill>
              </a:rPr>
              <a:t>distribué</a:t>
            </a:r>
            <a:endParaRPr lang="en-US" altLang="fr-FR" sz="1650" dirty="0">
              <a:solidFill>
                <a:srgbClr val="000000"/>
              </a:solidFill>
            </a:endParaRP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4 types de </a:t>
            </a:r>
            <a:r>
              <a:rPr lang="en-US" altLang="fr-FR" sz="1650" dirty="0" err="1">
                <a:solidFill>
                  <a:srgbClr val="000000"/>
                </a:solidFill>
              </a:rPr>
              <a:t>calculs</a:t>
            </a:r>
            <a:r>
              <a:rPr lang="en-US" altLang="fr-FR" sz="1650" dirty="0">
                <a:solidFill>
                  <a:srgbClr val="000000"/>
                </a:solidFill>
              </a:rPr>
              <a:t> complexes</a:t>
            </a:r>
          </a:p>
          <a:p>
            <a:pPr marL="308372" lvl="1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buNone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	(</a:t>
            </a:r>
            <a:r>
              <a:rPr lang="en-US" altLang="fr-FR" sz="1650" dirty="0" err="1">
                <a:solidFill>
                  <a:srgbClr val="000000"/>
                </a:solidFill>
              </a:rPr>
              <a:t>clé-valeur</a:t>
            </a:r>
            <a:r>
              <a:rPr lang="en-US" altLang="fr-FR" sz="1650" dirty="0">
                <a:solidFill>
                  <a:srgbClr val="000000"/>
                </a:solidFill>
              </a:rPr>
              <a:t>, document, </a:t>
            </a:r>
            <a:r>
              <a:rPr lang="en-US" altLang="fr-FR" sz="1650" dirty="0" err="1">
                <a:solidFill>
                  <a:srgbClr val="000000"/>
                </a:solidFill>
              </a:rPr>
              <a:t>colonnes</a:t>
            </a:r>
            <a:r>
              <a:rPr lang="en-US" altLang="fr-FR" sz="1650" dirty="0">
                <a:solidFill>
                  <a:srgbClr val="000000"/>
                </a:solidFill>
              </a:rPr>
              <a:t>, </a:t>
            </a:r>
            <a:r>
              <a:rPr lang="en-US" altLang="fr-FR" sz="1650" dirty="0" err="1">
                <a:solidFill>
                  <a:srgbClr val="000000"/>
                </a:solidFill>
              </a:rPr>
              <a:t>graphes</a:t>
            </a:r>
            <a:r>
              <a:rPr lang="en-US" altLang="fr-FR" sz="1650" dirty="0">
                <a:solidFill>
                  <a:srgbClr val="000000"/>
                </a:solidFill>
              </a:rPr>
              <a:t>)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Théorème</a:t>
            </a:r>
            <a:r>
              <a:rPr lang="en-US" altLang="fr-FR" sz="1650" dirty="0">
                <a:solidFill>
                  <a:srgbClr val="000000"/>
                </a:solidFill>
              </a:rPr>
              <a:t> de CAP</a:t>
            </a:r>
          </a:p>
          <a:p>
            <a:pPr marL="79772" indent="0" eaLnBrk="1" hangingPunct="1">
              <a:spcBef>
                <a:spcPts val="225"/>
              </a:spcBef>
              <a:buClr>
                <a:srgbClr val="9F0000"/>
              </a:buClr>
              <a:buSzPct val="100000"/>
              <a:defRPr/>
            </a:pPr>
            <a:r>
              <a:rPr lang="en-US" altLang="fr-FR" sz="1950" dirty="0">
                <a:solidFill>
                  <a:srgbClr val="9E211E"/>
                </a:solidFill>
              </a:rPr>
              <a:t>Ne </a:t>
            </a:r>
            <a:r>
              <a:rPr lang="en-US" altLang="fr-FR" sz="1950" dirty="0" err="1">
                <a:solidFill>
                  <a:srgbClr val="9E211E"/>
                </a:solidFill>
              </a:rPr>
              <a:t>doit</a:t>
            </a:r>
            <a:r>
              <a:rPr lang="en-US" altLang="fr-FR" sz="1950" dirty="0">
                <a:solidFill>
                  <a:srgbClr val="9E211E"/>
                </a:solidFill>
              </a:rPr>
              <a:t> pas </a:t>
            </a:r>
            <a:r>
              <a:rPr lang="en-US" altLang="fr-FR" sz="1950" dirty="0" err="1">
                <a:solidFill>
                  <a:srgbClr val="9E211E"/>
                </a:solidFill>
              </a:rPr>
              <a:t>remplacer</a:t>
            </a:r>
            <a:r>
              <a:rPr lang="en-US" altLang="fr-FR" sz="1950" dirty="0">
                <a:solidFill>
                  <a:srgbClr val="9E211E"/>
                </a:solidFill>
              </a:rPr>
              <a:t> </a:t>
            </a:r>
            <a:r>
              <a:rPr lang="en-US" altLang="fr-FR" sz="1950" dirty="0" err="1">
                <a:solidFill>
                  <a:srgbClr val="9E211E"/>
                </a:solidFill>
              </a:rPr>
              <a:t>automatiquement</a:t>
            </a:r>
            <a:r>
              <a:rPr lang="en-US" altLang="fr-FR" sz="1950" dirty="0">
                <a:solidFill>
                  <a:srgbClr val="9E211E"/>
                </a:solidFill>
              </a:rPr>
              <a:t> un SGBD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Propriétés</a:t>
            </a:r>
            <a:r>
              <a:rPr lang="en-US" altLang="fr-FR" sz="1650" dirty="0">
                <a:solidFill>
                  <a:srgbClr val="000000"/>
                </a:solidFill>
              </a:rPr>
              <a:t> ACID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 err="1">
                <a:solidFill>
                  <a:srgbClr val="000000"/>
                </a:solidFill>
              </a:rPr>
              <a:t>Requêtes</a:t>
            </a:r>
            <a:r>
              <a:rPr lang="en-US" altLang="fr-FR" sz="1650" dirty="0">
                <a:solidFill>
                  <a:srgbClr val="000000"/>
                </a:solidFill>
              </a:rPr>
              <a:t> complexes</a:t>
            </a:r>
          </a:p>
          <a:p>
            <a:pPr lvl="1" eaLnBrk="1" hangingPunct="1">
              <a:spcBef>
                <a:spcPts val="225"/>
              </a:spcBef>
              <a:buClr>
                <a:srgbClr val="9F0000"/>
              </a:buClr>
              <a:buSzPct val="100000"/>
              <a:buFont typeface="Georgia" charset="0"/>
              <a:buChar char="▫"/>
              <a:defRPr/>
            </a:pPr>
            <a:r>
              <a:rPr lang="en-US" altLang="fr-FR" sz="1650" dirty="0">
                <a:solidFill>
                  <a:srgbClr val="000000"/>
                </a:solidFill>
              </a:rPr>
              <a:t>Performance de jointure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6AB5B0-557A-E54B-85F8-80891ABB46FB}" type="slidenum">
              <a:rPr lang="fr-FR" altLang="fr-FR" smtClean="0"/>
              <a:pPr>
                <a:defRPr/>
              </a:pPr>
              <a:t>56</a:t>
            </a:fld>
            <a:endParaRPr lang="fr-FR" alt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nam">
  <a:themeElements>
    <a:clrScheme name="cnam 6">
      <a:dk1>
        <a:srgbClr val="9F0000"/>
      </a:dk1>
      <a:lt1>
        <a:srgbClr val="FFFFFF"/>
      </a:lt1>
      <a:dk2>
        <a:srgbClr val="9D0000"/>
      </a:dk2>
      <a:lt2>
        <a:srgbClr val="FDB7B7"/>
      </a:lt2>
      <a:accent1>
        <a:srgbClr val="A20000"/>
      </a:accent1>
      <a:accent2>
        <a:srgbClr val="AE2C2C"/>
      </a:accent2>
      <a:accent3>
        <a:srgbClr val="FFFFFF"/>
      </a:accent3>
      <a:accent4>
        <a:srgbClr val="870000"/>
      </a:accent4>
      <a:accent5>
        <a:srgbClr val="CEAAAA"/>
      </a:accent5>
      <a:accent6>
        <a:srgbClr val="9D2727"/>
      </a:accent6>
      <a:hlink>
        <a:srgbClr val="C9384D"/>
      </a:hlink>
      <a:folHlink>
        <a:srgbClr val="CB5543"/>
      </a:folHlink>
    </a:clrScheme>
    <a:fontScheme name="cnam">
      <a:majorFont>
        <a:latin typeface="Helvetica"/>
        <a:ea typeface="ＭＳ Ｐゴシック"/>
        <a:cs typeface="Helvetica"/>
      </a:majorFont>
      <a:minorFont>
        <a:latin typeface="Helvetica"/>
        <a:ea typeface="ＭＳ Ｐゴシック"/>
        <a:cs typeface="Helvetica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cnam 1">
        <a:dk1>
          <a:srgbClr val="000080"/>
        </a:dk1>
        <a:lt1>
          <a:srgbClr val="FFFFFF"/>
        </a:lt1>
        <a:dk2>
          <a:srgbClr val="000080"/>
        </a:dk2>
        <a:lt2>
          <a:srgbClr val="DEDEDE"/>
        </a:lt2>
        <a:accent1>
          <a:srgbClr val="53548A"/>
        </a:accent1>
        <a:accent2>
          <a:srgbClr val="438086"/>
        </a:accent2>
        <a:accent3>
          <a:srgbClr val="FFFFFF"/>
        </a:accent3>
        <a:accent4>
          <a:srgbClr val="00006C"/>
        </a:accent4>
        <a:accent5>
          <a:srgbClr val="B3B3C4"/>
        </a:accent5>
        <a:accent6>
          <a:srgbClr val="3C7379"/>
        </a:accent6>
        <a:hlink>
          <a:srgbClr val="67AFBD"/>
        </a:hlink>
        <a:folHlink>
          <a:srgbClr val="C2A8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am 2">
        <a:dk1>
          <a:srgbClr val="000080"/>
        </a:dk1>
        <a:lt1>
          <a:srgbClr val="FFFFFF"/>
        </a:lt1>
        <a:dk2>
          <a:srgbClr val="000080"/>
        </a:dk2>
        <a:lt2>
          <a:srgbClr val="DEDEDE"/>
        </a:lt2>
        <a:accent1>
          <a:srgbClr val="53548A"/>
        </a:accent1>
        <a:accent2>
          <a:srgbClr val="333399"/>
        </a:accent2>
        <a:accent3>
          <a:srgbClr val="FFFFFF"/>
        </a:accent3>
        <a:accent4>
          <a:srgbClr val="00006C"/>
        </a:accent4>
        <a:accent5>
          <a:srgbClr val="B3B3C4"/>
        </a:accent5>
        <a:accent6>
          <a:srgbClr val="2D2D8A"/>
        </a:accent6>
        <a:hlink>
          <a:srgbClr val="9999FF"/>
        </a:hlink>
        <a:folHlink>
          <a:srgbClr val="BB7B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am 3">
        <a:dk1>
          <a:srgbClr val="000080"/>
        </a:dk1>
        <a:lt1>
          <a:srgbClr val="FFFFFF"/>
        </a:lt1>
        <a:dk2>
          <a:srgbClr val="000080"/>
        </a:dk2>
        <a:lt2>
          <a:srgbClr val="DEDEDE"/>
        </a:lt2>
        <a:accent1>
          <a:srgbClr val="53548A"/>
        </a:accent1>
        <a:accent2>
          <a:srgbClr val="333399"/>
        </a:accent2>
        <a:accent3>
          <a:srgbClr val="FFFFFF"/>
        </a:accent3>
        <a:accent4>
          <a:srgbClr val="00006C"/>
        </a:accent4>
        <a:accent5>
          <a:srgbClr val="B3B3C4"/>
        </a:accent5>
        <a:accent6>
          <a:srgbClr val="2D2D8A"/>
        </a:accent6>
        <a:hlink>
          <a:srgbClr val="9999FF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am 4">
        <a:dk1>
          <a:srgbClr val="000080"/>
        </a:dk1>
        <a:lt1>
          <a:srgbClr val="FFFFFF"/>
        </a:lt1>
        <a:dk2>
          <a:srgbClr val="000080"/>
        </a:dk2>
        <a:lt2>
          <a:srgbClr val="DEDEDE"/>
        </a:lt2>
        <a:accent1>
          <a:srgbClr val="53548A"/>
        </a:accent1>
        <a:accent2>
          <a:srgbClr val="333399"/>
        </a:accent2>
        <a:accent3>
          <a:srgbClr val="FFFFFF"/>
        </a:accent3>
        <a:accent4>
          <a:srgbClr val="00006C"/>
        </a:accent4>
        <a:accent5>
          <a:srgbClr val="B3B3C4"/>
        </a:accent5>
        <a:accent6>
          <a:srgbClr val="2D2D8A"/>
        </a:accent6>
        <a:hlink>
          <a:srgbClr val="3333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am 5">
        <a:dk1>
          <a:srgbClr val="9F0000"/>
        </a:dk1>
        <a:lt1>
          <a:srgbClr val="FFFFFF"/>
        </a:lt1>
        <a:dk2>
          <a:srgbClr val="9D0000"/>
        </a:dk2>
        <a:lt2>
          <a:srgbClr val="DEDEDE"/>
        </a:lt2>
        <a:accent1>
          <a:srgbClr val="A20000"/>
        </a:accent1>
        <a:accent2>
          <a:srgbClr val="AE2C2C"/>
        </a:accent2>
        <a:accent3>
          <a:srgbClr val="FFFFFF"/>
        </a:accent3>
        <a:accent4>
          <a:srgbClr val="870000"/>
        </a:accent4>
        <a:accent5>
          <a:srgbClr val="CEAAAA"/>
        </a:accent5>
        <a:accent6>
          <a:srgbClr val="9D2727"/>
        </a:accent6>
        <a:hlink>
          <a:srgbClr val="C9384D"/>
        </a:hlink>
        <a:folHlink>
          <a:srgbClr val="CB554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nam 6">
        <a:dk1>
          <a:srgbClr val="9F0000"/>
        </a:dk1>
        <a:lt1>
          <a:srgbClr val="FFFFFF"/>
        </a:lt1>
        <a:dk2>
          <a:srgbClr val="9D0000"/>
        </a:dk2>
        <a:lt2>
          <a:srgbClr val="FDB7B7"/>
        </a:lt2>
        <a:accent1>
          <a:srgbClr val="A20000"/>
        </a:accent1>
        <a:accent2>
          <a:srgbClr val="AE2C2C"/>
        </a:accent2>
        <a:accent3>
          <a:srgbClr val="FFFFFF"/>
        </a:accent3>
        <a:accent4>
          <a:srgbClr val="870000"/>
        </a:accent4>
        <a:accent5>
          <a:srgbClr val="CEAAAA"/>
        </a:accent5>
        <a:accent6>
          <a:srgbClr val="9D2727"/>
        </a:accent6>
        <a:hlink>
          <a:srgbClr val="C9384D"/>
        </a:hlink>
        <a:folHlink>
          <a:srgbClr val="CB554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ésentation1" id="{26CEEFA4-4413-4246-9559-1387FB10E6FD}" vid="{52994EE5-3D43-954C-9494-74B082DF943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18525</TotalTime>
  <Words>1940</Words>
  <Application>Microsoft Macintosh PowerPoint</Application>
  <PresentationFormat>Présentation à l'écran (16:9)</PresentationFormat>
  <Paragraphs>455</Paragraphs>
  <Slides>56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56</vt:i4>
      </vt:variant>
    </vt:vector>
  </HeadingPairs>
  <TitlesOfParts>
    <vt:vector size="67" baseType="lpstr">
      <vt:lpstr>Calibri</vt:lpstr>
      <vt:lpstr>Georgia</vt:lpstr>
      <vt:lpstr>Helvetica</vt:lpstr>
      <vt:lpstr>Maple</vt:lpstr>
      <vt:lpstr>ＭＳ Ｐゴシック</vt:lpstr>
      <vt:lpstr>PicoWhiteAl</vt:lpstr>
      <vt:lpstr>Times New Roman</vt:lpstr>
      <vt:lpstr>Wingdings</vt:lpstr>
      <vt:lpstr>Wingdings 2</vt:lpstr>
      <vt:lpstr>Arial</vt:lpstr>
      <vt:lpstr>Cnam</vt:lpstr>
      <vt:lpstr>Présentation PowerPoint</vt:lpstr>
      <vt:lpstr>Plan</vt:lpstr>
      <vt:lpstr>Contexte</vt:lpstr>
      <vt:lpstr>Contexte (2)</vt:lpstr>
      <vt:lpstr>Volume et Variété </vt:lpstr>
      <vt:lpstr>Décisionnel : ancienne méthode</vt:lpstr>
      <vt:lpstr>Décisionnel vs 3V</vt:lpstr>
      <vt:lpstr>Contexte (3) : encore des chiffres</vt:lpstr>
      <vt:lpstr>Contexte : et le business</vt:lpstr>
      <vt:lpstr>Contexte : Conséquences</vt:lpstr>
      <vt:lpstr>DataCenters</vt:lpstr>
      <vt:lpstr>Big Data : Exemples d’utilisation</vt:lpstr>
      <vt:lpstr>NoSQL ne remplace pas les SGBDR</vt:lpstr>
      <vt:lpstr>SGBDR vs Distribution</vt:lpstr>
      <vt:lpstr>SGBDR vs Distribution</vt:lpstr>
      <vt:lpstr>NoSQL : une solution</vt:lpstr>
      <vt:lpstr>Les bases de données NoSQL</vt:lpstr>
      <vt:lpstr>BD NoSQL : Caractéristiques</vt:lpstr>
      <vt:lpstr>Sharding : Passage à l’échelle</vt:lpstr>
      <vt:lpstr>Sharding : HDFS</vt:lpstr>
      <vt:lpstr>Sharding : HDFS</vt:lpstr>
      <vt:lpstr>Sharding : HDFS</vt:lpstr>
      <vt:lpstr>Sharding : Clustered index</vt:lpstr>
      <vt:lpstr>Sharding : Clustered index</vt:lpstr>
      <vt:lpstr>Sharding : Clustered index</vt:lpstr>
      <vt:lpstr>Sharding : Consistent Hashing</vt:lpstr>
      <vt:lpstr>Sharding : Consistent Hashing</vt:lpstr>
      <vt:lpstr>Sharding : Consistent Hashing</vt:lpstr>
      <vt:lpstr>NoSQL : une grande famille</vt:lpstr>
      <vt:lpstr>I - NoSQL &amp; Clé-Valeurs</vt:lpstr>
      <vt:lpstr>I - NoSQL &amp; Clé-Valeurs</vt:lpstr>
      <vt:lpstr>I - NoSQL &amp; Clé-Valeurs</vt:lpstr>
      <vt:lpstr>I - NoSQL &amp; Clé-Valeurs</vt:lpstr>
      <vt:lpstr>I - NoSQL &amp; Clé-Valeurs</vt:lpstr>
      <vt:lpstr>II - NoSQL &amp; Colonnes</vt:lpstr>
      <vt:lpstr>II - NoSQL &amp; Colonnes</vt:lpstr>
      <vt:lpstr>II - NoSQL &amp; Colonnes</vt:lpstr>
      <vt:lpstr>II - NoSQL &amp; Colonnes</vt:lpstr>
      <vt:lpstr>II - NoSQL &amp; Colonnes</vt:lpstr>
      <vt:lpstr>III - NoSQL &amp; Documents</vt:lpstr>
      <vt:lpstr>III - NoSQL &amp; Documents</vt:lpstr>
      <vt:lpstr>III - NoSQL &amp; Documents</vt:lpstr>
      <vt:lpstr>III - NoSQL &amp; Documents</vt:lpstr>
      <vt:lpstr>III - NoSQL &amp; Documents</vt:lpstr>
      <vt:lpstr>IV - NoSQL &amp; Graph</vt:lpstr>
      <vt:lpstr>IV - NoSQL &amp; Graph</vt:lpstr>
      <vt:lpstr>IV - NoSQL &amp; Graph</vt:lpstr>
      <vt:lpstr>IV - NoSQL &amp; Graph</vt:lpstr>
      <vt:lpstr>IV - NoSQL &amp; Graph</vt:lpstr>
      <vt:lpstr>DB-Engines</vt:lpstr>
      <vt:lpstr>“Théorème de CAP”</vt:lpstr>
      <vt:lpstr>“Théorème de CAP”</vt:lpstr>
      <vt:lpstr>“Théorème de CAP”</vt:lpstr>
      <vt:lpstr>Map/Reduce (résumé)</vt:lpstr>
      <vt:lpstr>Map/Reduce : Principe</vt:lpstr>
      <vt:lpstr>Conclusion</vt:lpstr>
    </vt:vector>
  </TitlesOfParts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TRAVERS Nicolas</cp:lastModifiedBy>
  <cp:revision>160</cp:revision>
  <cp:lastPrinted>2017-06-29T07:02:10Z</cp:lastPrinted>
  <dcterms:created xsi:type="dcterms:W3CDTF">2006-08-16T00:00:00Z</dcterms:created>
  <dcterms:modified xsi:type="dcterms:W3CDTF">2017-07-06T13:13:11Z</dcterms:modified>
</cp:coreProperties>
</file>